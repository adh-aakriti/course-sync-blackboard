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Slab"/>
      <p:regular r:id="rId25"/>
      <p:bold r:id="rId26"/>
    </p:embeddedFont>
    <p:embeddedFont>
      <p:font typeface="Robo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Slab-bold.fntdata"/><Relationship Id="rId25" Type="http://schemas.openxmlformats.org/officeDocument/2006/relationships/font" Target="fonts/RobotoSlab-regular.fntdata"/><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Robo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940b616df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940b616df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940b616dfa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940b616dfa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940b616df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940b616df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940b616dfa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940b616dfa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940b616dfa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940b616dfa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940b616df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940b616df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940b616dfa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940b616dfa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940b616dfa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940b616dfa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940b616dfa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940b616dfa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940b616dfa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940b616dfa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940b616dfa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940b616dfa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940b616dfa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940b616dfa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940b616dfa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940b616dfa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2940b616dfa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2940b616dfa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940b616dfa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940b616dfa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940b616dfa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940b616dfa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940b616dfa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940b616dfa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940b616dfa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940b616dfa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Importing and Exporting Data</a:t>
            </a:r>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Bulk Data</a:t>
            </a:r>
            <a:endParaRPr/>
          </a:p>
        </p:txBody>
      </p:sp>
      <p:sp>
        <p:nvSpPr>
          <p:cNvPr id="70" name="Google Shape;70;p1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Bulk data load operations refer to the process of transferring a large volume of data into a database or data storage system simultaneously. Instead of adding data one record at a time, bulk loading allows you to insert, update, or replace a substantial amount of data all at once. This method is designed to efficiently handle large datasets, making it an essential component of data management.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Bulk Data Benefits</a:t>
            </a:r>
            <a:endParaRPr/>
          </a:p>
        </p:txBody>
      </p:sp>
      <p:sp>
        <p:nvSpPr>
          <p:cNvPr id="76" name="Google Shape;76;p15"/>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lang="en-GB"/>
              <a:t>Efficiency:</a:t>
            </a:r>
            <a:r>
              <a:rPr lang="en-GB"/>
              <a:t> By loading data in bulk, you can save time and resources. It reduces the time and effort required to add or modify large datasets, making data management more efficient.</a:t>
            </a:r>
            <a:endParaRPr/>
          </a:p>
          <a:p>
            <a:pPr indent="0" lvl="0" marL="0" rtl="0" algn="l">
              <a:spcBef>
                <a:spcPts val="1200"/>
              </a:spcBef>
              <a:spcAft>
                <a:spcPts val="0"/>
              </a:spcAft>
              <a:buNone/>
            </a:pPr>
            <a:r>
              <a:rPr b="1" lang="en-GB"/>
              <a:t>Performance:</a:t>
            </a:r>
            <a:r>
              <a:rPr lang="en-GB"/>
              <a:t> Bulk loading enhances database performance. Traditional, individual record-level operations can be slow and resource-intensive. Bulk loading reduces the overhead of handling a high number of individual transactions, resulting in better performance.</a:t>
            </a:r>
            <a:endParaRPr/>
          </a:p>
          <a:p>
            <a:pPr indent="0" lvl="0" marL="0" rtl="0" algn="l">
              <a:spcBef>
                <a:spcPts val="1200"/>
              </a:spcBef>
              <a:spcAft>
                <a:spcPts val="0"/>
              </a:spcAft>
              <a:buNone/>
            </a:pPr>
            <a:r>
              <a:rPr b="1" lang="en-GB"/>
              <a:t>Data Migration:</a:t>
            </a:r>
            <a:r>
              <a:rPr lang="en-GB"/>
              <a:t> During system upgrades, data migrations, or transitions to new databases, bulk data loading simplifies the process. It is particularly useful when you need to transfer large volumes of data from one system to another.</a:t>
            </a:r>
            <a:endParaRPr/>
          </a:p>
          <a:p>
            <a:pPr indent="0" lvl="0" marL="0" rtl="0" algn="l">
              <a:spcBef>
                <a:spcPts val="1200"/>
              </a:spcBef>
              <a:spcAft>
                <a:spcPts val="0"/>
              </a:spcAft>
              <a:buNone/>
            </a:pPr>
            <a:r>
              <a:rPr b="1" lang="en-GB"/>
              <a:t>Consistency: </a:t>
            </a:r>
            <a:r>
              <a:rPr lang="en-GB"/>
              <a:t>Bulk loading helps maintain data consistency and integrity. When adding or updating data in large quantities, it ensures that the data remains accurate and coherent.</a:t>
            </a:r>
            <a:endParaRPr/>
          </a:p>
          <a:p>
            <a:pPr indent="0" lvl="0" marL="0" rtl="0" algn="l">
              <a:spcBef>
                <a:spcPts val="1200"/>
              </a:spcBef>
              <a:spcAft>
                <a:spcPts val="1200"/>
              </a:spcAft>
              <a:buNone/>
            </a:pPr>
            <a:r>
              <a:rPr b="1" lang="en-GB"/>
              <a:t>Analytics and Reporting: </a:t>
            </a:r>
            <a:r>
              <a:rPr lang="en-GB"/>
              <a:t>For data warehouses and analytics systems, bulk loading is essential. It allows for the consolidation and analysis of vast amounts of data from various sources, facilitating data-driven decision-making.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Bulk Data Operations</a:t>
            </a:r>
            <a:endParaRPr/>
          </a:p>
        </p:txBody>
      </p:sp>
      <p:sp>
        <p:nvSpPr>
          <p:cNvPr id="82" name="Google Shape;82;p16"/>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Bulk data load operations refer to the process of transferring a large volume of data into a database or data storage system simultaneously.</a:t>
            </a:r>
            <a:endParaRPr/>
          </a:p>
          <a:p>
            <a:pPr indent="0" lvl="0" marL="0" rtl="0" algn="l">
              <a:spcBef>
                <a:spcPts val="1200"/>
              </a:spcBef>
              <a:spcAft>
                <a:spcPts val="1200"/>
              </a:spcAft>
              <a:buNone/>
            </a:pPr>
            <a:r>
              <a:rPr lang="en-GB"/>
              <a:t>It involves adding, updating, or replacing large datasets efficiently.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Ensures Data Efficiency and Performance</a:t>
            </a:r>
            <a:endParaRPr/>
          </a:p>
        </p:txBody>
      </p:sp>
      <p:sp>
        <p:nvSpPr>
          <p:cNvPr id="88" name="Google Shape;88;p17"/>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Bulk loading optimizes data efficiency by reducing the time required to insert or update large datasets.</a:t>
            </a:r>
            <a:endParaRPr/>
          </a:p>
          <a:p>
            <a:pPr indent="0" lvl="0" marL="0" rtl="0" algn="l">
              <a:spcBef>
                <a:spcPts val="1200"/>
              </a:spcBef>
              <a:spcAft>
                <a:spcPts val="0"/>
              </a:spcAft>
              <a:buNone/>
            </a:pPr>
            <a:r>
              <a:rPr lang="en-GB"/>
              <a:t>This helps maintain data consistency and integrity.</a:t>
            </a:r>
            <a:endParaRPr/>
          </a:p>
          <a:p>
            <a:pPr indent="0" lvl="0" marL="0" rtl="0" algn="l">
              <a:spcBef>
                <a:spcPts val="1200"/>
              </a:spcBef>
              <a:spcAft>
                <a:spcPts val="0"/>
              </a:spcAft>
              <a:buNone/>
            </a:pPr>
            <a:r>
              <a:rPr lang="en-GB"/>
              <a:t>Bulk loading significantly improves database performance by reducing the number of individual transactions.</a:t>
            </a:r>
            <a:endParaRPr/>
          </a:p>
          <a:p>
            <a:pPr indent="0" lvl="0" marL="0" rtl="0" algn="l">
              <a:spcBef>
                <a:spcPts val="1200"/>
              </a:spcBef>
              <a:spcAft>
                <a:spcPts val="0"/>
              </a:spcAft>
              <a:buNone/>
            </a:pPr>
            <a:r>
              <a:rPr lang="en-GB"/>
              <a:t>It minimizes the overhead associated with handling individual records.</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Transferring</a:t>
            </a:r>
            <a:r>
              <a:rPr lang="en-GB"/>
              <a:t> Benefits</a:t>
            </a:r>
            <a:endParaRPr/>
          </a:p>
        </p:txBody>
      </p:sp>
      <p:sp>
        <p:nvSpPr>
          <p:cNvPr id="94" name="Google Shape;94;p18"/>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Bulk data loading simplifies data migration during system upgrades or transitions.</a:t>
            </a:r>
            <a:endParaRPr/>
          </a:p>
          <a:p>
            <a:pPr indent="0" lvl="0" marL="0" rtl="0" algn="l">
              <a:spcBef>
                <a:spcPts val="1200"/>
              </a:spcBef>
              <a:spcAft>
                <a:spcPts val="1200"/>
              </a:spcAft>
              <a:buNone/>
            </a:pPr>
            <a:r>
              <a:rPr lang="en-GB"/>
              <a:t>It eases the transfer of data between different database systems.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Tools to import data</a:t>
            </a:r>
            <a:endParaRPr/>
          </a:p>
        </p:txBody>
      </p:sp>
      <p:sp>
        <p:nvSpPr>
          <p:cNvPr id="100" name="Google Shape;100;p19"/>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Overview of commonly used tools:</a:t>
            </a:r>
            <a:endParaRPr/>
          </a:p>
          <a:p>
            <a:pPr indent="0" lvl="0" marL="0" rtl="0" algn="l">
              <a:spcBef>
                <a:spcPts val="1200"/>
              </a:spcBef>
              <a:spcAft>
                <a:spcPts val="0"/>
              </a:spcAft>
              <a:buNone/>
            </a:pPr>
            <a:r>
              <a:rPr lang="en-GB"/>
              <a:t>SQLLoader (Oracle)</a:t>
            </a:r>
            <a:endParaRPr/>
          </a:p>
          <a:p>
            <a:pPr indent="0" lvl="0" marL="0" rtl="0" algn="l">
              <a:spcBef>
                <a:spcPts val="1200"/>
              </a:spcBef>
              <a:spcAft>
                <a:spcPts val="0"/>
              </a:spcAft>
              <a:buNone/>
            </a:pPr>
            <a:r>
              <a:rPr lang="en-GB"/>
              <a:t>BCP (Bulk Copy Program - Microsoft SQL Server)</a:t>
            </a:r>
            <a:endParaRPr/>
          </a:p>
          <a:p>
            <a:pPr indent="0" lvl="0" marL="0" rtl="0" algn="l">
              <a:spcBef>
                <a:spcPts val="1200"/>
              </a:spcBef>
              <a:spcAft>
                <a:spcPts val="0"/>
              </a:spcAft>
              <a:buNone/>
            </a:pPr>
            <a:r>
              <a:rPr lang="en-GB"/>
              <a:t>COPY (PostgreSQL)</a:t>
            </a:r>
            <a:endParaRPr/>
          </a:p>
          <a:p>
            <a:pPr indent="0" lvl="0" marL="0" rtl="0" algn="l">
              <a:spcBef>
                <a:spcPts val="1200"/>
              </a:spcBef>
              <a:spcAft>
                <a:spcPts val="0"/>
              </a:spcAft>
              <a:buNone/>
            </a:pPr>
            <a:r>
              <a:rPr lang="en-GB"/>
              <a:t>Data Import Wizard (MySQL)</a:t>
            </a:r>
            <a:endParaRPr/>
          </a:p>
          <a:p>
            <a:pPr indent="0" lvl="0" marL="0" rtl="0" algn="l">
              <a:spcBef>
                <a:spcPts val="1200"/>
              </a:spcBef>
              <a:spcAft>
                <a:spcPts val="1200"/>
              </a:spcAft>
              <a:buNone/>
            </a:pPr>
            <a:r>
              <a:rPr lang="en-GB"/>
              <a:t>Third-party tools like Apache Nifi, Talend, and Informatica.</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06" name="Google Shape;106;p20"/>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What is SQLDump?</a:t>
            </a:r>
            <a:endParaRPr/>
          </a:p>
          <a:p>
            <a:pPr indent="0" lvl="0" marL="0" rtl="0" algn="l">
              <a:spcBef>
                <a:spcPts val="1200"/>
              </a:spcBef>
              <a:spcAft>
                <a:spcPts val="0"/>
              </a:spcAft>
              <a:buNone/>
            </a:pPr>
            <a:r>
              <a:rPr lang="en-GB"/>
              <a:t>Its significance in the context of data management.</a:t>
            </a:r>
            <a:endParaRPr/>
          </a:p>
          <a:p>
            <a:pPr indent="0" lvl="0" marL="0" rtl="0" algn="l">
              <a:spcBef>
                <a:spcPts val="1200"/>
              </a:spcBef>
              <a:spcAft>
                <a:spcPts val="0"/>
              </a:spcAft>
              <a:buNone/>
            </a:pPr>
            <a:r>
              <a:rPr lang="en-GB"/>
              <a:t>How to create SQLDump files.</a:t>
            </a:r>
            <a:endParaRPr/>
          </a:p>
          <a:p>
            <a:pPr indent="0" lvl="0" marL="0" rtl="0" algn="l">
              <a:spcBef>
                <a:spcPts val="1200"/>
              </a:spcBef>
              <a:spcAft>
                <a:spcPts val="0"/>
              </a:spcAft>
              <a:buNone/>
            </a:pPr>
            <a:r>
              <a:rPr lang="en-GB"/>
              <a:t>Practical examples of using SQLDump to back up and restore data.</a:t>
            </a:r>
            <a:endParaRPr/>
          </a:p>
          <a:p>
            <a:pPr indent="0" lvl="0" marL="0" rtl="0" algn="l">
              <a:spcBef>
                <a:spcPts val="1200"/>
              </a:spcBef>
              <a:spcAft>
                <a:spcPts val="1200"/>
              </a:spcAft>
              <a:buNone/>
            </a:pPr>
            <a:r>
              <a:rPr lang="en-GB"/>
              <a:t>Best practices for SQLDump usage.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SQL Dump</a:t>
            </a:r>
            <a:endParaRPr/>
          </a:p>
        </p:txBody>
      </p:sp>
      <p:sp>
        <p:nvSpPr>
          <p:cNvPr id="112" name="Google Shape;112;p21"/>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SQLDump, also known as a SQL dump or database dump, is a file that contains a snapshot of a database's data and schema structure at a specific point in time. It is a text file that typically consists of SQL statements, which can be used to recreate the database, its tables, and the data within those tables. SQLDump is used for various purposes, including data backup, data migration, and version control of database schema and data.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What is it used for</a:t>
            </a:r>
            <a:endParaRPr/>
          </a:p>
        </p:txBody>
      </p:sp>
      <p:sp>
        <p:nvSpPr>
          <p:cNvPr id="118" name="Google Shape;118;p22"/>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GB"/>
              <a:t>SQLDump is significant in data management for the following reasons:</a:t>
            </a:r>
            <a:endParaRPr/>
          </a:p>
          <a:p>
            <a:pPr indent="0" lvl="0" marL="0" rtl="0" algn="l">
              <a:spcBef>
                <a:spcPts val="1200"/>
              </a:spcBef>
              <a:spcAft>
                <a:spcPts val="0"/>
              </a:spcAft>
              <a:buNone/>
            </a:pPr>
            <a:r>
              <a:rPr b="1" lang="en-GB"/>
              <a:t>Data Backup: </a:t>
            </a:r>
            <a:r>
              <a:rPr lang="en-GB"/>
              <a:t>It provides a way to create a backup of your database. In the event of data loss, system failures, or human errors, you can use the SQLDump to restore your database to a previous state.</a:t>
            </a:r>
            <a:endParaRPr/>
          </a:p>
          <a:p>
            <a:pPr indent="0" lvl="0" marL="0" rtl="0" algn="l">
              <a:spcBef>
                <a:spcPts val="1200"/>
              </a:spcBef>
              <a:spcAft>
                <a:spcPts val="0"/>
              </a:spcAft>
              <a:buNone/>
            </a:pPr>
            <a:r>
              <a:rPr b="1" lang="en-GB"/>
              <a:t>Data Migration: </a:t>
            </a:r>
            <a:r>
              <a:rPr lang="en-GB"/>
              <a:t>SQLDump is commonly used when moving data between different database systems or servers. It ensures data consistency during the migration process.</a:t>
            </a:r>
            <a:endParaRPr/>
          </a:p>
          <a:p>
            <a:pPr indent="0" lvl="0" marL="0" rtl="0" algn="l">
              <a:spcBef>
                <a:spcPts val="1200"/>
              </a:spcBef>
              <a:spcAft>
                <a:spcPts val="0"/>
              </a:spcAft>
              <a:buNone/>
            </a:pPr>
            <a:r>
              <a:rPr b="1" lang="en-GB"/>
              <a:t>Version Control: </a:t>
            </a:r>
            <a:r>
              <a:rPr lang="en-GB"/>
              <a:t>It helps manage changes to the database schema. Developers can use SQLDump files to track and apply schema changes, making it easier to maintain a versioned database structure.</a:t>
            </a:r>
            <a:endParaRPr/>
          </a:p>
          <a:p>
            <a:pPr indent="0" lvl="0" marL="0" rtl="0" algn="l">
              <a:spcBef>
                <a:spcPts val="1200"/>
              </a:spcBef>
              <a:spcAft>
                <a:spcPts val="1200"/>
              </a:spcAft>
              <a:buNone/>
            </a:pPr>
            <a:r>
              <a:rPr b="1" lang="en-GB"/>
              <a:t>Auditing and Compliance</a:t>
            </a:r>
            <a:r>
              <a:rPr lang="en-GB"/>
              <a:t>: SQLDump files can be used for auditing and compliance purposes. They provide a historical record of database changes and data updates, which can be valuable for regulatory compliance.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24" name="Google Shape;124;p23"/>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GB"/>
              <a:t>Creating SQLDump files typically involves using a database management system's built-in tools or command-line utilities. The exact method may vary depending on the database system you are using. Here is a general process:</a:t>
            </a:r>
            <a:endParaRPr/>
          </a:p>
          <a:p>
            <a:pPr indent="0" lvl="0" marL="0" rtl="0" algn="l">
              <a:spcBef>
                <a:spcPts val="1200"/>
              </a:spcBef>
              <a:spcAft>
                <a:spcPts val="0"/>
              </a:spcAft>
              <a:buNone/>
            </a:pPr>
            <a:r>
              <a:rPr b="1" lang="en-GB"/>
              <a:t>Using Command-Line Tools:</a:t>
            </a:r>
            <a:r>
              <a:rPr lang="en-GB"/>
              <a:t> Most database management systems offer command-line utilities for creating SQLDump files. For example, in MySQL, you can use the mysqldump command, while in PostgreSQL, the pg_dump command is used. These commands typically require authentication and specify the database to dump. For MySQL, the command might look like </a:t>
            </a:r>
            <a:r>
              <a:rPr b="1" lang="en-GB"/>
              <a:t>mysqldump -u username -p database_name &gt; dumpfile.sql.</a:t>
            </a:r>
            <a:endParaRPr b="1"/>
          </a:p>
          <a:p>
            <a:pPr indent="0" lvl="0" marL="0" rtl="0" algn="l">
              <a:spcBef>
                <a:spcPts val="1200"/>
              </a:spcBef>
              <a:spcAft>
                <a:spcPts val="1200"/>
              </a:spcAft>
              <a:buNone/>
            </a:pPr>
            <a:r>
              <a:rPr b="1" lang="en-GB"/>
              <a:t>Database Management Software</a:t>
            </a:r>
            <a:r>
              <a:rPr lang="en-GB"/>
              <a:t>: If you use a graphical database management tool, such as phpMyAdmin for MySQL or pgAdmin for PostgreSQL, you can often generate SQLDump files through the user interface. Look for options like "Export" or "Backup" and select the desired format (usually SQL).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t/>
            </a:r>
            <a:endParaRPr/>
          </a:p>
        </p:txBody>
      </p:sp>
      <p:sp>
        <p:nvSpPr>
          <p:cNvPr id="130" name="Google Shape;130;p2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a:t>Data Backup:</a:t>
            </a:r>
            <a:r>
              <a:rPr lang="en-GB"/>
              <a:t> To create a backup of a MySQL database, you can use the mysqldump command: mysqldump -u username -p database_name &gt; backup.sql. To restore the database from the backup, use: mysql -u username -p database_name &lt; backup.sql.</a:t>
            </a:r>
            <a:endParaRPr/>
          </a:p>
          <a:p>
            <a:pPr indent="0" lvl="0" marL="0" rtl="0" algn="l">
              <a:spcBef>
                <a:spcPts val="1200"/>
              </a:spcBef>
              <a:spcAft>
                <a:spcPts val="1200"/>
              </a:spcAft>
              <a:buNone/>
            </a:pPr>
            <a:r>
              <a:rPr b="1" lang="en-GB"/>
              <a:t>Data Migration:</a:t>
            </a:r>
            <a:r>
              <a:rPr lang="en-GB"/>
              <a:t> If you're moving data from one PostgreSQL database to another, use the pg_dump command to create a dump file and the pg_restore command to load it into the new database.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Best Practices</a:t>
            </a:r>
            <a:endParaRPr/>
          </a:p>
        </p:txBody>
      </p:sp>
      <p:sp>
        <p:nvSpPr>
          <p:cNvPr id="136" name="Google Shape;136;p25"/>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en-GB"/>
              <a:t>Regular Backups:</a:t>
            </a:r>
            <a:r>
              <a:rPr lang="en-GB"/>
              <a:t> Schedule regular database backups to ensure you always have recent data snapshots available for recovery.</a:t>
            </a:r>
            <a:endParaRPr/>
          </a:p>
          <a:p>
            <a:pPr indent="0" lvl="0" marL="0" rtl="0" algn="l">
              <a:spcBef>
                <a:spcPts val="1200"/>
              </a:spcBef>
              <a:spcAft>
                <a:spcPts val="0"/>
              </a:spcAft>
              <a:buNone/>
            </a:pPr>
            <a:r>
              <a:rPr b="1" lang="en-GB"/>
              <a:t>Secure Storage: </a:t>
            </a:r>
            <a:r>
              <a:rPr lang="en-GB"/>
              <a:t>Store SQLDump files in a secure location, as they contain sensitive data. Encrypt them if necessary.</a:t>
            </a:r>
            <a:endParaRPr/>
          </a:p>
          <a:p>
            <a:pPr indent="0" lvl="0" marL="0" rtl="0" algn="l">
              <a:spcBef>
                <a:spcPts val="1200"/>
              </a:spcBef>
              <a:spcAft>
                <a:spcPts val="0"/>
              </a:spcAft>
              <a:buNone/>
            </a:pPr>
            <a:r>
              <a:rPr b="1" lang="en-GB"/>
              <a:t>Documentation: </a:t>
            </a:r>
            <a:r>
              <a:rPr lang="en-GB"/>
              <a:t>Maintain documentation for your SQLDump files, including the date and purpose of each dump.</a:t>
            </a:r>
            <a:endParaRPr/>
          </a:p>
          <a:p>
            <a:pPr indent="0" lvl="0" marL="0" rtl="0" algn="l">
              <a:spcBef>
                <a:spcPts val="1200"/>
              </a:spcBef>
              <a:spcAft>
                <a:spcPts val="0"/>
              </a:spcAft>
              <a:buNone/>
            </a:pPr>
            <a:r>
              <a:rPr b="1" lang="en-GB"/>
              <a:t>Version Control:</a:t>
            </a:r>
            <a:r>
              <a:rPr lang="en-GB"/>
              <a:t> For schema version control, use tools like Git to manage changes to your database structure using SQLDump files.</a:t>
            </a:r>
            <a:endParaRPr/>
          </a:p>
          <a:p>
            <a:pPr indent="0" lvl="0" marL="0" rtl="0" algn="l">
              <a:spcBef>
                <a:spcPts val="1200"/>
              </a:spcBef>
              <a:spcAft>
                <a:spcPts val="1200"/>
              </a:spcAft>
              <a:buNone/>
            </a:pPr>
            <a:r>
              <a:rPr b="1" lang="en-GB"/>
              <a:t>Testing:</a:t>
            </a:r>
            <a:r>
              <a:rPr lang="en-GB"/>
              <a:t> Before relying on SQLDump files for disaster recovery, test the restoration process to ensure it works as expected.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Normal data formats -  CSV</a:t>
            </a:r>
            <a:endParaRPr/>
          </a:p>
        </p:txBody>
      </p:sp>
      <p:sp>
        <p:nvSpPr>
          <p:cNvPr id="142" name="Google Shape;142;p26"/>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GB"/>
              <a:t>CSV is a plain text file format commonly used for tabular data.</a:t>
            </a:r>
            <a:endParaRPr/>
          </a:p>
          <a:p>
            <a:pPr indent="0" lvl="0" marL="0" rtl="0" algn="l">
              <a:spcBef>
                <a:spcPts val="1200"/>
              </a:spcBef>
              <a:spcAft>
                <a:spcPts val="0"/>
              </a:spcAft>
              <a:buNone/>
            </a:pPr>
            <a:r>
              <a:rPr lang="en-GB"/>
              <a:t>Data is organized in rows and columns, where each row represents a record, and columns are separated by commas.</a:t>
            </a:r>
            <a:endParaRPr/>
          </a:p>
          <a:p>
            <a:pPr indent="0" lvl="0" marL="0" rtl="0" algn="l">
              <a:spcBef>
                <a:spcPts val="1200"/>
              </a:spcBef>
              <a:spcAft>
                <a:spcPts val="0"/>
              </a:spcAft>
              <a:buNone/>
            </a:pPr>
            <a:r>
              <a:rPr lang="en-GB"/>
              <a:t>CSV is lightweight, human-readable, and easy to generate and parse.</a:t>
            </a:r>
            <a:endParaRPr/>
          </a:p>
          <a:p>
            <a:pPr indent="0" lvl="0" marL="0" rtl="0" algn="l">
              <a:spcBef>
                <a:spcPts val="1200"/>
              </a:spcBef>
              <a:spcAft>
                <a:spcPts val="0"/>
              </a:spcAft>
              <a:buNone/>
            </a:pPr>
            <a:r>
              <a:rPr lang="en-GB"/>
              <a:t>Example:</a:t>
            </a:r>
            <a:endParaRPr/>
          </a:p>
          <a:p>
            <a:pPr indent="0" lvl="0" marL="0" rtl="0" algn="l">
              <a:spcBef>
                <a:spcPts val="1200"/>
              </a:spcBef>
              <a:spcAft>
                <a:spcPts val="0"/>
              </a:spcAft>
              <a:buNone/>
            </a:pPr>
            <a:r>
              <a:rPr lang="en-GB"/>
              <a:t>Name, Age, City</a:t>
            </a:r>
            <a:endParaRPr/>
          </a:p>
          <a:p>
            <a:pPr indent="0" lvl="0" marL="0" rtl="0" algn="l">
              <a:spcBef>
                <a:spcPts val="1200"/>
              </a:spcBef>
              <a:spcAft>
                <a:spcPts val="0"/>
              </a:spcAft>
              <a:buNone/>
            </a:pPr>
            <a:r>
              <a:rPr lang="en-GB"/>
              <a:t>John, 30, New York</a:t>
            </a:r>
            <a:endParaRPr/>
          </a:p>
          <a:p>
            <a:pPr indent="0" lvl="0" marL="0" rtl="0" algn="l">
              <a:spcBef>
                <a:spcPts val="1200"/>
              </a:spcBef>
              <a:spcAft>
                <a:spcPts val="0"/>
              </a:spcAft>
              <a:buNone/>
            </a:pPr>
            <a:r>
              <a:rPr lang="en-GB"/>
              <a:t>Jane, 25, Los Angeles</a:t>
            </a:r>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Normal data formats - JSON</a:t>
            </a:r>
            <a:endParaRPr/>
          </a:p>
        </p:txBody>
      </p:sp>
      <p:sp>
        <p:nvSpPr>
          <p:cNvPr id="148" name="Google Shape;148;p27"/>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GB"/>
              <a:t>JSON is a lightweight data interchange format.</a:t>
            </a:r>
            <a:endParaRPr/>
          </a:p>
          <a:p>
            <a:pPr indent="0" lvl="0" marL="0" rtl="0" algn="l">
              <a:spcBef>
                <a:spcPts val="1200"/>
              </a:spcBef>
              <a:spcAft>
                <a:spcPts val="0"/>
              </a:spcAft>
              <a:buNone/>
            </a:pPr>
            <a:r>
              <a:rPr lang="en-GB"/>
              <a:t>Data is represented as key-value pairs and structured in a hierarchical format.</a:t>
            </a:r>
            <a:endParaRPr/>
          </a:p>
          <a:p>
            <a:pPr indent="0" lvl="0" marL="0" rtl="0" algn="l">
              <a:spcBef>
                <a:spcPts val="1200"/>
              </a:spcBef>
              <a:spcAft>
                <a:spcPts val="0"/>
              </a:spcAft>
              <a:buNone/>
            </a:pPr>
            <a:r>
              <a:rPr lang="en-GB"/>
              <a:t>JSON is easy for both humans and machines to read and write.</a:t>
            </a:r>
            <a:endParaRPr/>
          </a:p>
          <a:p>
            <a:pPr indent="0" lvl="0" marL="0" rtl="0" algn="l">
              <a:spcBef>
                <a:spcPts val="1200"/>
              </a:spcBef>
              <a:spcAft>
                <a:spcPts val="0"/>
              </a:spcAft>
              <a:buNone/>
            </a:pPr>
            <a:r>
              <a:rPr lang="en-GB"/>
              <a:t>Example: </a:t>
            </a:r>
            <a:endParaRPr/>
          </a:p>
          <a:p>
            <a:pPr indent="0" lvl="0" marL="0" rtl="0" algn="l">
              <a:spcBef>
                <a:spcPts val="1200"/>
              </a:spcBef>
              <a:spcAft>
                <a:spcPts val="0"/>
              </a:spcAft>
              <a:buNone/>
            </a:pPr>
            <a:r>
              <a:rPr lang="en-GB"/>
              <a:t>{</a:t>
            </a:r>
            <a:endParaRPr/>
          </a:p>
          <a:p>
            <a:pPr indent="0" lvl="0" marL="0" rtl="0" algn="l">
              <a:spcBef>
                <a:spcPts val="1200"/>
              </a:spcBef>
              <a:spcAft>
                <a:spcPts val="0"/>
              </a:spcAft>
              <a:buNone/>
            </a:pPr>
            <a:r>
              <a:rPr lang="en-GB"/>
              <a:t>  "Name": "John",</a:t>
            </a:r>
            <a:endParaRPr/>
          </a:p>
          <a:p>
            <a:pPr indent="0" lvl="0" marL="0" rtl="0" algn="l">
              <a:spcBef>
                <a:spcPts val="1200"/>
              </a:spcBef>
              <a:spcAft>
                <a:spcPts val="0"/>
              </a:spcAft>
              <a:buNone/>
            </a:pPr>
            <a:r>
              <a:rPr lang="en-GB"/>
              <a:t>  "Age": 30,</a:t>
            </a:r>
            <a:endParaRPr/>
          </a:p>
          <a:p>
            <a:pPr indent="0" lvl="0" marL="0" rtl="0" algn="l">
              <a:spcBef>
                <a:spcPts val="1200"/>
              </a:spcBef>
              <a:spcAft>
                <a:spcPts val="0"/>
              </a:spcAft>
              <a:buNone/>
            </a:pPr>
            <a:r>
              <a:rPr lang="en-GB"/>
              <a:t>  "City": "New York"</a:t>
            </a:r>
            <a:endParaRPr/>
          </a:p>
          <a:p>
            <a:pPr indent="0" lvl="0" marL="0" rtl="0" algn="l">
              <a:spcBef>
                <a:spcPts val="1200"/>
              </a:spcBef>
              <a:spcAft>
                <a:spcPts val="1200"/>
              </a:spcAft>
              <a:buNone/>
            </a:pPr>
            <a:r>
              <a:rPr lang="en-GB"/>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XML</a:t>
            </a:r>
            <a:endParaRPr/>
          </a:p>
        </p:txBody>
      </p:sp>
      <p:sp>
        <p:nvSpPr>
          <p:cNvPr id="154" name="Google Shape;154;p28"/>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GB"/>
              <a:t>XML is a markup language used to encode structured data.</a:t>
            </a:r>
            <a:endParaRPr/>
          </a:p>
          <a:p>
            <a:pPr indent="0" lvl="0" marL="0" rtl="0" algn="l">
              <a:spcBef>
                <a:spcPts val="1200"/>
              </a:spcBef>
              <a:spcAft>
                <a:spcPts val="0"/>
              </a:spcAft>
              <a:buNone/>
            </a:pPr>
            <a:r>
              <a:rPr lang="en-GB"/>
              <a:t>Data is enclosed in tags, creating a tree-like structure.</a:t>
            </a:r>
            <a:endParaRPr/>
          </a:p>
          <a:p>
            <a:pPr indent="0" lvl="0" marL="0" rtl="0" algn="l">
              <a:spcBef>
                <a:spcPts val="1200"/>
              </a:spcBef>
              <a:spcAft>
                <a:spcPts val="0"/>
              </a:spcAft>
              <a:buNone/>
            </a:pPr>
            <a:r>
              <a:rPr lang="en-GB"/>
              <a:t>XML is highly flexible and is often used for data interchange and configuration files.</a:t>
            </a:r>
            <a:endParaRPr/>
          </a:p>
          <a:p>
            <a:pPr indent="0" lvl="0" marL="0" rtl="0" algn="l">
              <a:spcBef>
                <a:spcPts val="1200"/>
              </a:spcBef>
              <a:spcAft>
                <a:spcPts val="0"/>
              </a:spcAft>
              <a:buNone/>
            </a:pPr>
            <a:r>
              <a:rPr lang="en-GB"/>
              <a:t>&lt;Person&gt;</a:t>
            </a:r>
            <a:endParaRPr/>
          </a:p>
          <a:p>
            <a:pPr indent="0" lvl="0" marL="0" rtl="0" algn="l">
              <a:spcBef>
                <a:spcPts val="1200"/>
              </a:spcBef>
              <a:spcAft>
                <a:spcPts val="0"/>
              </a:spcAft>
              <a:buNone/>
            </a:pPr>
            <a:r>
              <a:rPr lang="en-GB"/>
              <a:t>  &lt;Name&gt;John&lt;/Name&gt;</a:t>
            </a:r>
            <a:endParaRPr/>
          </a:p>
          <a:p>
            <a:pPr indent="0" lvl="0" marL="0" rtl="0" algn="l">
              <a:spcBef>
                <a:spcPts val="1200"/>
              </a:spcBef>
              <a:spcAft>
                <a:spcPts val="0"/>
              </a:spcAft>
              <a:buNone/>
            </a:pPr>
            <a:r>
              <a:rPr lang="en-GB"/>
              <a:t>  &lt;Age&gt;30&lt;/Age&gt;</a:t>
            </a:r>
            <a:endParaRPr/>
          </a:p>
          <a:p>
            <a:pPr indent="0" lvl="0" marL="0" rtl="0" algn="l">
              <a:spcBef>
                <a:spcPts val="1200"/>
              </a:spcBef>
              <a:spcAft>
                <a:spcPts val="0"/>
              </a:spcAft>
              <a:buNone/>
            </a:pPr>
            <a:r>
              <a:rPr lang="en-GB"/>
              <a:t>  &lt;City&gt;New York&lt;/City&gt;</a:t>
            </a:r>
            <a:endParaRPr/>
          </a:p>
          <a:p>
            <a:pPr indent="0" lvl="0" marL="0" rtl="0" algn="l">
              <a:spcBef>
                <a:spcPts val="1200"/>
              </a:spcBef>
              <a:spcAft>
                <a:spcPts val="0"/>
              </a:spcAft>
              <a:buNone/>
            </a:pPr>
            <a:r>
              <a:rPr lang="en-GB"/>
              <a:t>&lt;/Person&gt;</a:t>
            </a:r>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Encoding in Data Files</a:t>
            </a:r>
            <a:endParaRPr/>
          </a:p>
        </p:txBody>
      </p:sp>
      <p:sp>
        <p:nvSpPr>
          <p:cNvPr id="160" name="Google Shape;160;p29"/>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85000"/>
          </a:bodyPr>
          <a:lstStyle/>
          <a:p>
            <a:pPr indent="-325755" lvl="0" marL="457200" rtl="0" algn="l">
              <a:spcBef>
                <a:spcPts val="0"/>
              </a:spcBef>
              <a:spcAft>
                <a:spcPts val="0"/>
              </a:spcAft>
              <a:buSzPct val="100000"/>
              <a:buChar char="●"/>
            </a:pPr>
            <a:r>
              <a:rPr lang="en-GB"/>
              <a:t>ASCII (American Standard Code for Information Interchange):</a:t>
            </a:r>
            <a:endParaRPr/>
          </a:p>
          <a:p>
            <a:pPr indent="-304165" lvl="1" marL="914400" rtl="0" algn="l">
              <a:spcBef>
                <a:spcPts val="0"/>
              </a:spcBef>
              <a:spcAft>
                <a:spcPts val="0"/>
              </a:spcAft>
              <a:buSzPct val="100000"/>
              <a:buChar char="○"/>
            </a:pPr>
            <a:r>
              <a:rPr lang="en-GB"/>
              <a:t>ASCII is an older character encoding standard that uses 7 bits to represent 128 different characters.</a:t>
            </a:r>
            <a:endParaRPr/>
          </a:p>
          <a:p>
            <a:pPr indent="-304165" lvl="1" marL="914400" rtl="0" algn="l">
              <a:spcBef>
                <a:spcPts val="0"/>
              </a:spcBef>
              <a:spcAft>
                <a:spcPts val="0"/>
              </a:spcAft>
              <a:buSzPct val="100000"/>
              <a:buChar char="○"/>
            </a:pPr>
            <a:r>
              <a:rPr lang="en-GB"/>
              <a:t>It's limited to the basic Latin alphabet, numbers, punctuation, and control characters.</a:t>
            </a:r>
            <a:endParaRPr/>
          </a:p>
          <a:p>
            <a:pPr indent="-304165" lvl="1" marL="914400" rtl="0" algn="l">
              <a:spcBef>
                <a:spcPts val="0"/>
              </a:spcBef>
              <a:spcAft>
                <a:spcPts val="0"/>
              </a:spcAft>
              <a:buSzPct val="100000"/>
              <a:buChar char="○"/>
            </a:pPr>
            <a:r>
              <a:rPr lang="en-GB"/>
              <a:t>ASCII is not suitable for encoding characters from non-Latin scripts.</a:t>
            </a:r>
            <a:endParaRPr/>
          </a:p>
          <a:p>
            <a:pPr indent="-325755" lvl="0" marL="457200" rtl="0" algn="l">
              <a:spcBef>
                <a:spcPts val="0"/>
              </a:spcBef>
              <a:spcAft>
                <a:spcPts val="0"/>
              </a:spcAft>
              <a:buSzPct val="100000"/>
              <a:buChar char="●"/>
            </a:pPr>
            <a:r>
              <a:rPr lang="en-GB"/>
              <a:t>UTF-8 (Unicode Transformation Format-8):</a:t>
            </a:r>
            <a:endParaRPr/>
          </a:p>
          <a:p>
            <a:pPr indent="-304165" lvl="1" marL="914400" rtl="0" algn="l">
              <a:spcBef>
                <a:spcPts val="0"/>
              </a:spcBef>
              <a:spcAft>
                <a:spcPts val="0"/>
              </a:spcAft>
              <a:buSzPct val="100000"/>
              <a:buChar char="○"/>
            </a:pPr>
            <a:r>
              <a:rPr lang="en-GB"/>
              <a:t>UTF-8 is a variable-width character encoding capable of representing all Unicode characters.</a:t>
            </a:r>
            <a:endParaRPr/>
          </a:p>
          <a:p>
            <a:pPr indent="-304165" lvl="1" marL="914400" rtl="0" algn="l">
              <a:spcBef>
                <a:spcPts val="0"/>
              </a:spcBef>
              <a:spcAft>
                <a:spcPts val="0"/>
              </a:spcAft>
              <a:buSzPct val="100000"/>
              <a:buChar char="○"/>
            </a:pPr>
            <a:r>
              <a:rPr lang="en-GB"/>
              <a:t>It's backward-compatible with ASCII, meaning the first 128 characters in UTF-8 are the same as in ASCII.</a:t>
            </a:r>
            <a:endParaRPr/>
          </a:p>
          <a:p>
            <a:pPr indent="-304165" lvl="1" marL="914400" rtl="0" algn="l">
              <a:spcBef>
                <a:spcPts val="0"/>
              </a:spcBef>
              <a:spcAft>
                <a:spcPts val="0"/>
              </a:spcAft>
              <a:buSzPct val="100000"/>
              <a:buChar char="○"/>
            </a:pPr>
            <a:r>
              <a:rPr lang="en-GB"/>
              <a:t>UTF-8 is widely used for web content, data exchange, and storage as it supports a wide range of languages.</a:t>
            </a:r>
            <a:endParaRPr/>
          </a:p>
          <a:p>
            <a:pPr indent="-325755" lvl="0" marL="457200" rtl="0" algn="l">
              <a:spcBef>
                <a:spcPts val="0"/>
              </a:spcBef>
              <a:spcAft>
                <a:spcPts val="0"/>
              </a:spcAft>
              <a:buSzPct val="100000"/>
              <a:buChar char="●"/>
            </a:pPr>
            <a:r>
              <a:rPr lang="en-GB"/>
              <a:t>UTF-16 (Unicode Transformation Format-16):</a:t>
            </a:r>
            <a:endParaRPr/>
          </a:p>
          <a:p>
            <a:pPr indent="-304165" lvl="1" marL="914400" rtl="0" algn="l">
              <a:spcBef>
                <a:spcPts val="0"/>
              </a:spcBef>
              <a:spcAft>
                <a:spcPts val="0"/>
              </a:spcAft>
              <a:buSzPct val="100000"/>
              <a:buChar char="○"/>
            </a:pPr>
            <a:r>
              <a:rPr lang="en-GB"/>
              <a:t>UTF-16 is another encoding for Unicode characters, using 16 bits per character.</a:t>
            </a:r>
            <a:endParaRPr/>
          </a:p>
          <a:p>
            <a:pPr indent="-304165" lvl="1" marL="914400" rtl="0" algn="l">
              <a:spcBef>
                <a:spcPts val="0"/>
              </a:spcBef>
              <a:spcAft>
                <a:spcPts val="0"/>
              </a:spcAft>
              <a:buSzPct val="100000"/>
              <a:buChar char="○"/>
            </a:pPr>
            <a:r>
              <a:rPr lang="en-GB"/>
              <a:t>It can represent a broader range of characters compared to UTF-8.</a:t>
            </a:r>
            <a:endParaRPr/>
          </a:p>
          <a:p>
            <a:pPr indent="-304165" lvl="1" marL="914400" rtl="0" algn="l">
              <a:spcBef>
                <a:spcPts val="0"/>
              </a:spcBef>
              <a:spcAft>
                <a:spcPts val="0"/>
              </a:spcAft>
              <a:buSzPct val="100000"/>
              <a:buChar char="○"/>
            </a:pPr>
            <a:r>
              <a:rPr lang="en-GB"/>
              <a:t>UTF-16 is commonly used in systems that require extensive character support but results in larger file sizes due to the use of 16 bits per character.</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Difference between encoding and its impact</a:t>
            </a:r>
            <a:endParaRPr/>
          </a:p>
        </p:txBody>
      </p:sp>
      <p:sp>
        <p:nvSpPr>
          <p:cNvPr id="166" name="Google Shape;166;p30"/>
          <p:cNvSpPr txBox="1"/>
          <p:nvPr>
            <p:ph idx="1" type="body"/>
          </p:nvPr>
        </p:nvSpPr>
        <p:spPr>
          <a:xfrm>
            <a:off x="387900" y="1489824"/>
            <a:ext cx="8368200" cy="30789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GB"/>
              <a:t>Character Range:</a:t>
            </a:r>
            <a:endParaRPr/>
          </a:p>
          <a:p>
            <a:pPr indent="-304165" lvl="1" marL="914400" rtl="0" algn="l">
              <a:spcBef>
                <a:spcPts val="0"/>
              </a:spcBef>
              <a:spcAft>
                <a:spcPts val="0"/>
              </a:spcAft>
              <a:buSzPct val="100000"/>
              <a:buChar char="○"/>
            </a:pPr>
            <a:r>
              <a:rPr lang="en-GB"/>
              <a:t>ASCII: Limited to the basic Latin characters.</a:t>
            </a:r>
            <a:endParaRPr/>
          </a:p>
          <a:p>
            <a:pPr indent="-304165" lvl="1" marL="914400" rtl="0" algn="l">
              <a:spcBef>
                <a:spcPts val="0"/>
              </a:spcBef>
              <a:spcAft>
                <a:spcPts val="0"/>
              </a:spcAft>
              <a:buSzPct val="100000"/>
              <a:buChar char="○"/>
            </a:pPr>
            <a:r>
              <a:rPr lang="en-GB"/>
              <a:t>UTF-8 and UTF-16: Support a much broader range of characters, including non-Latin scripts, symbols, and emojis.</a:t>
            </a:r>
            <a:endParaRPr/>
          </a:p>
          <a:p>
            <a:pPr indent="-325755" lvl="0" marL="457200" rtl="0" algn="l">
              <a:spcBef>
                <a:spcPts val="0"/>
              </a:spcBef>
              <a:spcAft>
                <a:spcPts val="0"/>
              </a:spcAft>
              <a:buSzPct val="100000"/>
              <a:buChar char="●"/>
            </a:pPr>
            <a:r>
              <a:rPr lang="en-GB"/>
              <a:t>File Size:</a:t>
            </a:r>
            <a:endParaRPr/>
          </a:p>
          <a:p>
            <a:pPr indent="-304165" lvl="1" marL="914400" rtl="0" algn="l">
              <a:spcBef>
                <a:spcPts val="0"/>
              </a:spcBef>
              <a:spcAft>
                <a:spcPts val="0"/>
              </a:spcAft>
              <a:buSzPct val="100000"/>
              <a:buChar char="○"/>
            </a:pPr>
            <a:r>
              <a:rPr lang="en-GB"/>
              <a:t>ASCII: Results in smaller file sizes compared to UTF-8 and UTF-16.</a:t>
            </a:r>
            <a:endParaRPr/>
          </a:p>
          <a:p>
            <a:pPr indent="-304165" lvl="1" marL="914400" rtl="0" algn="l">
              <a:spcBef>
                <a:spcPts val="0"/>
              </a:spcBef>
              <a:spcAft>
                <a:spcPts val="0"/>
              </a:spcAft>
              <a:buSzPct val="100000"/>
              <a:buChar char="○"/>
            </a:pPr>
            <a:r>
              <a:rPr lang="en-GB"/>
              <a:t>UTF-8 and UTF-16: Can result in larger file sizes, with UTF-16 generally larger due to the use of 16 bits per character.</a:t>
            </a:r>
            <a:endParaRPr/>
          </a:p>
          <a:p>
            <a:pPr indent="-325755" lvl="0" marL="457200" rtl="0" algn="l">
              <a:spcBef>
                <a:spcPts val="0"/>
              </a:spcBef>
              <a:spcAft>
                <a:spcPts val="0"/>
              </a:spcAft>
              <a:buSzPct val="100000"/>
              <a:buChar char="●"/>
            </a:pPr>
            <a:r>
              <a:rPr lang="en-GB"/>
              <a:t>Compatibility:</a:t>
            </a:r>
            <a:endParaRPr/>
          </a:p>
          <a:p>
            <a:pPr indent="-304165" lvl="1" marL="914400" rtl="0" algn="l">
              <a:spcBef>
                <a:spcPts val="0"/>
              </a:spcBef>
              <a:spcAft>
                <a:spcPts val="0"/>
              </a:spcAft>
              <a:buSzPct val="100000"/>
              <a:buChar char="○"/>
            </a:pPr>
            <a:r>
              <a:rPr lang="en-GB"/>
              <a:t>ASCII: Limited to basic characters, not suitable for multilingual content.</a:t>
            </a:r>
            <a:endParaRPr/>
          </a:p>
          <a:p>
            <a:pPr indent="-304165" lvl="1" marL="914400" rtl="0" algn="l">
              <a:spcBef>
                <a:spcPts val="0"/>
              </a:spcBef>
              <a:spcAft>
                <a:spcPts val="0"/>
              </a:spcAft>
              <a:buSzPct val="100000"/>
              <a:buChar char="○"/>
            </a:pPr>
            <a:r>
              <a:rPr lang="en-GB"/>
              <a:t>UTF-8: Offers compatibility with ASCII and broad support for different languages.</a:t>
            </a:r>
            <a:endParaRPr/>
          </a:p>
          <a:p>
            <a:pPr indent="-304165" lvl="1" marL="914400" rtl="0" algn="l">
              <a:spcBef>
                <a:spcPts val="0"/>
              </a:spcBef>
              <a:spcAft>
                <a:spcPts val="0"/>
              </a:spcAft>
              <a:buSzPct val="100000"/>
              <a:buChar char="○"/>
            </a:pPr>
            <a:r>
              <a:rPr lang="en-GB"/>
              <a:t>UTF-16: Supports a wide range of characters but can be less space-efficient.</a:t>
            </a:r>
            <a:endParaRPr/>
          </a:p>
          <a:p>
            <a:pPr indent="-325755" lvl="0" marL="457200" rtl="0" algn="l">
              <a:spcBef>
                <a:spcPts val="0"/>
              </a:spcBef>
              <a:spcAft>
                <a:spcPts val="0"/>
              </a:spcAft>
              <a:buSzPct val="100000"/>
              <a:buChar char="●"/>
            </a:pPr>
            <a:r>
              <a:rPr lang="en-GB"/>
              <a:t>Human-Readability:</a:t>
            </a:r>
            <a:endParaRPr/>
          </a:p>
          <a:p>
            <a:pPr indent="-304165" lvl="1" marL="914400" rtl="0" algn="l">
              <a:spcBef>
                <a:spcPts val="0"/>
              </a:spcBef>
              <a:spcAft>
                <a:spcPts val="0"/>
              </a:spcAft>
              <a:buSzPct val="100000"/>
              <a:buChar char="○"/>
            </a:pPr>
            <a:r>
              <a:rPr lang="en-GB"/>
              <a:t>ASCII, UTF-8, and UTF-16: All can be human-readable, but ASCII is the simplest to read due to its limited character set.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1"/>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GB"/>
              <a:t>Tutorial for SQLDump</a:t>
            </a:r>
            <a:endParaRPr/>
          </a:p>
        </p:txBody>
      </p:sp>
      <p:sp>
        <p:nvSpPr>
          <p:cNvPr id="172" name="Google Shape;172;p31"/>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https://docs.google.com/document/d/1D8P7YG4BL6CmAlEXJt_Lpa9vxLUTGATODkq76JoVPdU/edit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