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6"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8229600" cx="14630400"/>
  <p:notesSz cx="8229600" cy="14630400"/>
  <p:embeddedFontLst>
    <p:embeddedFont>
      <p:font typeface="Instrument Sans SemiBold"/>
      <p:regular r:id="rId23"/>
      <p:bold r:id="rId24"/>
      <p:italic r:id="rId25"/>
      <p:boldItalic r:id="rId26"/>
    </p:embeddedFont>
    <p:embeddedFont>
      <p:font typeface="Instrument Sans Medium"/>
      <p:regular r:id="rId27"/>
      <p:bold r:id="rId28"/>
      <p:italic r:id="rId29"/>
      <p:boldItalic r:id="rId30"/>
    </p:embeddedFont>
    <p:embeddedFont>
      <p:font typeface="Instrument Sans"/>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font" Target="fonts/InstrumentSansSemiBold-bold.fntdata"/><Relationship Id="rId23" Type="http://schemas.openxmlformats.org/officeDocument/2006/relationships/font" Target="fonts/InstrumentSansSemiBold-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InstrumentSansSemiBold-boldItalic.fntdata"/><Relationship Id="rId25" Type="http://schemas.openxmlformats.org/officeDocument/2006/relationships/font" Target="fonts/InstrumentSansSemiBold-italic.fntdata"/><Relationship Id="rId28" Type="http://schemas.openxmlformats.org/officeDocument/2006/relationships/font" Target="fonts/InstrumentSansMedium-bold.fntdata"/><Relationship Id="rId27" Type="http://schemas.openxmlformats.org/officeDocument/2006/relationships/font" Target="fonts/InstrumentSansMedium-regular.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InstrumentSansMedium-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InstrumentSans-regular.fntdata"/><Relationship Id="rId30" Type="http://schemas.openxmlformats.org/officeDocument/2006/relationships/font" Target="fonts/InstrumentSansMedium-boldItalic.fntdata"/><Relationship Id="rId11" Type="http://schemas.openxmlformats.org/officeDocument/2006/relationships/slide" Target="slides/slide7.xml"/><Relationship Id="rId33" Type="http://schemas.openxmlformats.org/officeDocument/2006/relationships/font" Target="fonts/InstrumentSans-italic.fntdata"/><Relationship Id="rId10" Type="http://schemas.openxmlformats.org/officeDocument/2006/relationships/slide" Target="slides/slide6.xml"/><Relationship Id="rId32" Type="http://schemas.openxmlformats.org/officeDocument/2006/relationships/font" Target="fonts/InstrumentSans-bold.fntdata"/><Relationship Id="rId13" Type="http://schemas.openxmlformats.org/officeDocument/2006/relationships/slide" Target="slides/slide9.xml"/><Relationship Id="rId12" Type="http://schemas.openxmlformats.org/officeDocument/2006/relationships/slide" Target="slides/slide8.xml"/><Relationship Id="rId34" Type="http://schemas.openxmlformats.org/officeDocument/2006/relationships/font" Target="fonts/InstrumentSans-boldItalic.fntdata"/><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1" name="Google Shape;81;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0" name="Google Shape;10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2" name="Google Shape;15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2" name="Google Shape;182;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3" name="Google Shape;183;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5" name="Google Shape;215;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1" name="Google Shape;251;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1" name="Google Shape;27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2" name="Google Shape;272;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c25874a53c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c25874a53c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g3c25874a53c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2" name="Google Shape;30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1" name="Google Shape;32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2" name="Google Shape;32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3" name="Google Shape;333;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4" name="Google Shape;354;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5" name="Google Shape;355;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hyperlink" Target="https://gamma.app/?utm_source=made-with-gamma" TargetMode="External"/><Relationship Id="rId4"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hyperlink" Target="https://gamma.app/?utm_source=made-with-gamma" TargetMode="External"/><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hyperlink" Target="https://gamma.app/?utm_source=made-with-gamma" TargetMode="External"/><Relationship Id="rId4"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hyperlink" Target="https://gamma.app/?utm_source=made-with-gamma" TargetMode="Externa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hyperlink" Target="https://gamma.app/?utm_source=made-with-gamma" TargetMode="External"/><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hyperlink" Target="https://gamma.app/?utm_source=made-with-gamma" TargetMode="External"/><Relationship Id="rId4" Type="http://schemas.openxmlformats.org/officeDocument/2006/relationships/image" Target="../media/image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hyperlink" Target="https://gamma.app/?utm_source=made-with-gamma" TargetMode="External"/><Relationship Id="rId4" Type="http://schemas.openxmlformats.org/officeDocument/2006/relationships/image" Target="../media/image7.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hyperlink" Target="https://gamma.app/?utm_source=made-with-gamma" TargetMode="External"/><Relationship Id="rId4" Type="http://schemas.openxmlformats.org/officeDocument/2006/relationships/image" Target="../media/image7.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hyperlink" Target="https://gamma.app/?utm_source=made-with-gamma" TargetMode="External"/><Relationship Id="rId4" Type="http://schemas.openxmlformats.org/officeDocument/2006/relationships/image" Target="../media/image7.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hyperlink" Target="https://gamma.app/?utm_source=made-with-gamma" TargetMode="External"/><Relationship Id="rId4" Type="http://schemas.openxmlformats.org/officeDocument/2006/relationships/image" Target="../media/image7.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hyperlink" Target="https://gamma.app/?utm_source=made-with-gamma" TargetMode="External"/><Relationship Id="rId4" Type="http://schemas.openxmlformats.org/officeDocument/2006/relationships/image" Target="../media/image7.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hyperlink" Target="https://gamma.app/?utm_source=made-with-gamma" TargetMode="External"/><Relationship Id="rId4" Type="http://schemas.openxmlformats.org/officeDocument/2006/relationships/image" Target="../media/image7.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hyperlink" Target="https://gamma.app/?utm_source=made-with-gamma" TargetMode="External"/><Relationship Id="rId4" Type="http://schemas.openxmlformats.org/officeDocument/2006/relationships/image" Target="../media/image7.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hyperlink" Target="https://gamma.app/?utm_source=made-with-gamma" TargetMode="External"/><Relationship Id="rId4" Type="http://schemas.openxmlformats.org/officeDocument/2006/relationships/image" Target="../media/image7.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hyperlink" Target="https://gamma.app/?utm_source=made-with-gamma" TargetMode="External"/><Relationship Id="rId4"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hyperlink" Target="https://gamma.app/?utm_source=made-with-gamma" TargetMode="External"/><Relationship Id="rId4" Type="http://schemas.openxmlformats.org/officeDocument/2006/relationships/image" Target="../media/image7.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hyperlink" Target="https://gamma.app/?utm_source=made-with-gamma" TargetMode="External"/><Relationship Id="rId4" Type="http://schemas.openxmlformats.org/officeDocument/2006/relationships/image" Target="../media/image7.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spTree>
      <p:nvGrpSpPr>
        <p:cNvPr id="10" name="Shape 10"/>
        <p:cNvGrpSpPr/>
        <p:nvPr/>
      </p:nvGrpSpPr>
      <p:grpSpPr>
        <a:xfrm>
          <a:off x="0" y="0"/>
          <a:ext cx="0" cy="0"/>
          <a:chOff x="0" y="0"/>
          <a:chExt cx="0" cy="0"/>
        </a:xfrm>
      </p:grpSpPr>
      <p:pic>
        <p:nvPicPr>
          <p:cNvPr descr="preencoded.png" id="11" name="Google Shape;11;p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2" name="Google Shape;12;p2"/>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3" name="Google Shape;13;p2">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spTree>
      <p:nvGrpSpPr>
        <p:cNvPr id="14" name="Shape 14"/>
        <p:cNvGrpSpPr/>
        <p:nvPr/>
      </p:nvGrpSpPr>
      <p:grpSpPr>
        <a:xfrm>
          <a:off x="0" y="0"/>
          <a:ext cx="0" cy="0"/>
          <a:chOff x="0" y="0"/>
          <a:chExt cx="0" cy="0"/>
        </a:xfrm>
      </p:grpSpPr>
      <p:pic>
        <p:nvPicPr>
          <p:cNvPr descr="preencoded.png" id="15" name="Google Shape;15;p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16" name="Google Shape;16;p3"/>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 name="Google Shape;17;p3">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spTree>
      <p:nvGrpSpPr>
        <p:cNvPr id="18" name="Shape 18"/>
        <p:cNvGrpSpPr/>
        <p:nvPr/>
      </p:nvGrpSpPr>
      <p:grpSpPr>
        <a:xfrm>
          <a:off x="0" y="0"/>
          <a:ext cx="0" cy="0"/>
          <a:chOff x="0" y="0"/>
          <a:chExt cx="0" cy="0"/>
        </a:xfrm>
      </p:grpSpPr>
      <p:pic>
        <p:nvPicPr>
          <p:cNvPr descr="preencoded.png" id="19" name="Google Shape;19;p4"/>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0" name="Google Shape;20;p4"/>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1" name="Google Shape;21;p4">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spTree>
      <p:nvGrpSpPr>
        <p:cNvPr id="22" name="Shape 22"/>
        <p:cNvGrpSpPr/>
        <p:nvPr/>
      </p:nvGrpSpPr>
      <p:grpSpPr>
        <a:xfrm>
          <a:off x="0" y="0"/>
          <a:ext cx="0" cy="0"/>
          <a:chOff x="0" y="0"/>
          <a:chExt cx="0" cy="0"/>
        </a:xfrm>
      </p:grpSpPr>
      <p:pic>
        <p:nvPicPr>
          <p:cNvPr descr="preencoded.png" id="23" name="Google Shape;23;p5"/>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4" name="Google Shape;24;p5"/>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 name="Google Shape;25;p5">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spTree>
      <p:nvGrpSpPr>
        <p:cNvPr id="26" name="Shape 26"/>
        <p:cNvGrpSpPr/>
        <p:nvPr/>
      </p:nvGrpSpPr>
      <p:grpSpPr>
        <a:xfrm>
          <a:off x="0" y="0"/>
          <a:ext cx="0" cy="0"/>
          <a:chOff x="0" y="0"/>
          <a:chExt cx="0" cy="0"/>
        </a:xfrm>
      </p:grpSpPr>
      <p:pic>
        <p:nvPicPr>
          <p:cNvPr descr="preencoded.png" id="27" name="Google Shape;27;p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28" name="Google Shape;28;p6"/>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9" name="Google Shape;29;p6">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spTree>
      <p:nvGrpSpPr>
        <p:cNvPr id="30" name="Shape 30"/>
        <p:cNvGrpSpPr/>
        <p:nvPr/>
      </p:nvGrpSpPr>
      <p:grpSpPr>
        <a:xfrm>
          <a:off x="0" y="0"/>
          <a:ext cx="0" cy="0"/>
          <a:chOff x="0" y="0"/>
          <a:chExt cx="0" cy="0"/>
        </a:xfrm>
      </p:grpSpPr>
      <p:pic>
        <p:nvPicPr>
          <p:cNvPr descr="preencoded.png" id="31" name="Google Shape;31;p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2" name="Google Shape;32;p7"/>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 name="Google Shape;33;p7">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spTree>
      <p:nvGrpSpPr>
        <p:cNvPr id="34" name="Shape 34"/>
        <p:cNvGrpSpPr/>
        <p:nvPr/>
      </p:nvGrpSpPr>
      <p:grpSpPr>
        <a:xfrm>
          <a:off x="0" y="0"/>
          <a:ext cx="0" cy="0"/>
          <a:chOff x="0" y="0"/>
          <a:chExt cx="0" cy="0"/>
        </a:xfrm>
      </p:grpSpPr>
      <p:pic>
        <p:nvPicPr>
          <p:cNvPr descr="preencoded.png" id="35" name="Google Shape;35;p8"/>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36" name="Google Shape;36;p8"/>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 name="Google Shape;37;p8">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spTree>
      <p:nvGrpSpPr>
        <p:cNvPr id="38" name="Shape 38"/>
        <p:cNvGrpSpPr/>
        <p:nvPr/>
      </p:nvGrpSpPr>
      <p:grpSpPr>
        <a:xfrm>
          <a:off x="0" y="0"/>
          <a:ext cx="0" cy="0"/>
          <a:chOff x="0" y="0"/>
          <a:chExt cx="0" cy="0"/>
        </a:xfrm>
      </p:grpSpPr>
      <p:pic>
        <p:nvPicPr>
          <p:cNvPr descr="preencoded.png" id="39" name="Google Shape;39;p9"/>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0" name="Google Shape;40;p9"/>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 name="Google Shape;41;p9">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spTree>
      <p:nvGrpSpPr>
        <p:cNvPr id="42" name="Shape 42"/>
        <p:cNvGrpSpPr/>
        <p:nvPr/>
      </p:nvGrpSpPr>
      <p:grpSpPr>
        <a:xfrm>
          <a:off x="0" y="0"/>
          <a:ext cx="0" cy="0"/>
          <a:chOff x="0" y="0"/>
          <a:chExt cx="0" cy="0"/>
        </a:xfrm>
      </p:grpSpPr>
      <p:pic>
        <p:nvPicPr>
          <p:cNvPr descr="preencoded.png" id="43" name="Google Shape;43;p10"/>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4" name="Google Shape;44;p10"/>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5" name="Google Shape;45;p10">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0 master">
  <p:cSld name="Slide 10 master">
    <p:spTree>
      <p:nvGrpSpPr>
        <p:cNvPr id="46" name="Shape 46"/>
        <p:cNvGrpSpPr/>
        <p:nvPr/>
      </p:nvGrpSpPr>
      <p:grpSpPr>
        <a:xfrm>
          <a:off x="0" y="0"/>
          <a:ext cx="0" cy="0"/>
          <a:chOff x="0" y="0"/>
          <a:chExt cx="0" cy="0"/>
        </a:xfrm>
      </p:grpSpPr>
      <p:pic>
        <p:nvPicPr>
          <p:cNvPr descr="preencoded.png" id="47" name="Google Shape;47;p11"/>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48" name="Google Shape;48;p11"/>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9" name="Google Shape;49;p11">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1 master">
  <p:cSld name="Slide 11 master">
    <p:spTree>
      <p:nvGrpSpPr>
        <p:cNvPr id="50" name="Shape 50"/>
        <p:cNvGrpSpPr/>
        <p:nvPr/>
      </p:nvGrpSpPr>
      <p:grpSpPr>
        <a:xfrm>
          <a:off x="0" y="0"/>
          <a:ext cx="0" cy="0"/>
          <a:chOff x="0" y="0"/>
          <a:chExt cx="0" cy="0"/>
        </a:xfrm>
      </p:grpSpPr>
      <p:pic>
        <p:nvPicPr>
          <p:cNvPr descr="preencoded.png" id="51" name="Google Shape;51;p12"/>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52" name="Google Shape;52;p12"/>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3" name="Google Shape;53;p12">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2 master">
  <p:cSld name="Slide 12 master">
    <p:spTree>
      <p:nvGrpSpPr>
        <p:cNvPr id="54" name="Shape 54"/>
        <p:cNvGrpSpPr/>
        <p:nvPr/>
      </p:nvGrpSpPr>
      <p:grpSpPr>
        <a:xfrm>
          <a:off x="0" y="0"/>
          <a:ext cx="0" cy="0"/>
          <a:chOff x="0" y="0"/>
          <a:chExt cx="0" cy="0"/>
        </a:xfrm>
      </p:grpSpPr>
      <p:pic>
        <p:nvPicPr>
          <p:cNvPr descr="preencoded.png" id="55" name="Google Shape;55;p13"/>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56" name="Google Shape;56;p13"/>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57" name="Google Shape;57;p13">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3 master">
  <p:cSld name="Slide 13 master">
    <p:spTree>
      <p:nvGrpSpPr>
        <p:cNvPr id="58" name="Shape 58"/>
        <p:cNvGrpSpPr/>
        <p:nvPr/>
      </p:nvGrpSpPr>
      <p:grpSpPr>
        <a:xfrm>
          <a:off x="0" y="0"/>
          <a:ext cx="0" cy="0"/>
          <a:chOff x="0" y="0"/>
          <a:chExt cx="0" cy="0"/>
        </a:xfrm>
      </p:grpSpPr>
      <p:pic>
        <p:nvPicPr>
          <p:cNvPr descr="preencoded.png" id="59" name="Google Shape;59;p14"/>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60" name="Google Shape;60;p14"/>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1" name="Google Shape;61;p14">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4 master">
  <p:cSld name="Slide 14 master">
    <p:spTree>
      <p:nvGrpSpPr>
        <p:cNvPr id="62" name="Shape 62"/>
        <p:cNvGrpSpPr/>
        <p:nvPr/>
      </p:nvGrpSpPr>
      <p:grpSpPr>
        <a:xfrm>
          <a:off x="0" y="0"/>
          <a:ext cx="0" cy="0"/>
          <a:chOff x="0" y="0"/>
          <a:chExt cx="0" cy="0"/>
        </a:xfrm>
      </p:grpSpPr>
      <p:pic>
        <p:nvPicPr>
          <p:cNvPr descr="preencoded.png" id="63" name="Google Shape;63;p15"/>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64" name="Google Shape;64;p15"/>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5" name="Google Shape;65;p15">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5 master">
  <p:cSld name="Slide 15 master">
    <p:spTree>
      <p:nvGrpSpPr>
        <p:cNvPr id="66" name="Shape 66"/>
        <p:cNvGrpSpPr/>
        <p:nvPr/>
      </p:nvGrpSpPr>
      <p:grpSpPr>
        <a:xfrm>
          <a:off x="0" y="0"/>
          <a:ext cx="0" cy="0"/>
          <a:chOff x="0" y="0"/>
          <a:chExt cx="0" cy="0"/>
        </a:xfrm>
      </p:grpSpPr>
      <p:pic>
        <p:nvPicPr>
          <p:cNvPr descr="preencoded.png" id="67" name="Google Shape;67;p16"/>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68" name="Google Shape;68;p16"/>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9" name="Google Shape;69;p16">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6 master">
  <p:cSld name="Slide 16 master">
    <p:spTree>
      <p:nvGrpSpPr>
        <p:cNvPr id="70" name="Shape 70"/>
        <p:cNvGrpSpPr/>
        <p:nvPr/>
      </p:nvGrpSpPr>
      <p:grpSpPr>
        <a:xfrm>
          <a:off x="0" y="0"/>
          <a:ext cx="0" cy="0"/>
          <a:chOff x="0" y="0"/>
          <a:chExt cx="0" cy="0"/>
        </a:xfrm>
      </p:grpSpPr>
      <p:pic>
        <p:nvPicPr>
          <p:cNvPr descr="preencoded.png" id="71" name="Google Shape;71;p17"/>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72" name="Google Shape;72;p17"/>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3" name="Google Shape;73;p17">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7 master">
  <p:cSld name="Slide 17 master">
    <p:spTree>
      <p:nvGrpSpPr>
        <p:cNvPr id="74" name="Shape 74"/>
        <p:cNvGrpSpPr/>
        <p:nvPr/>
      </p:nvGrpSpPr>
      <p:grpSpPr>
        <a:xfrm>
          <a:off x="0" y="0"/>
          <a:ext cx="0" cy="0"/>
          <a:chOff x="0" y="0"/>
          <a:chExt cx="0" cy="0"/>
        </a:xfrm>
      </p:grpSpPr>
      <p:pic>
        <p:nvPicPr>
          <p:cNvPr descr="preencoded.png" id="75" name="Google Shape;75;p18"/>
          <p:cNvPicPr preferRelativeResize="0"/>
          <p:nvPr/>
        </p:nvPicPr>
        <p:blipFill rotWithShape="1">
          <a:blip r:embed="rId2">
            <a:alphaModFix/>
          </a:blip>
          <a:srcRect b="0" l="0" r="0" t="0"/>
          <a:stretch/>
        </p:blipFill>
        <p:spPr>
          <a:xfrm>
            <a:off x="0" y="0"/>
            <a:ext cx="14630400" cy="8229600"/>
          </a:xfrm>
          <a:prstGeom prst="rect">
            <a:avLst/>
          </a:prstGeom>
          <a:noFill/>
          <a:ln>
            <a:noFill/>
          </a:ln>
        </p:spPr>
      </p:pic>
      <p:sp>
        <p:nvSpPr>
          <p:cNvPr id="76" name="Google Shape;76;p18"/>
          <p:cNvSpPr/>
          <p:nvPr/>
        </p:nvSpPr>
        <p:spPr>
          <a:xfrm>
            <a:off x="0" y="0"/>
            <a:ext cx="14630400" cy="8229600"/>
          </a:xfrm>
          <a:prstGeom prst="rect">
            <a:avLst/>
          </a:prstGeom>
          <a:solidFill>
            <a:srgbClr val="2A2A2D">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7" name="Google Shape;77;p18">
            <a:hlinkClick r:id="rId3"/>
          </p:cNvPr>
          <p:cNvPicPr preferRelativeResize="0"/>
          <p:nvPr/>
        </p:nvPicPr>
        <p:blipFill rotWithShape="1">
          <a:blip r:embed="rId4">
            <a:alphaModFix/>
          </a:blip>
          <a:srcRect b="0" l="0" r="0" t="0"/>
          <a:stretch/>
        </p:blipFill>
        <p:spPr>
          <a:xfrm>
            <a:off x="12839215" y="7749540"/>
            <a:ext cx="1722605" cy="41148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78" name="Shape 7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theme" Target="../theme/theme1.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22.png"/><Relationship Id="rId5" Type="http://schemas.openxmlformats.org/officeDocument/2006/relationships/image" Target="../media/image2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7.xml"/><Relationship Id="rId3"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 Id="rId3" Type="http://schemas.openxmlformats.org/officeDocument/2006/relationships/hyperlink" Target="https://docs.google.com/document/d/1DgbcrieuO4TGqAlZXvQbjmF_Bj_VGgocjmmAFNB7SVY/edit"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20"/>
          <p:cNvSpPr/>
          <p:nvPr/>
        </p:nvSpPr>
        <p:spPr>
          <a:xfrm>
            <a:off x="793790" y="3003828"/>
            <a:ext cx="11133773"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CBCCCE"/>
              </a:buClr>
              <a:buSzPts val="4450"/>
              <a:buFont typeface="Instrument Sans"/>
              <a:buNone/>
            </a:pPr>
            <a:r>
              <a:rPr b="0" i="0" lang="en-US" sz="4450" u="none" cap="none" strike="noStrike">
                <a:solidFill>
                  <a:srgbClr val="CBCCCE"/>
                </a:solidFill>
                <a:latin typeface="Instrument Sans"/>
                <a:ea typeface="Instrument Sans"/>
                <a:cs typeface="Instrument Sans"/>
                <a:sym typeface="Instrument Sans"/>
              </a:rPr>
              <a:t>Mastering SQL Window Functions &amp; CTEs</a:t>
            </a:r>
            <a:endParaRPr b="0" i="0" sz="4450" u="none" cap="none" strike="noStrike"/>
          </a:p>
        </p:txBody>
      </p:sp>
      <p:sp>
        <p:nvSpPr>
          <p:cNvPr id="85" name="Google Shape;85;p20"/>
          <p:cNvSpPr/>
          <p:nvPr/>
        </p:nvSpPr>
        <p:spPr>
          <a:xfrm>
            <a:off x="793790" y="4166235"/>
            <a:ext cx="130428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t/>
            </a:r>
            <a:endParaRPr b="0" i="0" sz="175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21"/>
          <p:cNvSpPr/>
          <p:nvPr/>
        </p:nvSpPr>
        <p:spPr>
          <a:xfrm>
            <a:off x="793790" y="2075021"/>
            <a:ext cx="10456188"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CBCCCE"/>
              </a:buClr>
              <a:buSzPts val="4450"/>
              <a:buFont typeface="Instrument Sans"/>
              <a:buNone/>
            </a:pPr>
            <a:r>
              <a:rPr b="0" i="0" lang="en-US" sz="4450" u="none" cap="none" strike="noStrike">
                <a:solidFill>
                  <a:srgbClr val="CBCCCE"/>
                </a:solidFill>
                <a:latin typeface="Instrument Sans"/>
                <a:ea typeface="Instrument Sans"/>
                <a:cs typeface="Instrument Sans"/>
                <a:sym typeface="Instrument Sans"/>
              </a:rPr>
              <a:t>Window Functions: The Game Changer</a:t>
            </a:r>
            <a:endParaRPr b="0" i="0" sz="4450" u="none" cap="none" strike="noStrike"/>
          </a:p>
        </p:txBody>
      </p:sp>
      <p:sp>
        <p:nvSpPr>
          <p:cNvPr id="92" name="Google Shape;92;p21"/>
          <p:cNvSpPr/>
          <p:nvPr/>
        </p:nvSpPr>
        <p:spPr>
          <a:xfrm>
            <a:off x="630436" y="3123962"/>
            <a:ext cx="6571417" cy="3030617"/>
          </a:xfrm>
          <a:prstGeom prst="roundRect">
            <a:avLst>
              <a:gd fmla="val 5389" name="adj"/>
            </a:avLst>
          </a:prstGeom>
          <a:solidFill>
            <a:srgbClr val="D5D5D8">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1"/>
          <p:cNvSpPr/>
          <p:nvPr/>
        </p:nvSpPr>
        <p:spPr>
          <a:xfrm>
            <a:off x="857250" y="3350776"/>
            <a:ext cx="3704511"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2200"/>
              <a:buFont typeface="Instrument Sans SemiBold"/>
              <a:buNone/>
            </a:pPr>
            <a:r>
              <a:rPr b="1" i="0" lang="en-US" sz="2200" u="none" cap="none" strike="noStrike">
                <a:solidFill>
                  <a:srgbClr val="000000"/>
                </a:solidFill>
                <a:latin typeface="Instrument Sans SemiBold"/>
                <a:ea typeface="Instrument Sans SemiBold"/>
                <a:cs typeface="Instrument Sans SemiBold"/>
                <a:sym typeface="Instrument Sans SemiBold"/>
              </a:rPr>
              <a:t>What Makes Them Special?</a:t>
            </a:r>
            <a:endParaRPr b="0" i="0" sz="2200" u="none" cap="none" strike="noStrike"/>
          </a:p>
        </p:txBody>
      </p:sp>
      <p:sp>
        <p:nvSpPr>
          <p:cNvPr id="94" name="Google Shape;94;p21"/>
          <p:cNvSpPr/>
          <p:nvPr/>
        </p:nvSpPr>
        <p:spPr>
          <a:xfrm>
            <a:off x="857250" y="3931920"/>
            <a:ext cx="6117788" cy="108870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000000"/>
              </a:buClr>
              <a:buSzPts val="1750"/>
              <a:buFont typeface="Instrument Sans Medium"/>
              <a:buNone/>
            </a:pPr>
            <a:r>
              <a:rPr b="0" i="0" lang="en-US" sz="1750" u="none" cap="none" strike="noStrike">
                <a:solidFill>
                  <a:srgbClr val="000000"/>
                </a:solidFill>
                <a:latin typeface="Instrument Sans Medium"/>
                <a:ea typeface="Instrument Sans Medium"/>
                <a:cs typeface="Instrument Sans Medium"/>
                <a:sym typeface="Instrument Sans Medium"/>
              </a:rPr>
              <a:t>Window functions perform calculations across a set of rows related to the current row—without collapsing them into groups.</a:t>
            </a:r>
            <a:endParaRPr b="0" i="0" sz="1750" u="none" cap="none" strike="noStrike"/>
          </a:p>
        </p:txBody>
      </p:sp>
      <p:sp>
        <p:nvSpPr>
          <p:cNvPr id="95" name="Google Shape;95;p21"/>
          <p:cNvSpPr/>
          <p:nvPr/>
        </p:nvSpPr>
        <p:spPr>
          <a:xfrm>
            <a:off x="857250" y="5224701"/>
            <a:ext cx="6117788"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000000"/>
              </a:buClr>
              <a:buSzPts val="1750"/>
              <a:buFont typeface="Instrument Sans Medium"/>
              <a:buNone/>
            </a:pPr>
            <a:r>
              <a:rPr b="1" i="0" lang="en-US" sz="1750" u="none" cap="none" strike="noStrike">
                <a:solidFill>
                  <a:srgbClr val="000000"/>
                </a:solidFill>
                <a:latin typeface="Instrument Sans Medium"/>
                <a:ea typeface="Instrument Sans Medium"/>
                <a:cs typeface="Instrument Sans Medium"/>
                <a:sym typeface="Instrument Sans Medium"/>
              </a:rPr>
              <a:t>Key difference:</a:t>
            </a:r>
            <a:r>
              <a:rPr b="0" i="0" lang="en-US" sz="1750" u="none" cap="none" strike="noStrike">
                <a:solidFill>
                  <a:srgbClr val="000000"/>
                </a:solidFill>
                <a:latin typeface="Instrument Sans Medium"/>
                <a:ea typeface="Instrument Sans Medium"/>
                <a:cs typeface="Instrument Sans Medium"/>
                <a:sym typeface="Instrument Sans Medium"/>
              </a:rPr>
              <a:t> Unlike GROUP BY, window functions preserve individual rows while adding calculated columns.</a:t>
            </a:r>
            <a:endParaRPr b="0" i="0" sz="1750" u="none" cap="none" strike="noStrike"/>
          </a:p>
        </p:txBody>
      </p:sp>
      <p:sp>
        <p:nvSpPr>
          <p:cNvPr id="96" name="Google Shape;96;p21"/>
          <p:cNvSpPr/>
          <p:nvPr/>
        </p:nvSpPr>
        <p:spPr>
          <a:xfrm>
            <a:off x="7599521" y="3350776"/>
            <a:ext cx="4263866"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2200"/>
              <a:buFont typeface="Instrument Sans"/>
              <a:buNone/>
            </a:pPr>
            <a:r>
              <a:rPr b="0" i="0" lang="en-US" sz="2200" u="none" cap="none" strike="noStrike">
                <a:solidFill>
                  <a:srgbClr val="CBCCCE"/>
                </a:solidFill>
                <a:latin typeface="Instrument Sans"/>
                <a:ea typeface="Instrument Sans"/>
                <a:cs typeface="Instrument Sans"/>
                <a:sym typeface="Instrument Sans"/>
              </a:rPr>
              <a:t>When to Use Window Functions</a:t>
            </a:r>
            <a:endParaRPr b="0" i="0" sz="2200" u="none" cap="none" strike="noStrike"/>
          </a:p>
        </p:txBody>
      </p:sp>
      <p:sp>
        <p:nvSpPr>
          <p:cNvPr id="97" name="Google Shape;97;p21"/>
          <p:cNvSpPr/>
          <p:nvPr/>
        </p:nvSpPr>
        <p:spPr>
          <a:xfrm>
            <a:off x="7599521" y="3931920"/>
            <a:ext cx="6244709" cy="1814623"/>
          </a:xfrm>
          <a:prstGeom prst="rect">
            <a:avLst/>
          </a:prstGeom>
          <a:noFill/>
          <a:ln>
            <a:noFill/>
          </a:ln>
        </p:spPr>
        <p:txBody>
          <a:bodyPr anchorCtr="0" anchor="t" bIns="0" lIns="0" spcFirstLastPara="1" rIns="0" wrap="square" tIns="0">
            <a:noAutofit/>
          </a:bodyPr>
          <a:lstStyle/>
          <a:p>
            <a:pPr indent="-342900" lvl="0" marL="342900" marR="0" rtl="0" algn="l">
              <a:lnSpc>
                <a:spcPct val="162857"/>
              </a:lnSpc>
              <a:spcBef>
                <a:spcPts val="0"/>
              </a:spcBef>
              <a:spcAft>
                <a:spcPts val="0"/>
              </a:spcAft>
              <a:buClr>
                <a:srgbClr val="CFD0D8"/>
              </a:buClr>
              <a:buSzPts val="1750"/>
              <a:buFont typeface="Instrument Sans"/>
              <a:buChar char="•"/>
            </a:pPr>
            <a:r>
              <a:rPr b="0" i="0" lang="en-US" sz="1750" u="none" cap="none" strike="noStrike">
                <a:solidFill>
                  <a:srgbClr val="CFD0D8"/>
                </a:solidFill>
                <a:latin typeface="Instrument Sans"/>
                <a:ea typeface="Instrument Sans"/>
                <a:cs typeface="Instrument Sans"/>
                <a:sym typeface="Instrument Sans"/>
              </a:rPr>
              <a:t>Ranking products by sales within categories</a:t>
            </a:r>
            <a:endParaRPr b="0" i="0" sz="1750" u="none" cap="none" strike="noStrike"/>
          </a:p>
          <a:p>
            <a:pPr indent="-342900" lvl="0" marL="342900" marR="0" rtl="0" algn="l">
              <a:lnSpc>
                <a:spcPct val="162857"/>
              </a:lnSpc>
              <a:spcBef>
                <a:spcPts val="0"/>
              </a:spcBef>
              <a:spcAft>
                <a:spcPts val="0"/>
              </a:spcAft>
              <a:buClr>
                <a:srgbClr val="CFD0D8"/>
              </a:buClr>
              <a:buSzPts val="1750"/>
              <a:buFont typeface="Instrument Sans"/>
              <a:buChar char="•"/>
            </a:pPr>
            <a:r>
              <a:rPr b="0" i="0" lang="en-US" sz="1750" u="none" cap="none" strike="noStrike">
                <a:solidFill>
                  <a:srgbClr val="CFD0D8"/>
                </a:solidFill>
                <a:latin typeface="Instrument Sans"/>
                <a:ea typeface="Instrument Sans"/>
                <a:cs typeface="Instrument Sans"/>
                <a:sym typeface="Instrument Sans"/>
              </a:rPr>
              <a:t>Calculating running totals and moving averages</a:t>
            </a:r>
            <a:endParaRPr b="0" i="0" sz="1750" u="none" cap="none" strike="noStrike"/>
          </a:p>
          <a:p>
            <a:pPr indent="-342900" lvl="0" marL="342900" marR="0" rtl="0" algn="l">
              <a:lnSpc>
                <a:spcPct val="162857"/>
              </a:lnSpc>
              <a:spcBef>
                <a:spcPts val="0"/>
              </a:spcBef>
              <a:spcAft>
                <a:spcPts val="0"/>
              </a:spcAft>
              <a:buClr>
                <a:srgbClr val="CFD0D8"/>
              </a:buClr>
              <a:buSzPts val="1750"/>
              <a:buFont typeface="Instrument Sans"/>
              <a:buChar char="•"/>
            </a:pPr>
            <a:r>
              <a:rPr b="0" i="0" lang="en-US" sz="1750" u="none" cap="none" strike="noStrike">
                <a:solidFill>
                  <a:srgbClr val="CFD0D8"/>
                </a:solidFill>
                <a:latin typeface="Instrument Sans"/>
                <a:ea typeface="Instrument Sans"/>
                <a:cs typeface="Instrument Sans"/>
                <a:sym typeface="Instrument Sans"/>
              </a:rPr>
              <a:t>Comparing current vs. previous period values</a:t>
            </a:r>
            <a:endParaRPr b="0" i="0" sz="1750" u="none" cap="none" strike="noStrike"/>
          </a:p>
          <a:p>
            <a:pPr indent="-342900" lvl="0" marL="342900" marR="0" rtl="0" algn="l">
              <a:lnSpc>
                <a:spcPct val="162857"/>
              </a:lnSpc>
              <a:spcBef>
                <a:spcPts val="0"/>
              </a:spcBef>
              <a:spcAft>
                <a:spcPts val="0"/>
              </a:spcAft>
              <a:buClr>
                <a:srgbClr val="CFD0D8"/>
              </a:buClr>
              <a:buSzPts val="1750"/>
              <a:buFont typeface="Instrument Sans"/>
              <a:buChar char="•"/>
            </a:pPr>
            <a:r>
              <a:rPr b="0" i="0" lang="en-US" sz="1750" u="none" cap="none" strike="noStrike">
                <a:solidFill>
                  <a:srgbClr val="CFD0D8"/>
                </a:solidFill>
                <a:latin typeface="Instrument Sans"/>
                <a:ea typeface="Instrument Sans"/>
                <a:cs typeface="Instrument Sans"/>
                <a:sym typeface="Instrument Sans"/>
              </a:rPr>
              <a:t>Finding top N items per group</a:t>
            </a:r>
            <a:endParaRPr b="0" i="0" sz="1750" u="none" cap="none" strike="noStrike"/>
          </a:p>
          <a:p>
            <a:pPr indent="-342900" lvl="0" marL="342900" marR="0" rtl="0" algn="l">
              <a:lnSpc>
                <a:spcPct val="162857"/>
              </a:lnSpc>
              <a:spcBef>
                <a:spcPts val="0"/>
              </a:spcBef>
              <a:spcAft>
                <a:spcPts val="0"/>
              </a:spcAft>
              <a:buClr>
                <a:srgbClr val="CFD0D8"/>
              </a:buClr>
              <a:buSzPts val="1750"/>
              <a:buFont typeface="Instrument Sans"/>
              <a:buChar char="•"/>
            </a:pPr>
            <a:r>
              <a:rPr b="0" i="0" lang="en-US" sz="1750" u="none" cap="none" strike="noStrike">
                <a:solidFill>
                  <a:srgbClr val="CFD0D8"/>
                </a:solidFill>
                <a:latin typeface="Instrument Sans"/>
                <a:ea typeface="Instrument Sans"/>
                <a:cs typeface="Instrument Sans"/>
                <a:sym typeface="Instrument Sans"/>
              </a:rPr>
              <a:t>Analyzing time-series data with context</a:t>
            </a:r>
            <a:endParaRPr b="0" i="0" sz="17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2"/>
          <p:cNvSpPr/>
          <p:nvPr/>
        </p:nvSpPr>
        <p:spPr>
          <a:xfrm>
            <a:off x="1573649" y="603290"/>
            <a:ext cx="4702612" cy="519946"/>
          </a:xfrm>
          <a:prstGeom prst="rect">
            <a:avLst/>
          </a:prstGeom>
          <a:noFill/>
          <a:ln>
            <a:noFill/>
          </a:ln>
        </p:spPr>
        <p:txBody>
          <a:bodyPr anchorCtr="0" anchor="t" bIns="0" lIns="0" spcFirstLastPara="1" rIns="0" wrap="square" tIns="0">
            <a:noAutofit/>
          </a:bodyPr>
          <a:lstStyle/>
          <a:p>
            <a:pPr indent="0" lvl="0" marL="0" marR="0" rtl="0" algn="l">
              <a:lnSpc>
                <a:spcPct val="124615"/>
              </a:lnSpc>
              <a:spcBef>
                <a:spcPts val="0"/>
              </a:spcBef>
              <a:spcAft>
                <a:spcPts val="0"/>
              </a:spcAft>
              <a:buClr>
                <a:srgbClr val="CBCCCE"/>
              </a:buClr>
              <a:buSzPts val="3250"/>
              <a:buFont typeface="Instrument Sans"/>
              <a:buNone/>
            </a:pPr>
            <a:r>
              <a:rPr b="0" i="0" lang="en-US" sz="3250" u="none" cap="none" strike="noStrike">
                <a:solidFill>
                  <a:srgbClr val="CBCCCE"/>
                </a:solidFill>
                <a:latin typeface="Instrument Sans"/>
                <a:ea typeface="Instrument Sans"/>
                <a:cs typeface="Instrument Sans"/>
                <a:sym typeface="Instrument Sans"/>
              </a:rPr>
              <a:t>Core Window Functions</a:t>
            </a:r>
            <a:endParaRPr b="0" i="0" sz="3250" u="none" cap="none" strike="noStrike"/>
          </a:p>
        </p:txBody>
      </p:sp>
      <p:sp>
        <p:nvSpPr>
          <p:cNvPr id="104" name="Google Shape;104;p22"/>
          <p:cNvSpPr/>
          <p:nvPr/>
        </p:nvSpPr>
        <p:spPr>
          <a:xfrm>
            <a:off x="1573649" y="3118604"/>
            <a:ext cx="2080260" cy="25991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1600"/>
              <a:buFont typeface="Instrument Sans"/>
              <a:buNone/>
            </a:pPr>
            <a:r>
              <a:rPr b="0" i="0" lang="en-US" sz="1600" u="none" cap="none" strike="noStrike">
                <a:solidFill>
                  <a:srgbClr val="CFD0D8"/>
                </a:solidFill>
                <a:latin typeface="Instrument Sans"/>
                <a:ea typeface="Instrument Sans"/>
                <a:cs typeface="Instrument Sans"/>
                <a:sym typeface="Instrument Sans"/>
              </a:rPr>
              <a:t>ROW_NUMBER()</a:t>
            </a:r>
            <a:endParaRPr b="0" i="0" sz="1600" u="none" cap="none" strike="noStrike"/>
          </a:p>
        </p:txBody>
      </p:sp>
      <p:sp>
        <p:nvSpPr>
          <p:cNvPr id="105" name="Google Shape;105;p22"/>
          <p:cNvSpPr/>
          <p:nvPr/>
        </p:nvSpPr>
        <p:spPr>
          <a:xfrm>
            <a:off x="1573649" y="3451741"/>
            <a:ext cx="2756297" cy="922973"/>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CFD0D8"/>
              </a:buClr>
              <a:buSzPts val="1300"/>
              <a:buFont typeface="Instrument Sans"/>
              <a:buNone/>
            </a:pPr>
            <a:r>
              <a:rPr b="0" i="0" lang="en-US" sz="1300" u="none" cap="none" strike="noStrike">
                <a:solidFill>
                  <a:srgbClr val="CFD0D8"/>
                </a:solidFill>
                <a:latin typeface="Instrument Sans"/>
                <a:ea typeface="Instrument Sans"/>
                <a:cs typeface="Instrument Sans"/>
                <a:sym typeface="Instrument Sans"/>
              </a:rPr>
              <a:t>Assigns a unique sequential number to each row within a partition. Perfect for pagination and eliminating duplicates.</a:t>
            </a:r>
            <a:endParaRPr b="0" i="0" sz="1300" u="none" cap="none" strike="noStrike"/>
          </a:p>
        </p:txBody>
      </p:sp>
      <p:sp>
        <p:nvSpPr>
          <p:cNvPr id="106" name="Google Shape;106;p22"/>
          <p:cNvSpPr/>
          <p:nvPr/>
        </p:nvSpPr>
        <p:spPr>
          <a:xfrm>
            <a:off x="4482465" y="3118604"/>
            <a:ext cx="2080260" cy="25991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1600"/>
              <a:buFont typeface="Instrument Sans"/>
              <a:buNone/>
            </a:pPr>
            <a:r>
              <a:rPr b="0" i="0" lang="en-US" sz="1600" u="none" cap="none" strike="noStrike">
                <a:solidFill>
                  <a:srgbClr val="CFD0D8"/>
                </a:solidFill>
                <a:latin typeface="Instrument Sans"/>
                <a:ea typeface="Instrument Sans"/>
                <a:cs typeface="Instrument Sans"/>
                <a:sym typeface="Instrument Sans"/>
              </a:rPr>
              <a:t>RANK()</a:t>
            </a:r>
            <a:endParaRPr b="0" i="0" sz="1600" u="none" cap="none" strike="noStrike"/>
          </a:p>
        </p:txBody>
      </p:sp>
      <p:sp>
        <p:nvSpPr>
          <p:cNvPr id="107" name="Google Shape;107;p22"/>
          <p:cNvSpPr/>
          <p:nvPr/>
        </p:nvSpPr>
        <p:spPr>
          <a:xfrm>
            <a:off x="4482465" y="3451741"/>
            <a:ext cx="2756416" cy="692229"/>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CFD0D8"/>
              </a:buClr>
              <a:buSzPts val="1300"/>
              <a:buFont typeface="Instrument Sans"/>
              <a:buNone/>
            </a:pPr>
            <a:r>
              <a:rPr b="0" i="0" lang="en-US" sz="1300" u="none" cap="none" strike="noStrike">
                <a:solidFill>
                  <a:srgbClr val="CFD0D8"/>
                </a:solidFill>
                <a:latin typeface="Instrument Sans"/>
                <a:ea typeface="Instrument Sans"/>
                <a:cs typeface="Instrument Sans"/>
                <a:sym typeface="Instrument Sans"/>
              </a:rPr>
              <a:t>Ranks rows with gaps when ties occur. If two rows tie for rank 2, the next rank is 4.</a:t>
            </a:r>
            <a:endParaRPr b="0" i="0" sz="1300" u="none" cap="none" strike="noStrike"/>
          </a:p>
        </p:txBody>
      </p:sp>
      <p:sp>
        <p:nvSpPr>
          <p:cNvPr id="108" name="Google Shape;108;p22"/>
          <p:cNvSpPr/>
          <p:nvPr/>
        </p:nvSpPr>
        <p:spPr>
          <a:xfrm>
            <a:off x="7391400" y="3118604"/>
            <a:ext cx="2080260" cy="25991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1600"/>
              <a:buFont typeface="Instrument Sans"/>
              <a:buNone/>
            </a:pPr>
            <a:r>
              <a:rPr b="0" i="0" lang="en-US" sz="1600" u="none" cap="none" strike="noStrike">
                <a:solidFill>
                  <a:srgbClr val="CFD0D8"/>
                </a:solidFill>
                <a:latin typeface="Instrument Sans"/>
                <a:ea typeface="Instrument Sans"/>
                <a:cs typeface="Instrument Sans"/>
                <a:sym typeface="Instrument Sans"/>
              </a:rPr>
              <a:t>DENSE_RANK()</a:t>
            </a:r>
            <a:endParaRPr b="0" i="0" sz="1600" u="none" cap="none" strike="noStrike"/>
          </a:p>
        </p:txBody>
      </p:sp>
      <p:sp>
        <p:nvSpPr>
          <p:cNvPr id="109" name="Google Shape;109;p22"/>
          <p:cNvSpPr/>
          <p:nvPr/>
        </p:nvSpPr>
        <p:spPr>
          <a:xfrm>
            <a:off x="7391400" y="3451741"/>
            <a:ext cx="2756416" cy="692229"/>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CFD0D8"/>
              </a:buClr>
              <a:buSzPts val="1300"/>
              <a:buFont typeface="Instrument Sans"/>
              <a:buNone/>
            </a:pPr>
            <a:r>
              <a:rPr b="0" i="0" lang="en-US" sz="1300" u="none" cap="none" strike="noStrike">
                <a:solidFill>
                  <a:srgbClr val="CFD0D8"/>
                </a:solidFill>
                <a:latin typeface="Instrument Sans"/>
                <a:ea typeface="Instrument Sans"/>
                <a:cs typeface="Instrument Sans"/>
                <a:sym typeface="Instrument Sans"/>
              </a:rPr>
              <a:t>Ranks rows without gaps. If two rows tie for rank 2, the next rank is 3. Ideal for leaderboards.</a:t>
            </a:r>
            <a:endParaRPr b="0" i="0" sz="1300" u="none" cap="none" strike="noStrike"/>
          </a:p>
        </p:txBody>
      </p:sp>
      <p:sp>
        <p:nvSpPr>
          <p:cNvPr id="110" name="Google Shape;110;p22"/>
          <p:cNvSpPr/>
          <p:nvPr/>
        </p:nvSpPr>
        <p:spPr>
          <a:xfrm>
            <a:off x="10300335" y="3118604"/>
            <a:ext cx="2080260" cy="25991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1600"/>
              <a:buFont typeface="Instrument Sans"/>
              <a:buNone/>
            </a:pPr>
            <a:r>
              <a:rPr b="0" i="0" lang="en-US" sz="1600" u="none" cap="none" strike="noStrike">
                <a:solidFill>
                  <a:srgbClr val="CFD0D8"/>
                </a:solidFill>
                <a:latin typeface="Instrument Sans"/>
                <a:ea typeface="Instrument Sans"/>
                <a:cs typeface="Instrument Sans"/>
                <a:sym typeface="Instrument Sans"/>
              </a:rPr>
              <a:t>SUM() OVER()</a:t>
            </a:r>
            <a:endParaRPr b="0" i="0" sz="1600" u="none" cap="none" strike="noStrike"/>
          </a:p>
        </p:txBody>
      </p:sp>
      <p:sp>
        <p:nvSpPr>
          <p:cNvPr id="111" name="Google Shape;111;p22"/>
          <p:cNvSpPr/>
          <p:nvPr/>
        </p:nvSpPr>
        <p:spPr>
          <a:xfrm>
            <a:off x="10300335" y="3451741"/>
            <a:ext cx="2756416" cy="692229"/>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CFD0D8"/>
              </a:buClr>
              <a:buSzPts val="1300"/>
              <a:buFont typeface="Instrument Sans"/>
              <a:buNone/>
            </a:pPr>
            <a:r>
              <a:rPr b="0" i="0" lang="en-US" sz="1300" u="none" cap="none" strike="noStrike">
                <a:solidFill>
                  <a:srgbClr val="CFD0D8"/>
                </a:solidFill>
                <a:latin typeface="Instrument Sans"/>
                <a:ea typeface="Instrument Sans"/>
                <a:cs typeface="Instrument Sans"/>
                <a:sym typeface="Instrument Sans"/>
              </a:rPr>
              <a:t>Creates running totals. Track cumulative revenue, costs, or quantities as data progresses.</a:t>
            </a:r>
            <a:endParaRPr b="0" i="0" sz="1300" u="none" cap="none" strike="noStrike"/>
          </a:p>
        </p:txBody>
      </p:sp>
      <p:sp>
        <p:nvSpPr>
          <p:cNvPr id="112" name="Google Shape;112;p22"/>
          <p:cNvSpPr/>
          <p:nvPr/>
        </p:nvSpPr>
        <p:spPr>
          <a:xfrm>
            <a:off x="1573649" y="6370082"/>
            <a:ext cx="2080260" cy="25991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1600"/>
              <a:buFont typeface="Instrument Sans"/>
              <a:buNone/>
            </a:pPr>
            <a:r>
              <a:rPr b="0" i="0" lang="en-US" sz="1600" u="none" cap="none" strike="noStrike">
                <a:solidFill>
                  <a:srgbClr val="CFD0D8"/>
                </a:solidFill>
                <a:latin typeface="Instrument Sans"/>
                <a:ea typeface="Instrument Sans"/>
                <a:cs typeface="Instrument Sans"/>
                <a:sym typeface="Instrument Sans"/>
              </a:rPr>
              <a:t>AVG() OVER()</a:t>
            </a:r>
            <a:endParaRPr b="0" i="0" sz="1600" u="none" cap="none" strike="noStrike"/>
          </a:p>
        </p:txBody>
      </p:sp>
      <p:sp>
        <p:nvSpPr>
          <p:cNvPr id="113" name="Google Shape;113;p22"/>
          <p:cNvSpPr/>
          <p:nvPr/>
        </p:nvSpPr>
        <p:spPr>
          <a:xfrm>
            <a:off x="1573649" y="6703219"/>
            <a:ext cx="2756297" cy="692229"/>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CFD0D8"/>
              </a:buClr>
              <a:buSzPts val="1300"/>
              <a:buFont typeface="Instrument Sans"/>
              <a:buNone/>
            </a:pPr>
            <a:r>
              <a:rPr b="0" i="0" lang="en-US" sz="1300" u="none" cap="none" strike="noStrike">
                <a:solidFill>
                  <a:srgbClr val="CFD0D8"/>
                </a:solidFill>
                <a:latin typeface="Instrument Sans"/>
                <a:ea typeface="Instrument Sans"/>
                <a:cs typeface="Instrument Sans"/>
                <a:sym typeface="Instrument Sans"/>
              </a:rPr>
              <a:t>Calculates moving averages. Smooth out volatility in time-series data for clearer trends.</a:t>
            </a:r>
            <a:endParaRPr b="0" i="0" sz="1300" u="none" cap="none" strike="noStrike"/>
          </a:p>
        </p:txBody>
      </p:sp>
      <p:sp>
        <p:nvSpPr>
          <p:cNvPr id="114" name="Google Shape;114;p22"/>
          <p:cNvSpPr/>
          <p:nvPr/>
        </p:nvSpPr>
        <p:spPr>
          <a:xfrm>
            <a:off x="4482465" y="6370082"/>
            <a:ext cx="2080260" cy="25991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1600"/>
              <a:buFont typeface="Instrument Sans"/>
              <a:buNone/>
            </a:pPr>
            <a:r>
              <a:rPr b="0" i="0" lang="en-US" sz="1600" u="none" cap="none" strike="noStrike">
                <a:solidFill>
                  <a:srgbClr val="CFD0D8"/>
                </a:solidFill>
                <a:latin typeface="Instrument Sans"/>
                <a:ea typeface="Instrument Sans"/>
                <a:cs typeface="Instrument Sans"/>
                <a:sym typeface="Instrument Sans"/>
              </a:rPr>
              <a:t>LAG()</a:t>
            </a:r>
            <a:endParaRPr b="0" i="0" sz="1600" u="none" cap="none" strike="noStrike"/>
          </a:p>
        </p:txBody>
      </p:sp>
      <p:sp>
        <p:nvSpPr>
          <p:cNvPr id="115" name="Google Shape;115;p22"/>
          <p:cNvSpPr/>
          <p:nvPr/>
        </p:nvSpPr>
        <p:spPr>
          <a:xfrm>
            <a:off x="4482465" y="6703219"/>
            <a:ext cx="2756416" cy="922973"/>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CFD0D8"/>
              </a:buClr>
              <a:buSzPts val="1300"/>
              <a:buFont typeface="Instrument Sans"/>
              <a:buNone/>
            </a:pPr>
            <a:r>
              <a:rPr b="0" i="0" lang="en-US" sz="1300" u="none" cap="none" strike="noStrike">
                <a:solidFill>
                  <a:srgbClr val="CFD0D8"/>
                </a:solidFill>
                <a:latin typeface="Instrument Sans"/>
                <a:ea typeface="Instrument Sans"/>
                <a:cs typeface="Instrument Sans"/>
                <a:sym typeface="Instrument Sans"/>
              </a:rPr>
              <a:t>Access values from previous rows. Compare current sales to last month or calculate period-over-period changes.</a:t>
            </a:r>
            <a:endParaRPr b="0" i="0" sz="1300" u="none" cap="none" strike="noStrike"/>
          </a:p>
        </p:txBody>
      </p:sp>
      <p:sp>
        <p:nvSpPr>
          <p:cNvPr id="116" name="Google Shape;116;p22"/>
          <p:cNvSpPr/>
          <p:nvPr/>
        </p:nvSpPr>
        <p:spPr>
          <a:xfrm>
            <a:off x="7391400" y="6370082"/>
            <a:ext cx="2080260" cy="25991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1600"/>
              <a:buFont typeface="Instrument Sans"/>
              <a:buNone/>
            </a:pPr>
            <a:r>
              <a:rPr b="0" i="0" lang="en-US" sz="1600" u="none" cap="none" strike="noStrike">
                <a:solidFill>
                  <a:srgbClr val="CFD0D8"/>
                </a:solidFill>
                <a:latin typeface="Instrument Sans"/>
                <a:ea typeface="Instrument Sans"/>
                <a:cs typeface="Instrument Sans"/>
                <a:sym typeface="Instrument Sans"/>
              </a:rPr>
              <a:t>LEAD()</a:t>
            </a:r>
            <a:endParaRPr b="0" i="0" sz="1600" u="none" cap="none" strike="noStrike"/>
          </a:p>
        </p:txBody>
      </p:sp>
      <p:sp>
        <p:nvSpPr>
          <p:cNvPr id="117" name="Google Shape;117;p22"/>
          <p:cNvSpPr/>
          <p:nvPr/>
        </p:nvSpPr>
        <p:spPr>
          <a:xfrm>
            <a:off x="7391400" y="6703219"/>
            <a:ext cx="2756416" cy="692229"/>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CFD0D8"/>
              </a:buClr>
              <a:buSzPts val="1300"/>
              <a:buFont typeface="Instrument Sans"/>
              <a:buNone/>
            </a:pPr>
            <a:r>
              <a:rPr b="0" i="0" lang="en-US" sz="1300" u="none" cap="none" strike="noStrike">
                <a:solidFill>
                  <a:srgbClr val="CFD0D8"/>
                </a:solidFill>
                <a:latin typeface="Instrument Sans"/>
                <a:ea typeface="Instrument Sans"/>
                <a:cs typeface="Instrument Sans"/>
                <a:sym typeface="Instrument Sans"/>
              </a:rPr>
              <a:t>Access values from following rows. Useful for forecasting and forward-looking analysis.</a:t>
            </a:r>
            <a:endParaRPr b="0" i="0" sz="130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3"/>
          <p:cNvSpPr/>
          <p:nvPr/>
        </p:nvSpPr>
        <p:spPr>
          <a:xfrm>
            <a:off x="722828" y="723662"/>
            <a:ext cx="11360229" cy="645438"/>
          </a:xfrm>
          <a:prstGeom prst="rect">
            <a:avLst/>
          </a:prstGeom>
          <a:noFill/>
          <a:ln>
            <a:noFill/>
          </a:ln>
        </p:spPr>
        <p:txBody>
          <a:bodyPr anchorCtr="0" anchor="t" bIns="0" lIns="0" spcFirstLastPara="1" rIns="0" wrap="square" tIns="0">
            <a:noAutofit/>
          </a:bodyPr>
          <a:lstStyle/>
          <a:p>
            <a:pPr indent="0" lvl="0" marL="0" marR="0" rtl="0" algn="l">
              <a:lnSpc>
                <a:spcPct val="124691"/>
              </a:lnSpc>
              <a:spcBef>
                <a:spcPts val="0"/>
              </a:spcBef>
              <a:spcAft>
                <a:spcPts val="0"/>
              </a:spcAft>
              <a:buClr>
                <a:srgbClr val="CBCCCE"/>
              </a:buClr>
              <a:buSzPts val="4050"/>
              <a:buFont typeface="Instrument Sans"/>
              <a:buNone/>
            </a:pPr>
            <a:r>
              <a:rPr b="0" i="0" lang="en-US" sz="4050" u="none" cap="none" strike="noStrike">
                <a:solidFill>
                  <a:srgbClr val="CBCCCE"/>
                </a:solidFill>
                <a:latin typeface="Instrument Sans"/>
                <a:ea typeface="Instrument Sans"/>
                <a:cs typeface="Instrument Sans"/>
                <a:sym typeface="Instrument Sans"/>
              </a:rPr>
              <a:t>ROW_NUMBER(): Assigning Unique Sequences</a:t>
            </a:r>
            <a:endParaRPr b="0" i="0" sz="4050" u="none" cap="none" strike="noStrike"/>
          </a:p>
        </p:txBody>
      </p:sp>
      <p:sp>
        <p:nvSpPr>
          <p:cNvPr id="124" name="Google Shape;124;p23"/>
          <p:cNvSpPr/>
          <p:nvPr/>
        </p:nvSpPr>
        <p:spPr>
          <a:xfrm>
            <a:off x="722828" y="1839158"/>
            <a:ext cx="3647361" cy="32277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2000"/>
              <a:buFont typeface="Instrument Sans"/>
              <a:buNone/>
            </a:pPr>
            <a:r>
              <a:rPr b="0" i="0" lang="en-US" sz="2000" u="none" cap="none" strike="noStrike">
                <a:solidFill>
                  <a:srgbClr val="CBCCCE"/>
                </a:solidFill>
                <a:latin typeface="Instrument Sans"/>
                <a:ea typeface="Instrument Sans"/>
                <a:cs typeface="Instrument Sans"/>
                <a:sym typeface="Instrument Sans"/>
              </a:rPr>
              <a:t>What it Does &amp; When to Use It</a:t>
            </a:r>
            <a:endParaRPr b="0" i="0" sz="2000" u="none" cap="none" strike="noStrike"/>
          </a:p>
        </p:txBody>
      </p:sp>
      <p:sp>
        <p:nvSpPr>
          <p:cNvPr id="125" name="Google Shape;125;p23"/>
          <p:cNvSpPr/>
          <p:nvPr/>
        </p:nvSpPr>
        <p:spPr>
          <a:xfrm>
            <a:off x="722828" y="2349937"/>
            <a:ext cx="6340435" cy="1285399"/>
          </a:xfrm>
          <a:prstGeom prst="rect">
            <a:avLst/>
          </a:prstGeom>
          <a:noFill/>
          <a:ln>
            <a:noFill/>
          </a:ln>
        </p:spPr>
        <p:txBody>
          <a:bodyPr anchorCtr="0" anchor="t" bIns="0" lIns="0" spcFirstLastPara="1" rIns="0" wrap="square" tIns="0">
            <a:noAutofit/>
          </a:bodyPr>
          <a:lstStyle/>
          <a:p>
            <a:pPr indent="0" lvl="0" marL="0" marR="0" rtl="0" algn="l">
              <a:lnSpc>
                <a:spcPct val="153125"/>
              </a:lnSpc>
              <a:spcBef>
                <a:spcPts val="0"/>
              </a:spcBef>
              <a:spcAft>
                <a:spcPts val="0"/>
              </a:spcAft>
              <a:buClr>
                <a:srgbClr val="CFD0D8"/>
              </a:buClr>
              <a:buSzPts val="1600"/>
              <a:buFont typeface="Consolas"/>
              <a:buNone/>
            </a:pPr>
            <a:r>
              <a:rPr b="0" i="0" lang="en-US" sz="1600" u="none" cap="none" strike="noStrike">
                <a:solidFill>
                  <a:srgbClr val="CFD0D8"/>
                </a:solidFill>
                <a:highlight>
                  <a:srgbClr val="37373A"/>
                </a:highlight>
                <a:latin typeface="Consolas"/>
                <a:ea typeface="Consolas"/>
                <a:cs typeface="Consolas"/>
                <a:sym typeface="Consolas"/>
              </a:rPr>
              <a:t>ROW_NUMBER()</a:t>
            </a:r>
            <a:r>
              <a:rPr b="0" i="0" lang="en-US" sz="1600" u="none" cap="none" strike="noStrike">
                <a:solidFill>
                  <a:srgbClr val="CFD0D8"/>
                </a:solidFill>
                <a:latin typeface="Instrument Sans"/>
                <a:ea typeface="Instrument Sans"/>
                <a:cs typeface="Instrument Sans"/>
                <a:sym typeface="Instrument Sans"/>
              </a:rPr>
              <a:t> assigns a unique, sequential integer to each row within a partition of a result set, starting from 1. Crucially, it does not assign the same number to tied rows, always providing distinct values.</a:t>
            </a:r>
            <a:endParaRPr b="0" i="0" sz="1600" u="none" cap="none" strike="noStrike"/>
          </a:p>
        </p:txBody>
      </p:sp>
      <p:sp>
        <p:nvSpPr>
          <p:cNvPr id="126" name="Google Shape;126;p23"/>
          <p:cNvSpPr/>
          <p:nvPr/>
        </p:nvSpPr>
        <p:spPr>
          <a:xfrm>
            <a:off x="722828" y="3804523"/>
            <a:ext cx="6340435" cy="1578593"/>
          </a:xfrm>
          <a:prstGeom prst="rect">
            <a:avLst/>
          </a:prstGeom>
          <a:noFill/>
          <a:ln>
            <a:noFill/>
          </a:ln>
        </p:spPr>
        <p:txBody>
          <a:bodyPr anchorCtr="0" anchor="t" bIns="0" lIns="0" spcFirstLastPara="1" rIns="0" wrap="square" tIns="0">
            <a:noAutofit/>
          </a:bodyPr>
          <a:lstStyle/>
          <a:p>
            <a:pPr indent="-342900" lvl="0" marL="342900" marR="0" rtl="0" algn="l">
              <a:lnSpc>
                <a:spcPct val="153125"/>
              </a:lnSpc>
              <a:spcBef>
                <a:spcPts val="0"/>
              </a:spcBef>
              <a:spcAft>
                <a:spcPts val="0"/>
              </a:spcAft>
              <a:buClr>
                <a:srgbClr val="CFD0D8"/>
              </a:buClr>
              <a:buSzPts val="1600"/>
              <a:buFont typeface="Instrument Sans"/>
              <a:buChar char="•"/>
            </a:pPr>
            <a:r>
              <a:rPr b="0" i="0" lang="en-US" sz="1600" u="none" cap="none" strike="noStrike">
                <a:solidFill>
                  <a:srgbClr val="CFD0D8"/>
                </a:solidFill>
                <a:latin typeface="Instrument Sans"/>
                <a:ea typeface="Instrument Sans"/>
                <a:cs typeface="Instrument Sans"/>
                <a:sym typeface="Instrument Sans"/>
              </a:rPr>
              <a:t>Identify the first or last occurrence of an event per group (e.g., first purchase by customer).</a:t>
            </a:r>
            <a:endParaRPr b="0" i="0" sz="1600" u="none" cap="none" strike="noStrike"/>
          </a:p>
          <a:p>
            <a:pPr indent="-342900" lvl="0" marL="342900" marR="0" rtl="0" algn="l">
              <a:lnSpc>
                <a:spcPct val="153125"/>
              </a:lnSpc>
              <a:spcBef>
                <a:spcPts val="0"/>
              </a:spcBef>
              <a:spcAft>
                <a:spcPts val="0"/>
              </a:spcAft>
              <a:buClr>
                <a:srgbClr val="CFD0D8"/>
              </a:buClr>
              <a:buSzPts val="1600"/>
              <a:buFont typeface="Instrument Sans"/>
              <a:buChar char="•"/>
            </a:pPr>
            <a:r>
              <a:rPr b="0" i="0" lang="en-US" sz="1600" u="none" cap="none" strike="noStrike">
                <a:solidFill>
                  <a:srgbClr val="CFD0D8"/>
                </a:solidFill>
                <a:latin typeface="Instrument Sans"/>
                <a:ea typeface="Instrument Sans"/>
                <a:cs typeface="Instrument Sans"/>
                <a:sym typeface="Instrument Sans"/>
              </a:rPr>
              <a:t>Implement pagination for large result sets.</a:t>
            </a:r>
            <a:endParaRPr b="0" i="0" sz="1600" u="none" cap="none" strike="noStrike"/>
          </a:p>
          <a:p>
            <a:pPr indent="-342900" lvl="0" marL="342900" marR="0" rtl="0" algn="l">
              <a:lnSpc>
                <a:spcPct val="153125"/>
              </a:lnSpc>
              <a:spcBef>
                <a:spcPts val="0"/>
              </a:spcBef>
              <a:spcAft>
                <a:spcPts val="0"/>
              </a:spcAft>
              <a:buClr>
                <a:srgbClr val="CFD0D8"/>
              </a:buClr>
              <a:buSzPts val="1600"/>
              <a:buFont typeface="Instrument Sans"/>
              <a:buChar char="•"/>
            </a:pPr>
            <a:r>
              <a:rPr b="0" i="0" lang="en-US" sz="1600" u="none" cap="none" strike="noStrike">
                <a:solidFill>
                  <a:srgbClr val="CFD0D8"/>
                </a:solidFill>
                <a:latin typeface="Instrument Sans"/>
                <a:ea typeface="Instrument Sans"/>
                <a:cs typeface="Instrument Sans"/>
                <a:sym typeface="Instrument Sans"/>
              </a:rPr>
              <a:t>Deduplicate data, keeping only the 'latest' or 'most relevant' record.</a:t>
            </a:r>
            <a:endParaRPr b="0" i="0" sz="1600" u="none" cap="none" strike="noStrike"/>
          </a:p>
        </p:txBody>
      </p:sp>
      <p:sp>
        <p:nvSpPr>
          <p:cNvPr id="127" name="Google Shape;127;p23"/>
          <p:cNvSpPr/>
          <p:nvPr/>
        </p:nvSpPr>
        <p:spPr>
          <a:xfrm>
            <a:off x="722828" y="5552304"/>
            <a:ext cx="6340435" cy="1308259"/>
          </a:xfrm>
          <a:prstGeom prst="rect">
            <a:avLst/>
          </a:prstGeom>
          <a:noFill/>
          <a:ln>
            <a:noFill/>
          </a:ln>
        </p:spPr>
        <p:txBody>
          <a:bodyPr anchorCtr="0" anchor="t" bIns="0" lIns="0" spcFirstLastPara="1" rIns="0" wrap="square" tIns="0">
            <a:noAutofit/>
          </a:bodyPr>
          <a:lstStyle/>
          <a:p>
            <a:pPr indent="0" lvl="0" marL="0" marR="0" rtl="0" algn="l">
              <a:lnSpc>
                <a:spcPct val="153125"/>
              </a:lnSpc>
              <a:spcBef>
                <a:spcPts val="0"/>
              </a:spcBef>
              <a:spcAft>
                <a:spcPts val="0"/>
              </a:spcAft>
              <a:buClr>
                <a:srgbClr val="CFD0D8"/>
              </a:buClr>
              <a:buSzPts val="1600"/>
              <a:buFont typeface="Instrument Sans"/>
              <a:buNone/>
            </a:pPr>
            <a:r>
              <a:rPr b="1" i="0" lang="en-US" sz="1600" u="none" cap="none" strike="noStrike">
                <a:solidFill>
                  <a:srgbClr val="CFD0D8"/>
                </a:solidFill>
                <a:latin typeface="Instrument Sans"/>
                <a:ea typeface="Instrument Sans"/>
                <a:cs typeface="Instrument Sans"/>
                <a:sym typeface="Instrument Sans"/>
              </a:rPr>
              <a:t>Key Difference:</a:t>
            </a:r>
            <a:r>
              <a:rPr b="0" i="0" lang="en-US" sz="1600" u="none" cap="none" strike="noStrike">
                <a:solidFill>
                  <a:srgbClr val="CFD0D8"/>
                </a:solidFill>
                <a:latin typeface="Instrument Sans"/>
                <a:ea typeface="Instrument Sans"/>
                <a:cs typeface="Instrument Sans"/>
                <a:sym typeface="Instrument Sans"/>
              </a:rPr>
              <a:t> Unlike </a:t>
            </a:r>
            <a:r>
              <a:rPr b="0" i="0" lang="en-US" sz="1600" u="none" cap="none" strike="noStrike">
                <a:solidFill>
                  <a:srgbClr val="CFD0D8"/>
                </a:solidFill>
                <a:highlight>
                  <a:srgbClr val="37373A"/>
                </a:highlight>
                <a:latin typeface="Consolas"/>
                <a:ea typeface="Consolas"/>
                <a:cs typeface="Consolas"/>
                <a:sym typeface="Consolas"/>
              </a:rPr>
              <a:t>RANK()</a:t>
            </a:r>
            <a:r>
              <a:rPr b="0" i="0" lang="en-US" sz="1600" u="none" cap="none" strike="noStrike">
                <a:solidFill>
                  <a:srgbClr val="CFD0D8"/>
                </a:solidFill>
                <a:latin typeface="Instrument Sans"/>
                <a:ea typeface="Instrument Sans"/>
                <a:cs typeface="Instrument Sans"/>
                <a:sym typeface="Instrument Sans"/>
              </a:rPr>
              <a:t> and </a:t>
            </a:r>
            <a:r>
              <a:rPr b="0" i="0" lang="en-US" sz="1600" u="none" cap="none" strike="noStrike">
                <a:solidFill>
                  <a:srgbClr val="CFD0D8"/>
                </a:solidFill>
                <a:highlight>
                  <a:srgbClr val="37373A"/>
                </a:highlight>
                <a:latin typeface="Consolas"/>
                <a:ea typeface="Consolas"/>
                <a:cs typeface="Consolas"/>
                <a:sym typeface="Consolas"/>
              </a:rPr>
              <a:t>DENSE_RANK()</a:t>
            </a:r>
            <a:r>
              <a:rPr b="0" i="0" lang="en-US" sz="1600" u="none" cap="none" strike="noStrike">
                <a:solidFill>
                  <a:srgbClr val="CFD0D8"/>
                </a:solidFill>
                <a:latin typeface="Instrument Sans"/>
                <a:ea typeface="Instrument Sans"/>
                <a:cs typeface="Instrument Sans"/>
                <a:sym typeface="Instrument Sans"/>
              </a:rPr>
              <a:t>, which can assign the same rank to rows with identical values, </a:t>
            </a:r>
            <a:r>
              <a:rPr b="0" i="0" lang="en-US" sz="1600" u="none" cap="none" strike="noStrike">
                <a:solidFill>
                  <a:srgbClr val="CFD0D8"/>
                </a:solidFill>
                <a:highlight>
                  <a:srgbClr val="37373A"/>
                </a:highlight>
                <a:latin typeface="Consolas"/>
                <a:ea typeface="Consolas"/>
                <a:cs typeface="Consolas"/>
                <a:sym typeface="Consolas"/>
              </a:rPr>
              <a:t>ROW_NUMBER()</a:t>
            </a:r>
            <a:r>
              <a:rPr b="0" i="0" lang="en-US" sz="1600" u="none" cap="none" strike="noStrike">
                <a:solidFill>
                  <a:srgbClr val="CFD0D8"/>
                </a:solidFill>
                <a:latin typeface="Instrument Sans"/>
                <a:ea typeface="Instrument Sans"/>
                <a:cs typeface="Instrument Sans"/>
                <a:sym typeface="Instrument Sans"/>
              </a:rPr>
              <a:t> guarantees a unique number for every row, even if values are tied.</a:t>
            </a:r>
            <a:endParaRPr b="0" i="0" sz="1600" u="none" cap="none" strike="noStrike"/>
          </a:p>
        </p:txBody>
      </p:sp>
      <p:sp>
        <p:nvSpPr>
          <p:cNvPr id="128" name="Google Shape;128;p23"/>
          <p:cNvSpPr/>
          <p:nvPr/>
        </p:nvSpPr>
        <p:spPr>
          <a:xfrm>
            <a:off x="7574756" y="1839158"/>
            <a:ext cx="3387685" cy="322778"/>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2000"/>
              <a:buFont typeface="Instrument Sans"/>
              <a:buNone/>
            </a:pPr>
            <a:r>
              <a:rPr b="0" i="0" lang="en-US" sz="2000" u="none" cap="none" strike="noStrike">
                <a:solidFill>
                  <a:srgbClr val="CBCCCE"/>
                </a:solidFill>
                <a:latin typeface="Instrument Sans"/>
                <a:ea typeface="Instrument Sans"/>
                <a:cs typeface="Instrument Sans"/>
                <a:sym typeface="Instrument Sans"/>
              </a:rPr>
              <a:t>Syntax &amp; Practical Use Case</a:t>
            </a:r>
            <a:endParaRPr b="0" i="0" sz="2000" u="none" cap="none" strike="noStrike"/>
          </a:p>
        </p:txBody>
      </p:sp>
      <p:sp>
        <p:nvSpPr>
          <p:cNvPr id="129" name="Google Shape;129;p23"/>
          <p:cNvSpPr/>
          <p:nvPr/>
        </p:nvSpPr>
        <p:spPr>
          <a:xfrm>
            <a:off x="7574756" y="2373511"/>
            <a:ext cx="6340435" cy="3466148"/>
          </a:xfrm>
          <a:prstGeom prst="roundRect">
            <a:avLst>
              <a:gd fmla="val 2503" name="adj"/>
            </a:avLst>
          </a:prstGeom>
          <a:solidFill>
            <a:srgbClr val="3737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3"/>
          <p:cNvSpPr/>
          <p:nvPr/>
        </p:nvSpPr>
        <p:spPr>
          <a:xfrm>
            <a:off x="7564517" y="2373511"/>
            <a:ext cx="6360914" cy="3466148"/>
          </a:xfrm>
          <a:prstGeom prst="roundRect">
            <a:avLst>
              <a:gd fmla="val 894" name="adj"/>
            </a:avLst>
          </a:prstGeom>
          <a:solidFill>
            <a:srgbClr val="3737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3"/>
          <p:cNvSpPr/>
          <p:nvPr/>
        </p:nvSpPr>
        <p:spPr>
          <a:xfrm>
            <a:off x="7770971" y="2528411"/>
            <a:ext cx="5948005" cy="3156347"/>
          </a:xfrm>
          <a:prstGeom prst="rect">
            <a:avLst/>
          </a:prstGeom>
          <a:noFill/>
          <a:ln>
            <a:noFill/>
          </a:ln>
        </p:spPr>
        <p:txBody>
          <a:bodyPr anchorCtr="0" anchor="t" bIns="0" lIns="0" spcFirstLastPara="1" rIns="0" wrap="square" tIns="0">
            <a:noAutofit/>
          </a:bodyPr>
          <a:lstStyle/>
          <a:p>
            <a:pPr indent="0" lvl="0" marL="0" marR="0" rtl="0" algn="l">
              <a:lnSpc>
                <a:spcPct val="153125"/>
              </a:lnSpc>
              <a:spcBef>
                <a:spcPts val="0"/>
              </a:spcBef>
              <a:spcAft>
                <a:spcPts val="0"/>
              </a:spcAft>
              <a:buClr>
                <a:srgbClr val="CFD0D8"/>
              </a:buClr>
              <a:buSzPts val="1600"/>
              <a:buFont typeface="Consolas"/>
              <a:buNone/>
            </a:pPr>
            <a:r>
              <a:rPr b="0" i="0" lang="en-US" sz="1600" u="none" cap="none" strike="noStrike">
                <a:solidFill>
                  <a:srgbClr val="CFD0D8"/>
                </a:solidFill>
                <a:highlight>
                  <a:srgbClr val="37373A"/>
                </a:highlight>
                <a:latin typeface="Consolas"/>
                <a:ea typeface="Consolas"/>
                <a:cs typeface="Consolas"/>
                <a:sym typeface="Consolas"/>
              </a:rPr>
              <a:t>SELECT</a:t>
            </a:r>
            <a:endParaRPr b="0" i="0" sz="1600" u="none" cap="none" strike="noStrike"/>
          </a:p>
          <a:p>
            <a:pPr indent="0" lvl="0" marL="0" marR="0" rtl="0" algn="l">
              <a:lnSpc>
                <a:spcPct val="153125"/>
              </a:lnSpc>
              <a:spcBef>
                <a:spcPts val="0"/>
              </a:spcBef>
              <a:spcAft>
                <a:spcPts val="0"/>
              </a:spcAft>
              <a:buClr>
                <a:srgbClr val="CFD0D8"/>
              </a:buClr>
              <a:buSzPts val="1600"/>
              <a:buFont typeface="Consolas"/>
              <a:buNone/>
            </a:pPr>
            <a:r>
              <a:rPr b="0" i="0" lang="en-US" sz="1600" u="none" cap="none" strike="noStrike">
                <a:solidFill>
                  <a:srgbClr val="CFD0D8"/>
                </a:solidFill>
                <a:highlight>
                  <a:srgbClr val="37373A"/>
                </a:highlight>
                <a:latin typeface="Consolas"/>
                <a:ea typeface="Consolas"/>
                <a:cs typeface="Consolas"/>
                <a:sym typeface="Consolas"/>
              </a:rPr>
              <a:t>  customer_id,</a:t>
            </a:r>
            <a:endParaRPr b="0" i="0" sz="1600" u="none" cap="none" strike="noStrike"/>
          </a:p>
          <a:p>
            <a:pPr indent="0" lvl="0" marL="0" marR="0" rtl="0" algn="l">
              <a:lnSpc>
                <a:spcPct val="153125"/>
              </a:lnSpc>
              <a:spcBef>
                <a:spcPts val="0"/>
              </a:spcBef>
              <a:spcAft>
                <a:spcPts val="0"/>
              </a:spcAft>
              <a:buClr>
                <a:srgbClr val="CFD0D8"/>
              </a:buClr>
              <a:buSzPts val="1600"/>
              <a:buFont typeface="Consolas"/>
              <a:buNone/>
            </a:pPr>
            <a:r>
              <a:rPr b="0" i="0" lang="en-US" sz="1600" u="none" cap="none" strike="noStrike">
                <a:solidFill>
                  <a:srgbClr val="CFD0D8"/>
                </a:solidFill>
                <a:highlight>
                  <a:srgbClr val="37373A"/>
                </a:highlight>
                <a:latin typeface="Consolas"/>
                <a:ea typeface="Consolas"/>
                <a:cs typeface="Consolas"/>
                <a:sym typeface="Consolas"/>
              </a:rPr>
              <a:t>  order_date,</a:t>
            </a:r>
            <a:endParaRPr b="0" i="0" sz="1600" u="none" cap="none" strike="noStrike"/>
          </a:p>
          <a:p>
            <a:pPr indent="0" lvl="0" marL="0" marR="0" rtl="0" algn="l">
              <a:lnSpc>
                <a:spcPct val="153125"/>
              </a:lnSpc>
              <a:spcBef>
                <a:spcPts val="0"/>
              </a:spcBef>
              <a:spcAft>
                <a:spcPts val="0"/>
              </a:spcAft>
              <a:buClr>
                <a:srgbClr val="CFD0D8"/>
              </a:buClr>
              <a:buSzPts val="1600"/>
              <a:buFont typeface="Consolas"/>
              <a:buNone/>
            </a:pPr>
            <a:r>
              <a:rPr b="0" i="0" lang="en-US" sz="1600" u="none" cap="none" strike="noStrike">
                <a:solidFill>
                  <a:srgbClr val="CFD0D8"/>
                </a:solidFill>
                <a:highlight>
                  <a:srgbClr val="37373A"/>
                </a:highlight>
                <a:latin typeface="Consolas"/>
                <a:ea typeface="Consolas"/>
                <a:cs typeface="Consolas"/>
                <a:sym typeface="Consolas"/>
              </a:rPr>
              <a:t>  total_amount,</a:t>
            </a:r>
            <a:endParaRPr b="0" i="0" sz="1600" u="none" cap="none" strike="noStrike"/>
          </a:p>
          <a:p>
            <a:pPr indent="0" lvl="0" marL="0" marR="0" rtl="0" algn="l">
              <a:lnSpc>
                <a:spcPct val="153125"/>
              </a:lnSpc>
              <a:spcBef>
                <a:spcPts val="0"/>
              </a:spcBef>
              <a:spcAft>
                <a:spcPts val="0"/>
              </a:spcAft>
              <a:buClr>
                <a:srgbClr val="CFD0D8"/>
              </a:buClr>
              <a:buSzPts val="1600"/>
              <a:buFont typeface="Consolas"/>
              <a:buNone/>
            </a:pPr>
            <a:r>
              <a:rPr b="0" i="0" lang="en-US" sz="1600" u="none" cap="none" strike="noStrike">
                <a:solidFill>
                  <a:srgbClr val="CFD0D8"/>
                </a:solidFill>
                <a:highlight>
                  <a:srgbClr val="37373A"/>
                </a:highlight>
                <a:latin typeface="Consolas"/>
                <a:ea typeface="Consolas"/>
                <a:cs typeface="Consolas"/>
                <a:sym typeface="Consolas"/>
              </a:rPr>
              <a:t>  ROW_NUMBER() OVER (</a:t>
            </a:r>
            <a:endParaRPr b="0" i="0" sz="1600" u="none" cap="none" strike="noStrike"/>
          </a:p>
          <a:p>
            <a:pPr indent="0" lvl="0" marL="0" marR="0" rtl="0" algn="l">
              <a:lnSpc>
                <a:spcPct val="153125"/>
              </a:lnSpc>
              <a:spcBef>
                <a:spcPts val="0"/>
              </a:spcBef>
              <a:spcAft>
                <a:spcPts val="0"/>
              </a:spcAft>
              <a:buClr>
                <a:srgbClr val="CFD0D8"/>
              </a:buClr>
              <a:buSzPts val="1600"/>
              <a:buFont typeface="Consolas"/>
              <a:buNone/>
            </a:pPr>
            <a:r>
              <a:rPr b="0" i="0" lang="en-US" sz="1600" u="none" cap="none" strike="noStrike">
                <a:solidFill>
                  <a:srgbClr val="CFD0D8"/>
                </a:solidFill>
                <a:highlight>
                  <a:srgbClr val="37373A"/>
                </a:highlight>
                <a:latin typeface="Consolas"/>
                <a:ea typeface="Consolas"/>
                <a:cs typeface="Consolas"/>
                <a:sym typeface="Consolas"/>
              </a:rPr>
              <a:t>    PARTITION BY customer_id</a:t>
            </a:r>
            <a:endParaRPr b="0" i="0" sz="1600" u="none" cap="none" strike="noStrike"/>
          </a:p>
          <a:p>
            <a:pPr indent="0" lvl="0" marL="0" marR="0" rtl="0" algn="l">
              <a:lnSpc>
                <a:spcPct val="153125"/>
              </a:lnSpc>
              <a:spcBef>
                <a:spcPts val="0"/>
              </a:spcBef>
              <a:spcAft>
                <a:spcPts val="0"/>
              </a:spcAft>
              <a:buClr>
                <a:srgbClr val="CFD0D8"/>
              </a:buClr>
              <a:buSzPts val="1600"/>
              <a:buFont typeface="Consolas"/>
              <a:buNone/>
            </a:pPr>
            <a:r>
              <a:rPr b="0" i="0" lang="en-US" sz="1600" u="none" cap="none" strike="noStrike">
                <a:solidFill>
                  <a:srgbClr val="CFD0D8"/>
                </a:solidFill>
                <a:highlight>
                  <a:srgbClr val="37373A"/>
                </a:highlight>
                <a:latin typeface="Consolas"/>
                <a:ea typeface="Consolas"/>
                <a:cs typeface="Consolas"/>
                <a:sym typeface="Consolas"/>
              </a:rPr>
              <a:t>    ORDER BY order_date ASC</a:t>
            </a:r>
            <a:endParaRPr b="0" i="0" sz="1600" u="none" cap="none" strike="noStrike"/>
          </a:p>
          <a:p>
            <a:pPr indent="0" lvl="0" marL="0" marR="0" rtl="0" algn="l">
              <a:lnSpc>
                <a:spcPct val="153125"/>
              </a:lnSpc>
              <a:spcBef>
                <a:spcPts val="0"/>
              </a:spcBef>
              <a:spcAft>
                <a:spcPts val="0"/>
              </a:spcAft>
              <a:buClr>
                <a:srgbClr val="CFD0D8"/>
              </a:buClr>
              <a:buSzPts val="1600"/>
              <a:buFont typeface="Consolas"/>
              <a:buNone/>
            </a:pPr>
            <a:r>
              <a:rPr b="0" i="0" lang="en-US" sz="1600" u="none" cap="none" strike="noStrike">
                <a:solidFill>
                  <a:srgbClr val="CFD0D8"/>
                </a:solidFill>
                <a:highlight>
                  <a:srgbClr val="37373A"/>
                </a:highlight>
                <a:latin typeface="Consolas"/>
                <a:ea typeface="Consolas"/>
                <a:cs typeface="Consolas"/>
                <a:sym typeface="Consolas"/>
              </a:rPr>
              <a:t>  ) as rn</a:t>
            </a:r>
            <a:endParaRPr b="0" i="0" sz="1600" u="none" cap="none" strike="noStrike"/>
          </a:p>
          <a:p>
            <a:pPr indent="0" lvl="0" marL="0" marR="0" rtl="0" algn="l">
              <a:lnSpc>
                <a:spcPct val="153125"/>
              </a:lnSpc>
              <a:spcBef>
                <a:spcPts val="0"/>
              </a:spcBef>
              <a:spcAft>
                <a:spcPts val="0"/>
              </a:spcAft>
              <a:buClr>
                <a:srgbClr val="CFD0D8"/>
              </a:buClr>
              <a:buSzPts val="1600"/>
              <a:buFont typeface="Consolas"/>
              <a:buNone/>
            </a:pPr>
            <a:r>
              <a:rPr b="0" i="0" lang="en-US" sz="1600" u="none" cap="none" strike="noStrike">
                <a:solidFill>
                  <a:srgbClr val="CFD0D8"/>
                </a:solidFill>
                <a:highlight>
                  <a:srgbClr val="37373A"/>
                </a:highlight>
                <a:latin typeface="Consolas"/>
                <a:ea typeface="Consolas"/>
                <a:cs typeface="Consolas"/>
                <a:sym typeface="Consolas"/>
              </a:rPr>
              <a:t>FROM</a:t>
            </a:r>
            <a:endParaRPr b="0" i="0" sz="1600" u="none" cap="none" strike="noStrike"/>
          </a:p>
          <a:p>
            <a:pPr indent="0" lvl="0" marL="0" marR="0" rtl="0" algn="l">
              <a:lnSpc>
                <a:spcPct val="153125"/>
              </a:lnSpc>
              <a:spcBef>
                <a:spcPts val="0"/>
              </a:spcBef>
              <a:spcAft>
                <a:spcPts val="0"/>
              </a:spcAft>
              <a:buClr>
                <a:srgbClr val="CFD0D8"/>
              </a:buClr>
              <a:buSzPts val="1600"/>
              <a:buFont typeface="Consolas"/>
              <a:buNone/>
            </a:pPr>
            <a:r>
              <a:rPr b="0" i="0" lang="en-US" sz="1600" u="none" cap="none" strike="noStrike">
                <a:solidFill>
                  <a:srgbClr val="CFD0D8"/>
                </a:solidFill>
                <a:highlight>
                  <a:srgbClr val="37373A"/>
                </a:highlight>
                <a:latin typeface="Consolas"/>
                <a:ea typeface="Consolas"/>
                <a:cs typeface="Consolas"/>
                <a:sym typeface="Consolas"/>
              </a:rPr>
              <a:t>  Orders;</a:t>
            </a:r>
            <a:endParaRPr b="0" i="0" sz="1600" u="none" cap="none" strike="noStrike"/>
          </a:p>
        </p:txBody>
      </p:sp>
      <p:sp>
        <p:nvSpPr>
          <p:cNvPr id="132" name="Google Shape;132;p23"/>
          <p:cNvSpPr/>
          <p:nvPr/>
        </p:nvSpPr>
        <p:spPr>
          <a:xfrm>
            <a:off x="7574756" y="5920208"/>
            <a:ext cx="6340435" cy="1285399"/>
          </a:xfrm>
          <a:prstGeom prst="rect">
            <a:avLst/>
          </a:prstGeom>
          <a:noFill/>
          <a:ln>
            <a:noFill/>
          </a:ln>
        </p:spPr>
        <p:txBody>
          <a:bodyPr anchorCtr="0" anchor="t" bIns="0" lIns="0" spcFirstLastPara="1" rIns="0" wrap="square" tIns="0">
            <a:noAutofit/>
          </a:bodyPr>
          <a:lstStyle/>
          <a:p>
            <a:pPr indent="0" lvl="0" marL="0" marR="0" rtl="0" algn="l">
              <a:lnSpc>
                <a:spcPct val="153125"/>
              </a:lnSpc>
              <a:spcBef>
                <a:spcPts val="0"/>
              </a:spcBef>
              <a:spcAft>
                <a:spcPts val="0"/>
              </a:spcAft>
              <a:buClr>
                <a:srgbClr val="CFD0D8"/>
              </a:buClr>
              <a:buSzPts val="1600"/>
              <a:buFont typeface="Instrument Sans"/>
              <a:buNone/>
            </a:pPr>
            <a:r>
              <a:rPr b="0" i="0" lang="en-US" sz="1600" u="none" cap="none" strike="noStrike">
                <a:solidFill>
                  <a:srgbClr val="CFD0D8"/>
                </a:solidFill>
                <a:latin typeface="Instrument Sans"/>
                <a:ea typeface="Instrument Sans"/>
                <a:cs typeface="Instrument Sans"/>
                <a:sym typeface="Instrument Sans"/>
              </a:rPr>
              <a:t>This example assigns a sequential number to each order for every customer, ordered by their transaction date. To find each customer's </a:t>
            </a:r>
            <a:r>
              <a:rPr b="1" i="0" lang="en-US" sz="1600" u="none" cap="none" strike="noStrike">
                <a:solidFill>
                  <a:srgbClr val="CFD0D8"/>
                </a:solidFill>
                <a:latin typeface="Instrument Sans"/>
                <a:ea typeface="Instrument Sans"/>
                <a:cs typeface="Instrument Sans"/>
                <a:sym typeface="Instrument Sans"/>
              </a:rPr>
              <a:t>first purchase</a:t>
            </a:r>
            <a:r>
              <a:rPr b="0" i="0" lang="en-US" sz="1600" u="none" cap="none" strike="noStrike">
                <a:solidFill>
                  <a:srgbClr val="CFD0D8"/>
                </a:solidFill>
                <a:latin typeface="Instrument Sans"/>
                <a:ea typeface="Instrument Sans"/>
                <a:cs typeface="Instrument Sans"/>
                <a:sym typeface="Instrument Sans"/>
              </a:rPr>
              <a:t>, you would simply filter for </a:t>
            </a:r>
            <a:r>
              <a:rPr b="0" i="0" lang="en-US" sz="1600" u="none" cap="none" strike="noStrike">
                <a:solidFill>
                  <a:srgbClr val="CFD0D8"/>
                </a:solidFill>
                <a:highlight>
                  <a:srgbClr val="37373A"/>
                </a:highlight>
                <a:latin typeface="Consolas"/>
                <a:ea typeface="Consolas"/>
                <a:cs typeface="Consolas"/>
                <a:sym typeface="Consolas"/>
              </a:rPr>
              <a:t>rn = 1</a:t>
            </a:r>
            <a:r>
              <a:rPr b="0" i="0" lang="en-US" sz="1600" u="none" cap="none" strike="noStrike">
                <a:solidFill>
                  <a:srgbClr val="CFD0D8"/>
                </a:solidFill>
                <a:latin typeface="Instrument Sans"/>
                <a:ea typeface="Instrument Sans"/>
                <a:cs typeface="Instrument Sans"/>
                <a:sym typeface="Instrument Sans"/>
              </a:rPr>
              <a:t> in a subquery or CTE.</a:t>
            </a:r>
            <a:endParaRPr b="0" i="0" sz="160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4"/>
          <p:cNvSpPr/>
          <p:nvPr/>
        </p:nvSpPr>
        <p:spPr>
          <a:xfrm>
            <a:off x="955834" y="1110139"/>
            <a:ext cx="5884069" cy="575905"/>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3600"/>
              <a:buFont typeface="Instrument Sans"/>
              <a:buNone/>
            </a:pPr>
            <a:r>
              <a:rPr b="0" i="0" lang="en-US" sz="3600" u="none" cap="none" strike="noStrike">
                <a:solidFill>
                  <a:srgbClr val="CBCCCE"/>
                </a:solidFill>
                <a:latin typeface="Instrument Sans"/>
                <a:ea typeface="Instrument Sans"/>
                <a:cs typeface="Instrument Sans"/>
                <a:sym typeface="Instrument Sans"/>
              </a:rPr>
              <a:t>RANK(): Ranking with Gaps</a:t>
            </a:r>
            <a:endParaRPr b="0" i="0" sz="3600" u="none" cap="none" strike="noStrike"/>
          </a:p>
        </p:txBody>
      </p:sp>
      <p:sp>
        <p:nvSpPr>
          <p:cNvPr id="139" name="Google Shape;139;p24"/>
          <p:cNvSpPr/>
          <p:nvPr/>
        </p:nvSpPr>
        <p:spPr>
          <a:xfrm>
            <a:off x="823198" y="1910715"/>
            <a:ext cx="6399848" cy="5208746"/>
          </a:xfrm>
          <a:prstGeom prst="roundRect">
            <a:avLst>
              <a:gd fmla="val 2548" name="adj"/>
            </a:avLst>
          </a:prstGeom>
          <a:solidFill>
            <a:srgbClr val="D5D5D8">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24"/>
          <p:cNvSpPr/>
          <p:nvPr/>
        </p:nvSpPr>
        <p:spPr>
          <a:xfrm>
            <a:off x="1007507" y="2060496"/>
            <a:ext cx="3506986" cy="28789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800"/>
              <a:buFont typeface="Instrument Sans SemiBold"/>
              <a:buNone/>
            </a:pPr>
            <a:r>
              <a:rPr b="1" i="0" lang="en-US" sz="1800" u="none" cap="none" strike="noStrike">
                <a:solidFill>
                  <a:srgbClr val="000000"/>
                </a:solidFill>
                <a:latin typeface="Instrument Sans SemiBold"/>
                <a:ea typeface="Instrument Sans SemiBold"/>
                <a:cs typeface="Instrument Sans SemiBold"/>
                <a:sym typeface="Instrument Sans SemiBold"/>
              </a:rPr>
              <a:t>How it Works &amp; When to Apply It</a:t>
            </a:r>
            <a:endParaRPr b="0" i="0" sz="1800" u="none" cap="none" strike="noStrike"/>
          </a:p>
        </p:txBody>
      </p:sp>
      <p:sp>
        <p:nvSpPr>
          <p:cNvPr id="141" name="Google Shape;141;p24"/>
          <p:cNvSpPr/>
          <p:nvPr/>
        </p:nvSpPr>
        <p:spPr>
          <a:xfrm>
            <a:off x="1007507" y="2498169"/>
            <a:ext cx="6031230" cy="1083945"/>
          </a:xfrm>
          <a:prstGeom prst="rect">
            <a:avLst/>
          </a:prstGeom>
          <a:noFill/>
          <a:ln>
            <a:noFill/>
          </a:ln>
        </p:spPr>
        <p:txBody>
          <a:bodyPr anchorCtr="0" anchor="t" bIns="0" lIns="0" spcFirstLastPara="1" rIns="0" wrap="square" tIns="0">
            <a:noAutofit/>
          </a:bodyPr>
          <a:lstStyle/>
          <a:p>
            <a:pPr indent="0" lvl="0" marL="0" marR="0" rtl="0" algn="l">
              <a:lnSpc>
                <a:spcPct val="144827"/>
              </a:lnSpc>
              <a:spcBef>
                <a:spcPts val="0"/>
              </a:spcBef>
              <a:spcAft>
                <a:spcPts val="0"/>
              </a:spcAft>
              <a:buClr>
                <a:srgbClr val="000000"/>
              </a:buClr>
              <a:buSzPts val="1450"/>
              <a:buFont typeface="Consolas"/>
              <a:buNone/>
            </a:pPr>
            <a:r>
              <a:rPr b="0" i="0" lang="en-US" sz="1450" u="none" cap="none" strike="noStrike">
                <a:solidFill>
                  <a:srgbClr val="000000"/>
                </a:solidFill>
                <a:highlight>
                  <a:srgbClr val="C8C8CB"/>
                </a:highlight>
                <a:latin typeface="Consolas"/>
                <a:ea typeface="Consolas"/>
                <a:cs typeface="Consolas"/>
                <a:sym typeface="Consolas"/>
              </a:rPr>
              <a:t>RANK()</a:t>
            </a:r>
            <a:r>
              <a:rPr b="0" i="0" lang="en-US" sz="1450" u="none" cap="none" strike="noStrike">
                <a:solidFill>
                  <a:srgbClr val="000000"/>
                </a:solidFill>
                <a:latin typeface="Instrument Sans Medium"/>
                <a:ea typeface="Instrument Sans Medium"/>
                <a:cs typeface="Instrument Sans Medium"/>
                <a:sym typeface="Instrument Sans Medium"/>
              </a:rPr>
              <a:t> assigns a rank to each row within a partition of a result set. When multiple rows have identical values for the ordering column (a tie), they receive the same rank. Crucially, subsequent ranks are skipped, creating gaps in the numbering sequence.</a:t>
            </a:r>
            <a:endParaRPr b="0" i="0" sz="1450" u="none" cap="none" strike="noStrike"/>
          </a:p>
        </p:txBody>
      </p:sp>
      <p:sp>
        <p:nvSpPr>
          <p:cNvPr id="142" name="Google Shape;142;p24"/>
          <p:cNvSpPr/>
          <p:nvPr/>
        </p:nvSpPr>
        <p:spPr>
          <a:xfrm>
            <a:off x="1007507" y="3716893"/>
            <a:ext cx="6031230" cy="801529"/>
          </a:xfrm>
          <a:prstGeom prst="rect">
            <a:avLst/>
          </a:prstGeom>
          <a:noFill/>
          <a:ln>
            <a:noFill/>
          </a:ln>
        </p:spPr>
        <p:txBody>
          <a:bodyPr anchorCtr="0" anchor="t" bIns="0" lIns="0" spcFirstLastPara="1" rIns="0" wrap="square" tIns="0">
            <a:noAutofit/>
          </a:bodyPr>
          <a:lstStyle/>
          <a:p>
            <a:pPr indent="0" lvl="0" marL="0" marR="0" rtl="0" algn="l">
              <a:lnSpc>
                <a:spcPct val="144827"/>
              </a:lnSpc>
              <a:spcBef>
                <a:spcPts val="0"/>
              </a:spcBef>
              <a:spcAft>
                <a:spcPts val="0"/>
              </a:spcAft>
              <a:buClr>
                <a:srgbClr val="000000"/>
              </a:buClr>
              <a:buSzPts val="1450"/>
              <a:buFont typeface="Instrument Sans Medium"/>
              <a:buNone/>
            </a:pPr>
            <a:r>
              <a:rPr b="0" i="0" lang="en-US" sz="1450" u="none" cap="none" strike="noStrike">
                <a:solidFill>
                  <a:srgbClr val="000000"/>
                </a:solidFill>
                <a:latin typeface="Instrument Sans Medium"/>
                <a:ea typeface="Instrument Sans Medium"/>
                <a:cs typeface="Instrument Sans Medium"/>
                <a:sym typeface="Instrument Sans Medium"/>
              </a:rPr>
              <a:t>For example, if two rows tie for rank 2, the next distinct rank will be 4 (ranks 1, 2, 2, </a:t>
            </a:r>
            <a:r>
              <a:rPr b="0" i="0" lang="en-US" sz="1450" u="none" cap="none" strike="noStrike">
                <a:solidFill>
                  <a:srgbClr val="FF0000"/>
                </a:solidFill>
                <a:latin typeface="Instrument Sans Medium"/>
                <a:ea typeface="Instrument Sans Medium"/>
                <a:cs typeface="Instrument Sans Medium"/>
                <a:sym typeface="Instrument Sans Medium"/>
              </a:rPr>
              <a:t>4</a:t>
            </a:r>
            <a:r>
              <a:rPr b="0" i="0" lang="en-US" sz="1450" u="none" cap="none" strike="noStrike">
                <a:solidFill>
                  <a:srgbClr val="000000"/>
                </a:solidFill>
                <a:latin typeface="Instrument Sans Medium"/>
                <a:ea typeface="Instrument Sans Medium"/>
                <a:cs typeface="Instrument Sans Medium"/>
                <a:sym typeface="Instrument Sans Medium"/>
              </a:rPr>
              <a:t>). Rank 3 is skipped because two items already occupied rank 2.</a:t>
            </a:r>
            <a:endParaRPr b="0" i="0" sz="1450" u="none" cap="none" strike="noStrike"/>
          </a:p>
        </p:txBody>
      </p:sp>
      <p:sp>
        <p:nvSpPr>
          <p:cNvPr id="143" name="Google Shape;143;p24"/>
          <p:cNvSpPr/>
          <p:nvPr/>
        </p:nvSpPr>
        <p:spPr>
          <a:xfrm>
            <a:off x="1007507" y="4653201"/>
            <a:ext cx="6031230" cy="1336495"/>
          </a:xfrm>
          <a:prstGeom prst="rect">
            <a:avLst/>
          </a:prstGeom>
          <a:noFill/>
          <a:ln>
            <a:noFill/>
          </a:ln>
        </p:spPr>
        <p:txBody>
          <a:bodyPr anchorCtr="0" anchor="t" bIns="0" lIns="0" spcFirstLastPara="1" rIns="0" wrap="square" tIns="0">
            <a:noAutofit/>
          </a:bodyPr>
          <a:lstStyle/>
          <a:p>
            <a:pPr indent="-342900" lvl="0" marL="342900" marR="0" rtl="0" algn="l">
              <a:lnSpc>
                <a:spcPct val="144827"/>
              </a:lnSpc>
              <a:spcBef>
                <a:spcPts val="0"/>
              </a:spcBef>
              <a:spcAft>
                <a:spcPts val="0"/>
              </a:spcAft>
              <a:buClr>
                <a:srgbClr val="000000"/>
              </a:buClr>
              <a:buSzPts val="1450"/>
              <a:buFont typeface="Instrument Sans Medium"/>
              <a:buChar char="•"/>
            </a:pPr>
            <a:r>
              <a:rPr b="0" i="0" lang="en-US" sz="1450" u="none" cap="none" strike="noStrike">
                <a:solidFill>
                  <a:srgbClr val="000000"/>
                </a:solidFill>
                <a:latin typeface="Instrument Sans Medium"/>
                <a:ea typeface="Instrument Sans Medium"/>
                <a:cs typeface="Instrument Sans Medium"/>
                <a:sym typeface="Instrument Sans Medium"/>
              </a:rPr>
              <a:t>Identifying the top N items per group where ties are common and skipping ranks is acceptable.</a:t>
            </a:r>
            <a:endParaRPr b="0" i="0" sz="1450" u="none" cap="none" strike="noStrike"/>
          </a:p>
          <a:p>
            <a:pPr indent="-342900" lvl="0" marL="342900" marR="0" rtl="0" algn="l">
              <a:lnSpc>
                <a:spcPct val="144827"/>
              </a:lnSpc>
              <a:spcBef>
                <a:spcPts val="0"/>
              </a:spcBef>
              <a:spcAft>
                <a:spcPts val="0"/>
              </a:spcAft>
              <a:buClr>
                <a:srgbClr val="000000"/>
              </a:buClr>
              <a:buSzPts val="1450"/>
              <a:buFont typeface="Instrument Sans Medium"/>
              <a:buChar char="•"/>
            </a:pPr>
            <a:r>
              <a:rPr b="0" i="0" lang="en-US" sz="1450" u="none" cap="none" strike="noStrike">
                <a:solidFill>
                  <a:srgbClr val="000000"/>
                </a:solidFill>
                <a:latin typeface="Instrument Sans Medium"/>
                <a:ea typeface="Instrument Sans Medium"/>
                <a:cs typeface="Instrument Sans Medium"/>
                <a:sym typeface="Instrument Sans Medium"/>
              </a:rPr>
              <a:t>Creating leaderboards where shared scores should result in shared ranks and the next rank reflects true position.</a:t>
            </a:r>
            <a:endParaRPr b="0" i="0" sz="1450" u="none" cap="none" strike="noStrike"/>
          </a:p>
          <a:p>
            <a:pPr indent="-342900" lvl="0" marL="342900" marR="0" rtl="0" algn="l">
              <a:lnSpc>
                <a:spcPct val="144827"/>
              </a:lnSpc>
              <a:spcBef>
                <a:spcPts val="0"/>
              </a:spcBef>
              <a:spcAft>
                <a:spcPts val="0"/>
              </a:spcAft>
              <a:buClr>
                <a:srgbClr val="000000"/>
              </a:buClr>
              <a:buSzPts val="1450"/>
              <a:buFont typeface="Instrument Sans Medium"/>
              <a:buChar char="•"/>
            </a:pPr>
            <a:r>
              <a:rPr b="0" i="0" lang="en-US" sz="1450" u="none" cap="none" strike="noStrike">
                <a:solidFill>
                  <a:srgbClr val="000000"/>
                </a:solidFill>
                <a:latin typeface="Instrument Sans Medium"/>
                <a:ea typeface="Instrument Sans Medium"/>
                <a:cs typeface="Instrument Sans Medium"/>
                <a:sym typeface="Instrument Sans Medium"/>
              </a:rPr>
              <a:t>Analyzing competition or performance metrics.</a:t>
            </a:r>
            <a:endParaRPr b="0" i="0" sz="1450" u="none" cap="none" strike="noStrike"/>
          </a:p>
        </p:txBody>
      </p:sp>
      <p:sp>
        <p:nvSpPr>
          <p:cNvPr id="144" name="Google Shape;144;p24"/>
          <p:cNvSpPr/>
          <p:nvPr/>
        </p:nvSpPr>
        <p:spPr>
          <a:xfrm>
            <a:off x="7547610" y="2060496"/>
            <a:ext cx="3276719" cy="287893"/>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1800"/>
              <a:buFont typeface="Instrument Sans"/>
              <a:buNone/>
            </a:pPr>
            <a:r>
              <a:rPr b="0" i="0" lang="en-US" sz="1800" u="none" cap="none" strike="noStrike">
                <a:solidFill>
                  <a:srgbClr val="CBCCCE"/>
                </a:solidFill>
                <a:latin typeface="Instrument Sans"/>
                <a:ea typeface="Instrument Sans"/>
                <a:cs typeface="Instrument Sans"/>
                <a:sym typeface="Instrument Sans"/>
              </a:rPr>
              <a:t>Syntax &amp; Practical Application</a:t>
            </a:r>
            <a:endParaRPr b="0" i="0" sz="1800" u="none" cap="none" strike="noStrike"/>
          </a:p>
        </p:txBody>
      </p:sp>
      <p:sp>
        <p:nvSpPr>
          <p:cNvPr id="145" name="Google Shape;145;p24"/>
          <p:cNvSpPr/>
          <p:nvPr/>
        </p:nvSpPr>
        <p:spPr>
          <a:xfrm>
            <a:off x="7547610" y="2516862"/>
            <a:ext cx="6134576" cy="2948226"/>
          </a:xfrm>
          <a:prstGeom prst="roundRect">
            <a:avLst>
              <a:gd fmla="val 2626" name="adj"/>
            </a:avLst>
          </a:prstGeom>
          <a:solidFill>
            <a:srgbClr val="3737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4"/>
          <p:cNvSpPr/>
          <p:nvPr/>
        </p:nvSpPr>
        <p:spPr>
          <a:xfrm>
            <a:off x="7538442" y="2516862"/>
            <a:ext cx="6152912" cy="2948226"/>
          </a:xfrm>
          <a:prstGeom prst="roundRect">
            <a:avLst>
              <a:gd fmla="val 938" name="adj"/>
            </a:avLst>
          </a:prstGeom>
          <a:solidFill>
            <a:srgbClr val="3737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4"/>
          <p:cNvSpPr/>
          <p:nvPr/>
        </p:nvSpPr>
        <p:spPr>
          <a:xfrm>
            <a:off x="7722751" y="2655094"/>
            <a:ext cx="5784294" cy="2671763"/>
          </a:xfrm>
          <a:prstGeom prst="rect">
            <a:avLst/>
          </a:prstGeom>
          <a:noFill/>
          <a:ln>
            <a:noFill/>
          </a:ln>
        </p:spPr>
        <p:txBody>
          <a:bodyPr anchorCtr="0" anchor="t" bIns="0" lIns="0" spcFirstLastPara="1" rIns="0" wrap="square" tIns="0">
            <a:noAutofit/>
          </a:bodyPr>
          <a:lstStyle/>
          <a:p>
            <a:pPr indent="0" lvl="0" marL="0" marR="0" rtl="0" algn="l">
              <a:lnSpc>
                <a:spcPct val="144827"/>
              </a:lnSpc>
              <a:spcBef>
                <a:spcPts val="0"/>
              </a:spcBef>
              <a:spcAft>
                <a:spcPts val="0"/>
              </a:spcAft>
              <a:buClr>
                <a:srgbClr val="CFD0D8"/>
              </a:buClr>
              <a:buSzPts val="1450"/>
              <a:buFont typeface="Consolas"/>
              <a:buNone/>
            </a:pPr>
            <a:r>
              <a:rPr b="0" i="0" lang="en-US" sz="1450" u="none" cap="none" strike="noStrike">
                <a:solidFill>
                  <a:srgbClr val="CFD0D8"/>
                </a:solidFill>
                <a:highlight>
                  <a:srgbClr val="37373A"/>
                </a:highlight>
                <a:latin typeface="Consolas"/>
                <a:ea typeface="Consolas"/>
                <a:cs typeface="Consolas"/>
                <a:sym typeface="Consolas"/>
              </a:rPr>
              <a:t>SELECT</a:t>
            </a:r>
            <a:endParaRPr b="0" i="0" sz="1450" u="none" cap="none" strike="noStrike"/>
          </a:p>
          <a:p>
            <a:pPr indent="0" lvl="0" marL="0" marR="0" rtl="0" algn="l">
              <a:lnSpc>
                <a:spcPct val="144827"/>
              </a:lnSpc>
              <a:spcBef>
                <a:spcPts val="0"/>
              </a:spcBef>
              <a:spcAft>
                <a:spcPts val="0"/>
              </a:spcAft>
              <a:buClr>
                <a:srgbClr val="CFD0D8"/>
              </a:buClr>
              <a:buSzPts val="1450"/>
              <a:buFont typeface="Consolas"/>
              <a:buNone/>
            </a:pPr>
            <a:r>
              <a:rPr b="0" i="0" lang="en-US" sz="1450" u="none" cap="none" strike="noStrike">
                <a:solidFill>
                  <a:srgbClr val="CFD0D8"/>
                </a:solidFill>
                <a:highlight>
                  <a:srgbClr val="37373A"/>
                </a:highlight>
                <a:latin typeface="Consolas"/>
                <a:ea typeface="Consolas"/>
                <a:cs typeface="Consolas"/>
                <a:sym typeface="Consolas"/>
              </a:rPr>
              <a:t>  department,</a:t>
            </a:r>
            <a:endParaRPr b="0" i="0" sz="1450" u="none" cap="none" strike="noStrike"/>
          </a:p>
          <a:p>
            <a:pPr indent="0" lvl="0" marL="0" marR="0" rtl="0" algn="l">
              <a:lnSpc>
                <a:spcPct val="144827"/>
              </a:lnSpc>
              <a:spcBef>
                <a:spcPts val="0"/>
              </a:spcBef>
              <a:spcAft>
                <a:spcPts val="0"/>
              </a:spcAft>
              <a:buClr>
                <a:srgbClr val="CFD0D8"/>
              </a:buClr>
              <a:buSzPts val="1450"/>
              <a:buFont typeface="Consolas"/>
              <a:buNone/>
            </a:pPr>
            <a:r>
              <a:rPr b="0" i="0" lang="en-US" sz="1450" u="none" cap="none" strike="noStrike">
                <a:solidFill>
                  <a:srgbClr val="CFD0D8"/>
                </a:solidFill>
                <a:highlight>
                  <a:srgbClr val="37373A"/>
                </a:highlight>
                <a:latin typeface="Consolas"/>
                <a:ea typeface="Consolas"/>
                <a:cs typeface="Consolas"/>
                <a:sym typeface="Consolas"/>
              </a:rPr>
              <a:t>  employee_name,</a:t>
            </a:r>
            <a:endParaRPr b="0" i="0" sz="1450" u="none" cap="none" strike="noStrike"/>
          </a:p>
          <a:p>
            <a:pPr indent="0" lvl="0" marL="0" marR="0" rtl="0" algn="l">
              <a:lnSpc>
                <a:spcPct val="144827"/>
              </a:lnSpc>
              <a:spcBef>
                <a:spcPts val="0"/>
              </a:spcBef>
              <a:spcAft>
                <a:spcPts val="0"/>
              </a:spcAft>
              <a:buClr>
                <a:srgbClr val="CFD0D8"/>
              </a:buClr>
              <a:buSzPts val="1450"/>
              <a:buFont typeface="Consolas"/>
              <a:buNone/>
            </a:pPr>
            <a:r>
              <a:rPr b="0" i="0" lang="en-US" sz="1450" u="none" cap="none" strike="noStrike">
                <a:solidFill>
                  <a:srgbClr val="CFD0D8"/>
                </a:solidFill>
                <a:highlight>
                  <a:srgbClr val="37373A"/>
                </a:highlight>
                <a:latin typeface="Consolas"/>
                <a:ea typeface="Consolas"/>
                <a:cs typeface="Consolas"/>
                <a:sym typeface="Consolas"/>
              </a:rPr>
              <a:t>  salary,</a:t>
            </a:r>
            <a:endParaRPr b="0" i="0" sz="1450" u="none" cap="none" strike="noStrike"/>
          </a:p>
          <a:p>
            <a:pPr indent="0" lvl="0" marL="0" marR="0" rtl="0" algn="l">
              <a:lnSpc>
                <a:spcPct val="144827"/>
              </a:lnSpc>
              <a:spcBef>
                <a:spcPts val="0"/>
              </a:spcBef>
              <a:spcAft>
                <a:spcPts val="0"/>
              </a:spcAft>
              <a:buClr>
                <a:srgbClr val="CFD0D8"/>
              </a:buClr>
              <a:buSzPts val="1450"/>
              <a:buFont typeface="Consolas"/>
              <a:buNone/>
            </a:pPr>
            <a:r>
              <a:rPr b="0" i="0" lang="en-US" sz="1450" u="none" cap="none" strike="noStrike">
                <a:solidFill>
                  <a:srgbClr val="CFD0D8"/>
                </a:solidFill>
                <a:highlight>
                  <a:srgbClr val="37373A"/>
                </a:highlight>
                <a:latin typeface="Consolas"/>
                <a:ea typeface="Consolas"/>
                <a:cs typeface="Consolas"/>
                <a:sym typeface="Consolas"/>
              </a:rPr>
              <a:t>  RANK() OVER (</a:t>
            </a:r>
            <a:endParaRPr b="0" i="0" sz="1450" u="none" cap="none" strike="noStrike"/>
          </a:p>
          <a:p>
            <a:pPr indent="0" lvl="0" marL="0" marR="0" rtl="0" algn="l">
              <a:lnSpc>
                <a:spcPct val="144827"/>
              </a:lnSpc>
              <a:spcBef>
                <a:spcPts val="0"/>
              </a:spcBef>
              <a:spcAft>
                <a:spcPts val="0"/>
              </a:spcAft>
              <a:buClr>
                <a:srgbClr val="CFD0D8"/>
              </a:buClr>
              <a:buSzPts val="1450"/>
              <a:buFont typeface="Consolas"/>
              <a:buNone/>
            </a:pPr>
            <a:r>
              <a:rPr b="0" i="0" lang="en-US" sz="1450" u="none" cap="none" strike="noStrike">
                <a:solidFill>
                  <a:srgbClr val="CFD0D8"/>
                </a:solidFill>
                <a:highlight>
                  <a:srgbClr val="37373A"/>
                </a:highlight>
                <a:latin typeface="Consolas"/>
                <a:ea typeface="Consolas"/>
                <a:cs typeface="Consolas"/>
                <a:sym typeface="Consolas"/>
              </a:rPr>
              <a:t>    PARTITION BY department</a:t>
            </a:r>
            <a:endParaRPr b="0" i="0" sz="1450" u="none" cap="none" strike="noStrike"/>
          </a:p>
          <a:p>
            <a:pPr indent="0" lvl="0" marL="0" marR="0" rtl="0" algn="l">
              <a:lnSpc>
                <a:spcPct val="144827"/>
              </a:lnSpc>
              <a:spcBef>
                <a:spcPts val="0"/>
              </a:spcBef>
              <a:spcAft>
                <a:spcPts val="0"/>
              </a:spcAft>
              <a:buClr>
                <a:srgbClr val="CFD0D8"/>
              </a:buClr>
              <a:buSzPts val="1450"/>
              <a:buFont typeface="Consolas"/>
              <a:buNone/>
            </a:pPr>
            <a:r>
              <a:rPr b="0" i="0" lang="en-US" sz="1450" u="none" cap="none" strike="noStrike">
                <a:solidFill>
                  <a:srgbClr val="CFD0D8"/>
                </a:solidFill>
                <a:highlight>
                  <a:srgbClr val="37373A"/>
                </a:highlight>
                <a:latin typeface="Consolas"/>
                <a:ea typeface="Consolas"/>
                <a:cs typeface="Consolas"/>
                <a:sym typeface="Consolas"/>
              </a:rPr>
              <a:t>    ORDER BY salary DESC</a:t>
            </a:r>
            <a:endParaRPr b="0" i="0" sz="1450" u="none" cap="none" strike="noStrike"/>
          </a:p>
          <a:p>
            <a:pPr indent="0" lvl="0" marL="0" marR="0" rtl="0" algn="l">
              <a:lnSpc>
                <a:spcPct val="144827"/>
              </a:lnSpc>
              <a:spcBef>
                <a:spcPts val="0"/>
              </a:spcBef>
              <a:spcAft>
                <a:spcPts val="0"/>
              </a:spcAft>
              <a:buClr>
                <a:srgbClr val="CFD0D8"/>
              </a:buClr>
              <a:buSzPts val="1450"/>
              <a:buFont typeface="Consolas"/>
              <a:buNone/>
            </a:pPr>
            <a:r>
              <a:rPr b="0" i="0" lang="en-US" sz="1450" u="none" cap="none" strike="noStrike">
                <a:solidFill>
                  <a:srgbClr val="CFD0D8"/>
                </a:solidFill>
                <a:highlight>
                  <a:srgbClr val="37373A"/>
                </a:highlight>
                <a:latin typeface="Consolas"/>
                <a:ea typeface="Consolas"/>
                <a:cs typeface="Consolas"/>
                <a:sym typeface="Consolas"/>
              </a:rPr>
              <a:t>  ) as salary_rank</a:t>
            </a:r>
            <a:endParaRPr b="0" i="0" sz="1450" u="none" cap="none" strike="noStrike"/>
          </a:p>
          <a:p>
            <a:pPr indent="0" lvl="0" marL="0" marR="0" rtl="0" algn="l">
              <a:lnSpc>
                <a:spcPct val="144827"/>
              </a:lnSpc>
              <a:spcBef>
                <a:spcPts val="0"/>
              </a:spcBef>
              <a:spcAft>
                <a:spcPts val="0"/>
              </a:spcAft>
              <a:buClr>
                <a:srgbClr val="CFD0D8"/>
              </a:buClr>
              <a:buSzPts val="1450"/>
              <a:buFont typeface="Consolas"/>
              <a:buNone/>
            </a:pPr>
            <a:r>
              <a:rPr b="0" i="0" lang="en-US" sz="1450" u="none" cap="none" strike="noStrike">
                <a:solidFill>
                  <a:srgbClr val="CFD0D8"/>
                </a:solidFill>
                <a:highlight>
                  <a:srgbClr val="37373A"/>
                </a:highlight>
                <a:latin typeface="Consolas"/>
                <a:ea typeface="Consolas"/>
                <a:cs typeface="Consolas"/>
                <a:sym typeface="Consolas"/>
              </a:rPr>
              <a:t>FROM</a:t>
            </a:r>
            <a:endParaRPr b="0" i="0" sz="1450" u="none" cap="none" strike="noStrike"/>
          </a:p>
          <a:p>
            <a:pPr indent="0" lvl="0" marL="0" marR="0" rtl="0" algn="l">
              <a:lnSpc>
                <a:spcPct val="144827"/>
              </a:lnSpc>
              <a:spcBef>
                <a:spcPts val="0"/>
              </a:spcBef>
              <a:spcAft>
                <a:spcPts val="0"/>
              </a:spcAft>
              <a:buClr>
                <a:srgbClr val="CFD0D8"/>
              </a:buClr>
              <a:buSzPts val="1450"/>
              <a:buFont typeface="Consolas"/>
              <a:buNone/>
            </a:pPr>
            <a:r>
              <a:rPr b="0" i="0" lang="en-US" sz="1450" u="none" cap="none" strike="noStrike">
                <a:solidFill>
                  <a:srgbClr val="CFD0D8"/>
                </a:solidFill>
                <a:highlight>
                  <a:srgbClr val="37373A"/>
                </a:highlight>
                <a:latin typeface="Consolas"/>
                <a:ea typeface="Consolas"/>
                <a:cs typeface="Consolas"/>
                <a:sym typeface="Consolas"/>
              </a:rPr>
              <a:t>  Employees;</a:t>
            </a:r>
            <a:endParaRPr b="0" i="0" sz="1450" u="none" cap="none" strike="noStrike"/>
          </a:p>
        </p:txBody>
      </p:sp>
      <p:sp>
        <p:nvSpPr>
          <p:cNvPr id="148" name="Google Shape;148;p24"/>
          <p:cNvSpPr/>
          <p:nvPr/>
        </p:nvSpPr>
        <p:spPr>
          <a:xfrm>
            <a:off x="7547610" y="5633561"/>
            <a:ext cx="6134576" cy="1351121"/>
          </a:xfrm>
          <a:prstGeom prst="rect">
            <a:avLst/>
          </a:prstGeom>
          <a:noFill/>
          <a:ln>
            <a:noFill/>
          </a:ln>
        </p:spPr>
        <p:txBody>
          <a:bodyPr anchorCtr="0" anchor="t" bIns="0" lIns="0" spcFirstLastPara="1" rIns="0" wrap="square" tIns="0">
            <a:noAutofit/>
          </a:bodyPr>
          <a:lstStyle/>
          <a:p>
            <a:pPr indent="0" lvl="0" marL="0" marR="0" rtl="0" algn="l">
              <a:lnSpc>
                <a:spcPct val="144827"/>
              </a:lnSpc>
              <a:spcBef>
                <a:spcPts val="0"/>
              </a:spcBef>
              <a:spcAft>
                <a:spcPts val="0"/>
              </a:spcAft>
              <a:buClr>
                <a:srgbClr val="CFD0D8"/>
              </a:buClr>
              <a:buSzPts val="1450"/>
              <a:buFont typeface="Instrument Sans"/>
              <a:buNone/>
            </a:pPr>
            <a:r>
              <a:rPr b="0" i="0" lang="en-US" sz="1450" u="none" cap="none" strike="noStrike">
                <a:solidFill>
                  <a:srgbClr val="CFD0D8"/>
                </a:solidFill>
                <a:latin typeface="Instrument Sans"/>
                <a:ea typeface="Instrument Sans"/>
                <a:cs typeface="Instrument Sans"/>
                <a:sym typeface="Instrument Sans"/>
              </a:rPr>
              <a:t>This query ranks employees by salary within each department. If two employees in the same department have the same salary, they will share the same </a:t>
            </a:r>
            <a:r>
              <a:rPr b="0" i="0" lang="en-US" sz="1450" u="none" cap="none" strike="noStrike">
                <a:solidFill>
                  <a:srgbClr val="CFD0D8"/>
                </a:solidFill>
                <a:highlight>
                  <a:srgbClr val="37373A"/>
                </a:highlight>
                <a:latin typeface="Consolas"/>
                <a:ea typeface="Consolas"/>
                <a:cs typeface="Consolas"/>
                <a:sym typeface="Consolas"/>
              </a:rPr>
              <a:t>salary_rank</a:t>
            </a:r>
            <a:r>
              <a:rPr b="0" i="0" lang="en-US" sz="1450" u="none" cap="none" strike="noStrike">
                <a:solidFill>
                  <a:srgbClr val="CFD0D8"/>
                </a:solidFill>
                <a:latin typeface="Instrument Sans"/>
                <a:ea typeface="Instrument Sans"/>
                <a:cs typeface="Instrument Sans"/>
                <a:sym typeface="Instrument Sans"/>
              </a:rPr>
              <a:t>, and the rank following them will reflect the skipped position. For instance, if two employees are tied for 2nd highest salary, both get rank 2, and the next employee gets rank 4.</a:t>
            </a:r>
            <a:endParaRPr b="0" i="0" sz="145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5"/>
          <p:cNvSpPr/>
          <p:nvPr/>
        </p:nvSpPr>
        <p:spPr>
          <a:xfrm>
            <a:off x="1173004" y="1125379"/>
            <a:ext cx="8177093" cy="556260"/>
          </a:xfrm>
          <a:prstGeom prst="rect">
            <a:avLst/>
          </a:prstGeom>
          <a:noFill/>
          <a:ln>
            <a:noFill/>
          </a:ln>
        </p:spPr>
        <p:txBody>
          <a:bodyPr anchorCtr="0" anchor="t" bIns="0" lIns="0" spcFirstLastPara="1" rIns="0" wrap="square" tIns="0">
            <a:noAutofit/>
          </a:bodyPr>
          <a:lstStyle/>
          <a:p>
            <a:pPr indent="0" lvl="0" marL="0" marR="0" rtl="0" algn="l">
              <a:lnSpc>
                <a:spcPct val="124285"/>
              </a:lnSpc>
              <a:spcBef>
                <a:spcPts val="0"/>
              </a:spcBef>
              <a:spcAft>
                <a:spcPts val="0"/>
              </a:spcAft>
              <a:buClr>
                <a:srgbClr val="CBCCCE"/>
              </a:buClr>
              <a:buSzPts val="3500"/>
              <a:buFont typeface="Instrument Sans"/>
              <a:buNone/>
            </a:pPr>
            <a:r>
              <a:rPr b="0" i="0" lang="en-US" sz="3500" u="none" cap="none" strike="noStrike">
                <a:solidFill>
                  <a:srgbClr val="CBCCCE"/>
                </a:solidFill>
                <a:latin typeface="Instrument Sans"/>
                <a:ea typeface="Instrument Sans"/>
                <a:cs typeface="Instrument Sans"/>
                <a:sym typeface="Instrument Sans"/>
              </a:rPr>
              <a:t>DENSE_RANK(): Ranking Without Gaps</a:t>
            </a:r>
            <a:endParaRPr b="0" i="0" sz="3500" u="none" cap="none" strike="noStrike"/>
          </a:p>
        </p:txBody>
      </p:sp>
      <p:sp>
        <p:nvSpPr>
          <p:cNvPr id="155" name="Google Shape;155;p25"/>
          <p:cNvSpPr/>
          <p:nvPr/>
        </p:nvSpPr>
        <p:spPr>
          <a:xfrm>
            <a:off x="1044773" y="1891189"/>
            <a:ext cx="6181368" cy="5212913"/>
          </a:xfrm>
          <a:prstGeom prst="roundRect">
            <a:avLst>
              <a:gd fmla="val 2459" name="adj"/>
            </a:avLst>
          </a:prstGeom>
          <a:solidFill>
            <a:srgbClr val="D5D5D8">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5"/>
          <p:cNvSpPr/>
          <p:nvPr/>
        </p:nvSpPr>
        <p:spPr>
          <a:xfrm>
            <a:off x="1222772" y="2030849"/>
            <a:ext cx="3387328" cy="278130"/>
          </a:xfrm>
          <a:prstGeom prst="rect">
            <a:avLst/>
          </a:prstGeom>
          <a:noFill/>
          <a:ln>
            <a:noFill/>
          </a:ln>
        </p:spPr>
        <p:txBody>
          <a:bodyPr anchorCtr="0" anchor="t" bIns="0" lIns="0" spcFirstLastPara="1" rIns="0" wrap="square" tIns="0">
            <a:noAutofit/>
          </a:bodyPr>
          <a:lstStyle/>
          <a:p>
            <a:pPr indent="0" lvl="0" marL="0" marR="0" rtl="0" algn="l">
              <a:lnSpc>
                <a:spcPct val="122857"/>
              </a:lnSpc>
              <a:spcBef>
                <a:spcPts val="0"/>
              </a:spcBef>
              <a:spcAft>
                <a:spcPts val="0"/>
              </a:spcAft>
              <a:buClr>
                <a:srgbClr val="000000"/>
              </a:buClr>
              <a:buSzPts val="1750"/>
              <a:buFont typeface="Instrument Sans SemiBold"/>
              <a:buNone/>
            </a:pPr>
            <a:r>
              <a:rPr b="1" i="0" lang="en-US" sz="1750" u="none" cap="none" strike="noStrike">
                <a:solidFill>
                  <a:srgbClr val="000000"/>
                </a:solidFill>
                <a:latin typeface="Instrument Sans SemiBold"/>
                <a:ea typeface="Instrument Sans SemiBold"/>
                <a:cs typeface="Instrument Sans SemiBold"/>
                <a:sym typeface="Instrument Sans SemiBold"/>
              </a:rPr>
              <a:t>How it Works &amp; When to Apply It</a:t>
            </a:r>
            <a:endParaRPr b="0" i="0" sz="1750" u="none" cap="none" strike="noStrike"/>
          </a:p>
        </p:txBody>
      </p:sp>
      <p:sp>
        <p:nvSpPr>
          <p:cNvPr id="157" name="Google Shape;157;p25"/>
          <p:cNvSpPr/>
          <p:nvPr/>
        </p:nvSpPr>
        <p:spPr>
          <a:xfrm>
            <a:off x="1222772" y="2448639"/>
            <a:ext cx="5825371" cy="1062038"/>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000000"/>
              </a:buClr>
              <a:buSzPts val="1400"/>
              <a:buFont typeface="Consolas"/>
              <a:buNone/>
            </a:pPr>
            <a:r>
              <a:rPr b="0" i="0" lang="en-US" sz="1400" u="none" cap="none" strike="noStrike">
                <a:solidFill>
                  <a:srgbClr val="000000"/>
                </a:solidFill>
                <a:highlight>
                  <a:srgbClr val="C8C8CB"/>
                </a:highlight>
                <a:latin typeface="Consolas"/>
                <a:ea typeface="Consolas"/>
                <a:cs typeface="Consolas"/>
                <a:sym typeface="Consolas"/>
              </a:rPr>
              <a:t>DENSE_RANK()</a:t>
            </a:r>
            <a:r>
              <a:rPr b="0" i="0" lang="en-US" sz="1400" u="none" cap="none" strike="noStrike">
                <a:solidFill>
                  <a:srgbClr val="000000"/>
                </a:solidFill>
                <a:latin typeface="Instrument Sans Medium"/>
                <a:ea typeface="Instrument Sans Medium"/>
                <a:cs typeface="Instrument Sans Medium"/>
                <a:sym typeface="Instrument Sans Medium"/>
              </a:rPr>
              <a:t> assigns a rank to each row within a partition, similar to </a:t>
            </a:r>
            <a:r>
              <a:rPr b="0" i="0" lang="en-US" sz="1400" u="none" cap="none" strike="noStrike">
                <a:solidFill>
                  <a:srgbClr val="000000"/>
                </a:solidFill>
                <a:highlight>
                  <a:srgbClr val="C8C8CB"/>
                </a:highlight>
                <a:latin typeface="Consolas"/>
                <a:ea typeface="Consolas"/>
                <a:cs typeface="Consolas"/>
                <a:sym typeface="Consolas"/>
              </a:rPr>
              <a:t>RANK()</a:t>
            </a:r>
            <a:r>
              <a:rPr b="0" i="0" lang="en-US" sz="1400" u="none" cap="none" strike="noStrike">
                <a:solidFill>
                  <a:srgbClr val="000000"/>
                </a:solidFill>
                <a:latin typeface="Instrument Sans Medium"/>
                <a:ea typeface="Instrument Sans Medium"/>
                <a:cs typeface="Instrument Sans Medium"/>
                <a:sym typeface="Instrument Sans Medium"/>
              </a:rPr>
              <a:t>. However, when multiple rows have identical values (a tie), they receive the same rank, and crucially, </a:t>
            </a:r>
            <a:r>
              <a:rPr b="1" i="0" lang="en-US" sz="1400" u="none" cap="none" strike="noStrike">
                <a:solidFill>
                  <a:srgbClr val="000000"/>
                </a:solidFill>
                <a:latin typeface="Instrument Sans Medium"/>
                <a:ea typeface="Instrument Sans Medium"/>
                <a:cs typeface="Instrument Sans Medium"/>
                <a:sym typeface="Instrument Sans Medium"/>
              </a:rPr>
              <a:t>no gaps are created</a:t>
            </a:r>
            <a:r>
              <a:rPr b="0" i="0" lang="en-US" sz="1400" u="none" cap="none" strike="noStrike">
                <a:solidFill>
                  <a:srgbClr val="000000"/>
                </a:solidFill>
                <a:latin typeface="Instrument Sans Medium"/>
                <a:ea typeface="Instrument Sans Medium"/>
                <a:cs typeface="Instrument Sans Medium"/>
                <a:sym typeface="Instrument Sans Medium"/>
              </a:rPr>
              <a:t> in the subsequent numbering sequence.</a:t>
            </a:r>
            <a:endParaRPr b="0" i="0" sz="1400" u="none" cap="none" strike="noStrike"/>
          </a:p>
        </p:txBody>
      </p:sp>
      <p:sp>
        <p:nvSpPr>
          <p:cNvPr id="158" name="Google Shape;158;p25"/>
          <p:cNvSpPr/>
          <p:nvPr/>
        </p:nvSpPr>
        <p:spPr>
          <a:xfrm>
            <a:off x="1222772" y="3636407"/>
            <a:ext cx="5825371" cy="785098"/>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000000"/>
              </a:buClr>
              <a:buSzPts val="1400"/>
              <a:buFont typeface="Instrument Sans Medium"/>
              <a:buNone/>
            </a:pPr>
            <a:r>
              <a:rPr b="0" i="0" lang="en-US" sz="1400" u="none" cap="none" strike="noStrike">
                <a:solidFill>
                  <a:srgbClr val="000000"/>
                </a:solidFill>
                <a:latin typeface="Instrument Sans Medium"/>
                <a:ea typeface="Instrument Sans Medium"/>
                <a:cs typeface="Instrument Sans Medium"/>
                <a:sym typeface="Instrument Sans Medium"/>
              </a:rPr>
              <a:t>For example, if two rows tie for rank 2, the next distinct rank will be 3 (ranks 1, 2, 2, </a:t>
            </a:r>
            <a:r>
              <a:rPr b="0" i="0" lang="en-US" sz="1400" u="none" cap="none" strike="noStrike">
                <a:solidFill>
                  <a:srgbClr val="008000"/>
                </a:solidFill>
                <a:latin typeface="Instrument Sans Medium"/>
                <a:ea typeface="Instrument Sans Medium"/>
                <a:cs typeface="Instrument Sans Medium"/>
                <a:sym typeface="Instrument Sans Medium"/>
              </a:rPr>
              <a:t>3</a:t>
            </a:r>
            <a:r>
              <a:rPr b="0" i="0" lang="en-US" sz="1400" u="none" cap="none" strike="noStrike">
                <a:solidFill>
                  <a:srgbClr val="000000"/>
                </a:solidFill>
                <a:latin typeface="Instrument Sans Medium"/>
                <a:ea typeface="Instrument Sans Medium"/>
                <a:cs typeface="Instrument Sans Medium"/>
                <a:sym typeface="Instrument Sans Medium"/>
              </a:rPr>
              <a:t>). This is the key difference from </a:t>
            </a:r>
            <a:r>
              <a:rPr b="0" i="0" lang="en-US" sz="1400" u="none" cap="none" strike="noStrike">
                <a:solidFill>
                  <a:srgbClr val="000000"/>
                </a:solidFill>
                <a:highlight>
                  <a:srgbClr val="C8C8CB"/>
                </a:highlight>
                <a:latin typeface="Consolas"/>
                <a:ea typeface="Consolas"/>
                <a:cs typeface="Consolas"/>
                <a:sym typeface="Consolas"/>
              </a:rPr>
              <a:t>RANK()</a:t>
            </a:r>
            <a:r>
              <a:rPr b="0" i="0" lang="en-US" sz="1400" u="none" cap="none" strike="noStrike">
                <a:solidFill>
                  <a:srgbClr val="000000"/>
                </a:solidFill>
                <a:latin typeface="Instrument Sans Medium"/>
                <a:ea typeface="Instrument Sans Medium"/>
                <a:cs typeface="Instrument Sans Medium"/>
                <a:sym typeface="Instrument Sans Medium"/>
              </a:rPr>
              <a:t> which would skip rank 3.</a:t>
            </a:r>
            <a:endParaRPr b="0" i="0" sz="1400" u="none" cap="none" strike="noStrike"/>
          </a:p>
        </p:txBody>
      </p:sp>
      <p:sp>
        <p:nvSpPr>
          <p:cNvPr id="159" name="Google Shape;159;p25"/>
          <p:cNvSpPr/>
          <p:nvPr/>
        </p:nvSpPr>
        <p:spPr>
          <a:xfrm>
            <a:off x="1222772" y="4547235"/>
            <a:ext cx="5825371" cy="1525292"/>
          </a:xfrm>
          <a:prstGeom prst="rect">
            <a:avLst/>
          </a:prstGeom>
          <a:noFill/>
          <a:ln>
            <a:noFill/>
          </a:ln>
        </p:spPr>
        <p:txBody>
          <a:bodyPr anchorCtr="0" anchor="t" bIns="0" lIns="0" spcFirstLastPara="1" rIns="0" wrap="square" tIns="0">
            <a:noAutofit/>
          </a:bodyPr>
          <a:lstStyle/>
          <a:p>
            <a:pPr indent="-342900" lvl="0" marL="342900" marR="0" rtl="0" algn="l">
              <a:lnSpc>
                <a:spcPct val="142857"/>
              </a:lnSpc>
              <a:spcBef>
                <a:spcPts val="0"/>
              </a:spcBef>
              <a:spcAft>
                <a:spcPts val="0"/>
              </a:spcAft>
              <a:buClr>
                <a:srgbClr val="000000"/>
              </a:buClr>
              <a:buSzPts val="1400"/>
              <a:buFont typeface="Instrument Sans Medium"/>
              <a:buChar char="•"/>
            </a:pPr>
            <a:r>
              <a:rPr b="0" i="0" lang="en-US" sz="1400" u="none" cap="none" strike="noStrike">
                <a:solidFill>
                  <a:srgbClr val="000000"/>
                </a:solidFill>
                <a:latin typeface="Instrument Sans Medium"/>
                <a:ea typeface="Instrument Sans Medium"/>
                <a:cs typeface="Instrument Sans Medium"/>
                <a:sym typeface="Instrument Sans Medium"/>
              </a:rPr>
              <a:t>Creating leaderboards where ties should not affect the numbering of subsequent ranks.</a:t>
            </a:r>
            <a:endParaRPr b="0" i="0" sz="1400" u="none" cap="none" strike="noStrike"/>
          </a:p>
          <a:p>
            <a:pPr indent="-342900" lvl="0" marL="342900" marR="0" rtl="0" algn="l">
              <a:lnSpc>
                <a:spcPct val="142857"/>
              </a:lnSpc>
              <a:spcBef>
                <a:spcPts val="0"/>
              </a:spcBef>
              <a:spcAft>
                <a:spcPts val="0"/>
              </a:spcAft>
              <a:buClr>
                <a:srgbClr val="000000"/>
              </a:buClr>
              <a:buSzPts val="1400"/>
              <a:buFont typeface="Instrument Sans Medium"/>
              <a:buChar char="•"/>
            </a:pPr>
            <a:r>
              <a:rPr b="0" i="0" lang="en-US" sz="1400" u="none" cap="none" strike="noStrike">
                <a:solidFill>
                  <a:srgbClr val="000000"/>
                </a:solidFill>
                <a:latin typeface="Instrument Sans Medium"/>
                <a:ea typeface="Instrument Sans Medium"/>
                <a:cs typeface="Instrument Sans Medium"/>
                <a:sym typeface="Instrument Sans Medium"/>
              </a:rPr>
              <a:t>Ranking products or entities where a continuous sequence of ranks is important.</a:t>
            </a:r>
            <a:endParaRPr b="0" i="0" sz="1400" u="none" cap="none" strike="noStrike"/>
          </a:p>
          <a:p>
            <a:pPr indent="-342900" lvl="0" marL="342900" marR="0" rtl="0" algn="l">
              <a:lnSpc>
                <a:spcPct val="142857"/>
              </a:lnSpc>
              <a:spcBef>
                <a:spcPts val="0"/>
              </a:spcBef>
              <a:spcAft>
                <a:spcPts val="0"/>
              </a:spcAft>
              <a:buClr>
                <a:srgbClr val="000000"/>
              </a:buClr>
              <a:buSzPts val="1400"/>
              <a:buFont typeface="Instrument Sans Medium"/>
              <a:buChar char="•"/>
            </a:pPr>
            <a:r>
              <a:rPr b="0" i="0" lang="en-US" sz="1400" u="none" cap="none" strike="noStrike">
                <a:solidFill>
                  <a:srgbClr val="000000"/>
                </a:solidFill>
                <a:latin typeface="Instrument Sans Medium"/>
                <a:ea typeface="Instrument Sans Medium"/>
                <a:cs typeface="Instrument Sans Medium"/>
                <a:sym typeface="Instrument Sans Medium"/>
              </a:rPr>
              <a:t>Identifying top performers without skipping rank numbers due to identical scores.</a:t>
            </a:r>
            <a:endParaRPr b="0" i="0" sz="1400" u="none" cap="none" strike="noStrike"/>
          </a:p>
        </p:txBody>
      </p:sp>
      <p:sp>
        <p:nvSpPr>
          <p:cNvPr id="160" name="Google Shape;160;p25"/>
          <p:cNvSpPr/>
          <p:nvPr/>
        </p:nvSpPr>
        <p:spPr>
          <a:xfrm>
            <a:off x="7539871" y="2030849"/>
            <a:ext cx="2918936" cy="278130"/>
          </a:xfrm>
          <a:prstGeom prst="rect">
            <a:avLst/>
          </a:prstGeom>
          <a:noFill/>
          <a:ln>
            <a:noFill/>
          </a:ln>
        </p:spPr>
        <p:txBody>
          <a:bodyPr anchorCtr="0" anchor="t" bIns="0" lIns="0" spcFirstLastPara="1" rIns="0" wrap="square" tIns="0">
            <a:noAutofit/>
          </a:bodyPr>
          <a:lstStyle/>
          <a:p>
            <a:pPr indent="0" lvl="0" marL="0" marR="0" rtl="0" algn="l">
              <a:lnSpc>
                <a:spcPct val="122857"/>
              </a:lnSpc>
              <a:spcBef>
                <a:spcPts val="0"/>
              </a:spcBef>
              <a:spcAft>
                <a:spcPts val="0"/>
              </a:spcAft>
              <a:buClr>
                <a:srgbClr val="CBCCCE"/>
              </a:buClr>
              <a:buSzPts val="1750"/>
              <a:buFont typeface="Instrument Sans"/>
              <a:buNone/>
            </a:pPr>
            <a:r>
              <a:rPr b="0" i="0" lang="en-US" sz="1750" u="none" cap="none" strike="noStrike">
                <a:solidFill>
                  <a:srgbClr val="CBCCCE"/>
                </a:solidFill>
                <a:latin typeface="Instrument Sans"/>
                <a:ea typeface="Instrument Sans"/>
                <a:cs typeface="Instrument Sans"/>
                <a:sym typeface="Instrument Sans"/>
              </a:rPr>
              <a:t>Syntax &amp; Practical Use Case</a:t>
            </a:r>
            <a:endParaRPr b="0" i="0" sz="1750" u="none" cap="none" strike="noStrike"/>
          </a:p>
        </p:txBody>
      </p:sp>
      <p:sp>
        <p:nvSpPr>
          <p:cNvPr id="161" name="Google Shape;161;p25"/>
          <p:cNvSpPr/>
          <p:nvPr/>
        </p:nvSpPr>
        <p:spPr>
          <a:xfrm>
            <a:off x="7539871" y="2466142"/>
            <a:ext cx="5924907" cy="2807732"/>
          </a:xfrm>
          <a:prstGeom prst="roundRect">
            <a:avLst>
              <a:gd fmla="val 2663" name="adj"/>
            </a:avLst>
          </a:prstGeom>
          <a:solidFill>
            <a:srgbClr val="3737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5"/>
          <p:cNvSpPr/>
          <p:nvPr/>
        </p:nvSpPr>
        <p:spPr>
          <a:xfrm>
            <a:off x="7531060" y="2466142"/>
            <a:ext cx="5942528" cy="2807732"/>
          </a:xfrm>
          <a:prstGeom prst="roundRect">
            <a:avLst>
              <a:gd fmla="val 951" name="adj"/>
            </a:avLst>
          </a:prstGeom>
          <a:solidFill>
            <a:srgbClr val="3737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5"/>
          <p:cNvSpPr/>
          <p:nvPr/>
        </p:nvSpPr>
        <p:spPr>
          <a:xfrm>
            <a:off x="7709059" y="2599611"/>
            <a:ext cx="5586532" cy="2540794"/>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CFD0D8"/>
              </a:buClr>
              <a:buSzPts val="1400"/>
              <a:buFont typeface="Consolas"/>
              <a:buNone/>
            </a:pPr>
            <a:r>
              <a:rPr b="0" i="0" lang="en-US" sz="1400" u="none" cap="none" strike="noStrike">
                <a:solidFill>
                  <a:srgbClr val="CFD0D8"/>
                </a:solidFill>
                <a:highlight>
                  <a:srgbClr val="37373A"/>
                </a:highlight>
                <a:latin typeface="Consolas"/>
                <a:ea typeface="Consolas"/>
                <a:cs typeface="Consolas"/>
                <a:sym typeface="Consolas"/>
              </a:rPr>
              <a:t>SELECT</a:t>
            </a:r>
            <a:endParaRPr b="0" i="0" sz="1400" u="none" cap="none" strike="noStrike"/>
          </a:p>
          <a:p>
            <a:pPr indent="0" lvl="0" marL="0" marR="0" rtl="0" algn="l">
              <a:lnSpc>
                <a:spcPct val="142857"/>
              </a:lnSpc>
              <a:spcBef>
                <a:spcPts val="0"/>
              </a:spcBef>
              <a:spcAft>
                <a:spcPts val="0"/>
              </a:spcAft>
              <a:buClr>
                <a:srgbClr val="CFD0D8"/>
              </a:buClr>
              <a:buSzPts val="1400"/>
              <a:buFont typeface="Consolas"/>
              <a:buNone/>
            </a:pPr>
            <a:r>
              <a:rPr b="0" i="0" lang="en-US" sz="1400" u="none" cap="none" strike="noStrike">
                <a:solidFill>
                  <a:srgbClr val="CFD0D8"/>
                </a:solidFill>
                <a:highlight>
                  <a:srgbClr val="37373A"/>
                </a:highlight>
                <a:latin typeface="Consolas"/>
                <a:ea typeface="Consolas"/>
                <a:cs typeface="Consolas"/>
                <a:sym typeface="Consolas"/>
              </a:rPr>
              <a:t>  product_category,</a:t>
            </a:r>
            <a:endParaRPr b="0" i="0" sz="1400" u="none" cap="none" strike="noStrike"/>
          </a:p>
          <a:p>
            <a:pPr indent="0" lvl="0" marL="0" marR="0" rtl="0" algn="l">
              <a:lnSpc>
                <a:spcPct val="142857"/>
              </a:lnSpc>
              <a:spcBef>
                <a:spcPts val="0"/>
              </a:spcBef>
              <a:spcAft>
                <a:spcPts val="0"/>
              </a:spcAft>
              <a:buClr>
                <a:srgbClr val="CFD0D8"/>
              </a:buClr>
              <a:buSzPts val="1400"/>
              <a:buFont typeface="Consolas"/>
              <a:buNone/>
            </a:pPr>
            <a:r>
              <a:rPr b="0" i="0" lang="en-US" sz="1400" u="none" cap="none" strike="noStrike">
                <a:solidFill>
                  <a:srgbClr val="CFD0D8"/>
                </a:solidFill>
                <a:highlight>
                  <a:srgbClr val="37373A"/>
                </a:highlight>
                <a:latin typeface="Consolas"/>
                <a:ea typeface="Consolas"/>
                <a:cs typeface="Consolas"/>
                <a:sym typeface="Consolas"/>
              </a:rPr>
              <a:t>  product_name,</a:t>
            </a:r>
            <a:endParaRPr b="0" i="0" sz="1400" u="none" cap="none" strike="noStrike"/>
          </a:p>
          <a:p>
            <a:pPr indent="0" lvl="0" marL="0" marR="0" rtl="0" algn="l">
              <a:lnSpc>
                <a:spcPct val="142857"/>
              </a:lnSpc>
              <a:spcBef>
                <a:spcPts val="0"/>
              </a:spcBef>
              <a:spcAft>
                <a:spcPts val="0"/>
              </a:spcAft>
              <a:buClr>
                <a:srgbClr val="CFD0D8"/>
              </a:buClr>
              <a:buSzPts val="1400"/>
              <a:buFont typeface="Consolas"/>
              <a:buNone/>
            </a:pPr>
            <a:r>
              <a:rPr b="0" i="0" lang="en-US" sz="1400" u="none" cap="none" strike="noStrike">
                <a:solidFill>
                  <a:srgbClr val="CFD0D8"/>
                </a:solidFill>
                <a:highlight>
                  <a:srgbClr val="37373A"/>
                </a:highlight>
                <a:latin typeface="Consolas"/>
                <a:ea typeface="Consolas"/>
                <a:cs typeface="Consolas"/>
                <a:sym typeface="Consolas"/>
              </a:rPr>
              <a:t>  sales_amount,</a:t>
            </a:r>
            <a:endParaRPr b="0" i="0" sz="1400" u="none" cap="none" strike="noStrike"/>
          </a:p>
          <a:p>
            <a:pPr indent="0" lvl="0" marL="0" marR="0" rtl="0" algn="l">
              <a:lnSpc>
                <a:spcPct val="142857"/>
              </a:lnSpc>
              <a:spcBef>
                <a:spcPts val="0"/>
              </a:spcBef>
              <a:spcAft>
                <a:spcPts val="0"/>
              </a:spcAft>
              <a:buClr>
                <a:srgbClr val="CFD0D8"/>
              </a:buClr>
              <a:buSzPts val="1400"/>
              <a:buFont typeface="Consolas"/>
              <a:buNone/>
            </a:pPr>
            <a:r>
              <a:rPr b="0" i="0" lang="en-US" sz="1400" u="none" cap="none" strike="noStrike">
                <a:solidFill>
                  <a:srgbClr val="CFD0D8"/>
                </a:solidFill>
                <a:highlight>
                  <a:srgbClr val="37373A"/>
                </a:highlight>
                <a:latin typeface="Consolas"/>
                <a:ea typeface="Consolas"/>
                <a:cs typeface="Consolas"/>
                <a:sym typeface="Consolas"/>
              </a:rPr>
              <a:t>  DENSE_RANK() OVER (</a:t>
            </a:r>
            <a:endParaRPr b="0" i="0" sz="1400" u="none" cap="none" strike="noStrike"/>
          </a:p>
          <a:p>
            <a:pPr indent="0" lvl="0" marL="0" marR="0" rtl="0" algn="l">
              <a:lnSpc>
                <a:spcPct val="142857"/>
              </a:lnSpc>
              <a:spcBef>
                <a:spcPts val="0"/>
              </a:spcBef>
              <a:spcAft>
                <a:spcPts val="0"/>
              </a:spcAft>
              <a:buClr>
                <a:srgbClr val="CFD0D8"/>
              </a:buClr>
              <a:buSzPts val="1400"/>
              <a:buFont typeface="Consolas"/>
              <a:buNone/>
            </a:pPr>
            <a:r>
              <a:rPr b="0" i="0" lang="en-US" sz="1400" u="none" cap="none" strike="noStrike">
                <a:solidFill>
                  <a:srgbClr val="CFD0D8"/>
                </a:solidFill>
                <a:highlight>
                  <a:srgbClr val="37373A"/>
                </a:highlight>
                <a:latin typeface="Consolas"/>
                <a:ea typeface="Consolas"/>
                <a:cs typeface="Consolas"/>
                <a:sym typeface="Consolas"/>
              </a:rPr>
              <a:t>    PARTITION BY product_category</a:t>
            </a:r>
            <a:endParaRPr b="0" i="0" sz="1400" u="none" cap="none" strike="noStrike"/>
          </a:p>
          <a:p>
            <a:pPr indent="0" lvl="0" marL="0" marR="0" rtl="0" algn="l">
              <a:lnSpc>
                <a:spcPct val="142857"/>
              </a:lnSpc>
              <a:spcBef>
                <a:spcPts val="0"/>
              </a:spcBef>
              <a:spcAft>
                <a:spcPts val="0"/>
              </a:spcAft>
              <a:buClr>
                <a:srgbClr val="CFD0D8"/>
              </a:buClr>
              <a:buSzPts val="1400"/>
              <a:buFont typeface="Consolas"/>
              <a:buNone/>
            </a:pPr>
            <a:r>
              <a:rPr b="0" i="0" lang="en-US" sz="1400" u="none" cap="none" strike="noStrike">
                <a:solidFill>
                  <a:srgbClr val="CFD0D8"/>
                </a:solidFill>
                <a:highlight>
                  <a:srgbClr val="37373A"/>
                </a:highlight>
                <a:latin typeface="Consolas"/>
                <a:ea typeface="Consolas"/>
                <a:cs typeface="Consolas"/>
                <a:sym typeface="Consolas"/>
              </a:rPr>
              <a:t>    ORDER BY sales_amount DESC</a:t>
            </a:r>
            <a:endParaRPr b="0" i="0" sz="1400" u="none" cap="none" strike="noStrike"/>
          </a:p>
          <a:p>
            <a:pPr indent="0" lvl="0" marL="0" marR="0" rtl="0" algn="l">
              <a:lnSpc>
                <a:spcPct val="142857"/>
              </a:lnSpc>
              <a:spcBef>
                <a:spcPts val="0"/>
              </a:spcBef>
              <a:spcAft>
                <a:spcPts val="0"/>
              </a:spcAft>
              <a:buClr>
                <a:srgbClr val="CFD0D8"/>
              </a:buClr>
              <a:buSzPts val="1400"/>
              <a:buFont typeface="Consolas"/>
              <a:buNone/>
            </a:pPr>
            <a:r>
              <a:rPr b="0" i="0" lang="en-US" sz="1400" u="none" cap="none" strike="noStrike">
                <a:solidFill>
                  <a:srgbClr val="CFD0D8"/>
                </a:solidFill>
                <a:highlight>
                  <a:srgbClr val="37373A"/>
                </a:highlight>
                <a:latin typeface="Consolas"/>
                <a:ea typeface="Consolas"/>
                <a:cs typeface="Consolas"/>
                <a:sym typeface="Consolas"/>
              </a:rPr>
              <a:t>  ) as sales_rank</a:t>
            </a:r>
            <a:endParaRPr b="0" i="0" sz="1400" u="none" cap="none" strike="noStrike"/>
          </a:p>
          <a:p>
            <a:pPr indent="0" lvl="0" marL="0" marR="0" rtl="0" algn="l">
              <a:lnSpc>
                <a:spcPct val="142857"/>
              </a:lnSpc>
              <a:spcBef>
                <a:spcPts val="0"/>
              </a:spcBef>
              <a:spcAft>
                <a:spcPts val="0"/>
              </a:spcAft>
              <a:buClr>
                <a:srgbClr val="CFD0D8"/>
              </a:buClr>
              <a:buSzPts val="1400"/>
              <a:buFont typeface="Consolas"/>
              <a:buNone/>
            </a:pPr>
            <a:r>
              <a:rPr b="0" i="0" lang="en-US" sz="1400" u="none" cap="none" strike="noStrike">
                <a:solidFill>
                  <a:srgbClr val="CFD0D8"/>
                </a:solidFill>
                <a:highlight>
                  <a:srgbClr val="37373A"/>
                </a:highlight>
                <a:latin typeface="Consolas"/>
                <a:ea typeface="Consolas"/>
                <a:cs typeface="Consolas"/>
                <a:sym typeface="Consolas"/>
              </a:rPr>
              <a:t>FROM</a:t>
            </a:r>
            <a:endParaRPr b="0" i="0" sz="1400" u="none" cap="none" strike="noStrike"/>
          </a:p>
          <a:p>
            <a:pPr indent="0" lvl="0" marL="0" marR="0" rtl="0" algn="l">
              <a:lnSpc>
                <a:spcPct val="142857"/>
              </a:lnSpc>
              <a:spcBef>
                <a:spcPts val="0"/>
              </a:spcBef>
              <a:spcAft>
                <a:spcPts val="0"/>
              </a:spcAft>
              <a:buClr>
                <a:srgbClr val="CFD0D8"/>
              </a:buClr>
              <a:buSzPts val="1400"/>
              <a:buFont typeface="Consolas"/>
              <a:buNone/>
            </a:pPr>
            <a:r>
              <a:rPr b="0" i="0" lang="en-US" sz="1400" u="none" cap="none" strike="noStrike">
                <a:solidFill>
                  <a:srgbClr val="CFD0D8"/>
                </a:solidFill>
                <a:highlight>
                  <a:srgbClr val="37373A"/>
                </a:highlight>
                <a:latin typeface="Consolas"/>
                <a:ea typeface="Consolas"/>
                <a:cs typeface="Consolas"/>
                <a:sym typeface="Consolas"/>
              </a:rPr>
              <a:t>  ProductSales;</a:t>
            </a:r>
            <a:endParaRPr b="0" i="0" sz="1400" u="none" cap="none" strike="noStrike"/>
          </a:p>
        </p:txBody>
      </p:sp>
      <p:sp>
        <p:nvSpPr>
          <p:cNvPr id="164" name="Google Shape;164;p25"/>
          <p:cNvSpPr/>
          <p:nvPr/>
        </p:nvSpPr>
        <p:spPr>
          <a:xfrm>
            <a:off x="7539871" y="5622144"/>
            <a:ext cx="5925000" cy="1547400"/>
          </a:xfrm>
          <a:prstGeom prst="rect">
            <a:avLst/>
          </a:prstGeom>
          <a:noFill/>
          <a:ln>
            <a:noFill/>
          </a:ln>
        </p:spPr>
        <p:txBody>
          <a:bodyPr anchorCtr="0" anchor="t" bIns="0" lIns="0" spcFirstLastPara="1" rIns="0" wrap="square" tIns="0">
            <a:noAutofit/>
          </a:bodyPr>
          <a:lstStyle/>
          <a:p>
            <a:pPr indent="0" lvl="0" marL="0" marR="0" rtl="0" algn="l">
              <a:lnSpc>
                <a:spcPct val="142857"/>
              </a:lnSpc>
              <a:spcBef>
                <a:spcPts val="0"/>
              </a:spcBef>
              <a:spcAft>
                <a:spcPts val="0"/>
              </a:spcAft>
              <a:buClr>
                <a:srgbClr val="CFD0D8"/>
              </a:buClr>
              <a:buSzPts val="1400"/>
              <a:buFont typeface="Instrument Sans"/>
              <a:buNone/>
            </a:pPr>
            <a:r>
              <a:rPr b="0" i="0" lang="en-US" sz="1400" u="none" cap="none" strike="noStrike">
                <a:solidFill>
                  <a:srgbClr val="CFD0D8"/>
                </a:solidFill>
                <a:latin typeface="Instrument Sans"/>
                <a:ea typeface="Instrument Sans"/>
                <a:cs typeface="Instrument Sans"/>
                <a:sym typeface="Instrument Sans"/>
              </a:rPr>
              <a:t>This query ranks products by sales within each category. If two products in the same category have identical sales, they will share the same </a:t>
            </a:r>
            <a:r>
              <a:rPr b="0" i="0" lang="en-US" sz="1400" u="none" cap="none" strike="noStrike">
                <a:solidFill>
                  <a:srgbClr val="CFD0D8"/>
                </a:solidFill>
                <a:highlight>
                  <a:srgbClr val="37373A"/>
                </a:highlight>
                <a:latin typeface="Consolas"/>
                <a:ea typeface="Consolas"/>
                <a:cs typeface="Consolas"/>
                <a:sym typeface="Consolas"/>
              </a:rPr>
              <a:t>sales_rank</a:t>
            </a:r>
            <a:r>
              <a:rPr b="0" i="0" lang="en-US" sz="1400" u="none" cap="none" strike="noStrike">
                <a:solidFill>
                  <a:srgbClr val="CFD0D8"/>
                </a:solidFill>
                <a:latin typeface="Instrument Sans"/>
                <a:ea typeface="Instrument Sans"/>
                <a:cs typeface="Instrument Sans"/>
                <a:sym typeface="Instrument Sans"/>
              </a:rPr>
              <a:t>. The next product will receive the very next rank number, without any skipped ranks. This is ideal for showing continuous progression in rankings, such as top-selling items where multiple products can share a position without disrupting the overall sequence.</a:t>
            </a:r>
            <a:endParaRPr b="0" i="0" sz="140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6"/>
          <p:cNvSpPr/>
          <p:nvPr/>
        </p:nvSpPr>
        <p:spPr>
          <a:xfrm>
            <a:off x="693658" y="917853"/>
            <a:ext cx="9568101" cy="619363"/>
          </a:xfrm>
          <a:prstGeom prst="rect">
            <a:avLst/>
          </a:prstGeom>
          <a:noFill/>
          <a:ln>
            <a:noFill/>
          </a:ln>
        </p:spPr>
        <p:txBody>
          <a:bodyPr anchorCtr="0" anchor="t" bIns="0" lIns="0" spcFirstLastPara="1" rIns="0" wrap="square" tIns="0">
            <a:noAutofit/>
          </a:bodyPr>
          <a:lstStyle/>
          <a:p>
            <a:pPr indent="0" lvl="0" marL="0" marR="0" rtl="0" algn="l">
              <a:lnSpc>
                <a:spcPct val="124358"/>
              </a:lnSpc>
              <a:spcBef>
                <a:spcPts val="0"/>
              </a:spcBef>
              <a:spcAft>
                <a:spcPts val="0"/>
              </a:spcAft>
              <a:buClr>
                <a:srgbClr val="CBCCCE"/>
              </a:buClr>
              <a:buSzPts val="3900"/>
              <a:buFont typeface="Instrument Sans"/>
              <a:buNone/>
            </a:pPr>
            <a:r>
              <a:rPr b="0" i="0" lang="en-US" sz="3900" u="none" cap="none" strike="noStrike">
                <a:solidFill>
                  <a:srgbClr val="CBCCCE"/>
                </a:solidFill>
                <a:latin typeface="Instrument Sans"/>
                <a:ea typeface="Instrument Sans"/>
                <a:cs typeface="Instrument Sans"/>
                <a:sym typeface="Instrument Sans"/>
              </a:rPr>
              <a:t>SUM() OVER(): Cumulative Aggregations</a:t>
            </a:r>
            <a:endParaRPr b="0" i="0" sz="3900" u="none" cap="none" strike="noStrike"/>
          </a:p>
        </p:txBody>
      </p:sp>
      <p:sp>
        <p:nvSpPr>
          <p:cNvPr id="171" name="Google Shape;171;p26"/>
          <p:cNvSpPr/>
          <p:nvPr/>
        </p:nvSpPr>
        <p:spPr>
          <a:xfrm>
            <a:off x="551021" y="1796891"/>
            <a:ext cx="6665119" cy="5514737"/>
          </a:xfrm>
          <a:prstGeom prst="roundRect">
            <a:avLst>
              <a:gd fmla="val 2588" name="adj"/>
            </a:avLst>
          </a:prstGeom>
          <a:solidFill>
            <a:srgbClr val="D5D5D8">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26"/>
          <p:cNvSpPr/>
          <p:nvPr/>
        </p:nvSpPr>
        <p:spPr>
          <a:xfrm>
            <a:off x="749141" y="1970008"/>
            <a:ext cx="3499366" cy="309682"/>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000000"/>
              </a:buClr>
              <a:buSzPts val="1950"/>
              <a:buFont typeface="Instrument Sans SemiBold"/>
              <a:buNone/>
            </a:pPr>
            <a:r>
              <a:rPr b="1" i="0" lang="en-US" sz="1950" u="none" cap="none" strike="noStrike">
                <a:solidFill>
                  <a:srgbClr val="000000"/>
                </a:solidFill>
                <a:latin typeface="Instrument Sans SemiBold"/>
                <a:ea typeface="Instrument Sans SemiBold"/>
                <a:cs typeface="Instrument Sans SemiBold"/>
                <a:sym typeface="Instrument Sans SemiBold"/>
              </a:rPr>
              <a:t>What it Does &amp; When to Use It</a:t>
            </a:r>
            <a:endParaRPr b="0" i="0" sz="1950" u="none" cap="none" strike="noStrike"/>
          </a:p>
        </p:txBody>
      </p:sp>
      <p:sp>
        <p:nvSpPr>
          <p:cNvPr id="173" name="Google Shape;173;p26"/>
          <p:cNvSpPr/>
          <p:nvPr/>
        </p:nvSpPr>
        <p:spPr>
          <a:xfrm>
            <a:off x="749141" y="2452807"/>
            <a:ext cx="6268879" cy="1218724"/>
          </a:xfrm>
          <a:prstGeom prst="rect">
            <a:avLst/>
          </a:prstGeom>
          <a:noFill/>
          <a:ln>
            <a:noFill/>
          </a:ln>
        </p:spPr>
        <p:txBody>
          <a:bodyPr anchorCtr="0" anchor="t" bIns="0" lIns="0" spcFirstLastPara="1" rIns="0" wrap="square" tIns="0">
            <a:noAutofit/>
          </a:bodyPr>
          <a:lstStyle/>
          <a:p>
            <a:pPr indent="0" lvl="0" marL="0" marR="0" rtl="0" algn="l">
              <a:lnSpc>
                <a:spcPct val="148387"/>
              </a:lnSpc>
              <a:spcBef>
                <a:spcPts val="0"/>
              </a:spcBef>
              <a:spcAft>
                <a:spcPts val="0"/>
              </a:spcAft>
              <a:buClr>
                <a:srgbClr val="000000"/>
              </a:buClr>
              <a:buSzPts val="1550"/>
              <a:buFont typeface="Consolas"/>
              <a:buNone/>
            </a:pPr>
            <a:r>
              <a:rPr b="0" i="0" lang="en-US" sz="1550" u="none" cap="none" strike="noStrike">
                <a:solidFill>
                  <a:srgbClr val="000000"/>
                </a:solidFill>
                <a:highlight>
                  <a:srgbClr val="C8C8CB"/>
                </a:highlight>
                <a:latin typeface="Consolas"/>
                <a:ea typeface="Consolas"/>
                <a:cs typeface="Consolas"/>
                <a:sym typeface="Consolas"/>
              </a:rPr>
              <a:t>SUM() OVER()</a:t>
            </a:r>
            <a:r>
              <a:rPr b="0" i="0" lang="en-US" sz="1550" u="none" cap="none" strike="noStrike">
                <a:solidFill>
                  <a:srgbClr val="000000"/>
                </a:solidFill>
                <a:latin typeface="Instrument Sans Medium"/>
                <a:ea typeface="Instrument Sans Medium"/>
                <a:cs typeface="Instrument Sans Medium"/>
                <a:sym typeface="Instrument Sans Medium"/>
              </a:rPr>
              <a:t> computes cumulative or running totals across a defined set of rows. The key distinction from </a:t>
            </a:r>
            <a:r>
              <a:rPr b="0" i="0" lang="en-US" sz="1550" u="none" cap="none" strike="noStrike">
                <a:solidFill>
                  <a:srgbClr val="000000"/>
                </a:solidFill>
                <a:highlight>
                  <a:srgbClr val="C8C8CB"/>
                </a:highlight>
                <a:latin typeface="Consolas"/>
                <a:ea typeface="Consolas"/>
                <a:cs typeface="Consolas"/>
                <a:sym typeface="Consolas"/>
              </a:rPr>
              <a:t>GROUP BY</a:t>
            </a:r>
            <a:r>
              <a:rPr b="0" i="0" lang="en-US" sz="1550" u="none" cap="none" strike="noStrike">
                <a:solidFill>
                  <a:srgbClr val="000000"/>
                </a:solidFill>
                <a:latin typeface="Instrument Sans Medium"/>
                <a:ea typeface="Instrument Sans Medium"/>
                <a:cs typeface="Instrument Sans Medium"/>
                <a:sym typeface="Instrument Sans Medium"/>
              </a:rPr>
              <a:t> is that it **preserves all individual rows** in the result set, adding an aggregate value to each one.</a:t>
            </a:r>
            <a:endParaRPr b="0" i="0" sz="1550" u="none" cap="none" strike="noStrike"/>
          </a:p>
        </p:txBody>
      </p:sp>
      <p:sp>
        <p:nvSpPr>
          <p:cNvPr id="174" name="Google Shape;174;p26"/>
          <p:cNvSpPr/>
          <p:nvPr/>
        </p:nvSpPr>
        <p:spPr>
          <a:xfrm>
            <a:off x="749141" y="3827383"/>
            <a:ext cx="6268879" cy="1188244"/>
          </a:xfrm>
          <a:prstGeom prst="rect">
            <a:avLst/>
          </a:prstGeom>
          <a:noFill/>
          <a:ln>
            <a:noFill/>
          </a:ln>
        </p:spPr>
        <p:txBody>
          <a:bodyPr anchorCtr="0" anchor="t" bIns="0" lIns="0" spcFirstLastPara="1" rIns="0" wrap="square" tIns="0">
            <a:noAutofit/>
          </a:bodyPr>
          <a:lstStyle/>
          <a:p>
            <a:pPr indent="0" lvl="0" marL="0" marR="0" rtl="0" algn="l">
              <a:lnSpc>
                <a:spcPct val="148387"/>
              </a:lnSpc>
              <a:spcBef>
                <a:spcPts val="0"/>
              </a:spcBef>
              <a:spcAft>
                <a:spcPts val="0"/>
              </a:spcAft>
              <a:buClr>
                <a:srgbClr val="000000"/>
              </a:buClr>
              <a:buSzPts val="1550"/>
              <a:buFont typeface="Instrument Sans Medium"/>
              <a:buNone/>
            </a:pPr>
            <a:r>
              <a:rPr b="0" i="0" lang="en-US" sz="1550" u="none" cap="none" strike="noStrike">
                <a:solidFill>
                  <a:srgbClr val="000000"/>
                </a:solidFill>
                <a:latin typeface="Instrument Sans Medium"/>
                <a:ea typeface="Instrument Sans Medium"/>
                <a:cs typeface="Instrument Sans Medium"/>
                <a:sym typeface="Instrument Sans Medium"/>
              </a:rPr>
              <a:t>This makes it ideal for tracking financial metrics like cumulative revenue, budget spending, or moving sums over specific periods. It allows you to view both granular transaction details and the broader aggregated context simultaneously.</a:t>
            </a:r>
            <a:endParaRPr b="0" i="0" sz="1550" u="none" cap="none" strike="noStrike"/>
          </a:p>
        </p:txBody>
      </p:sp>
      <p:sp>
        <p:nvSpPr>
          <p:cNvPr id="175" name="Google Shape;175;p26"/>
          <p:cNvSpPr/>
          <p:nvPr/>
        </p:nvSpPr>
        <p:spPr>
          <a:xfrm>
            <a:off x="7564517" y="1970008"/>
            <a:ext cx="3524131" cy="309682"/>
          </a:xfrm>
          <a:prstGeom prst="rect">
            <a:avLst/>
          </a:prstGeom>
          <a:noFill/>
          <a:ln>
            <a:noFill/>
          </a:ln>
        </p:spPr>
        <p:txBody>
          <a:bodyPr anchorCtr="0" anchor="t" bIns="0" lIns="0" spcFirstLastPara="1" rIns="0" wrap="square" tIns="0">
            <a:noAutofit/>
          </a:bodyPr>
          <a:lstStyle/>
          <a:p>
            <a:pPr indent="0" lvl="0" marL="0" marR="0" rtl="0" algn="l">
              <a:lnSpc>
                <a:spcPct val="123076"/>
              </a:lnSpc>
              <a:spcBef>
                <a:spcPts val="0"/>
              </a:spcBef>
              <a:spcAft>
                <a:spcPts val="0"/>
              </a:spcAft>
              <a:buClr>
                <a:srgbClr val="CBCCCE"/>
              </a:buClr>
              <a:buSzPts val="1950"/>
              <a:buFont typeface="Instrument Sans"/>
              <a:buNone/>
            </a:pPr>
            <a:r>
              <a:rPr b="0" i="0" lang="en-US" sz="1950" u="none" cap="none" strike="noStrike">
                <a:solidFill>
                  <a:srgbClr val="CBCCCE"/>
                </a:solidFill>
                <a:latin typeface="Instrument Sans"/>
                <a:ea typeface="Instrument Sans"/>
                <a:cs typeface="Instrument Sans"/>
                <a:sym typeface="Instrument Sans"/>
              </a:rPr>
              <a:t>Syntax &amp; Practical Application</a:t>
            </a:r>
            <a:endParaRPr b="0" i="0" sz="1950" u="none" cap="none" strike="noStrike"/>
          </a:p>
        </p:txBody>
      </p:sp>
      <p:sp>
        <p:nvSpPr>
          <p:cNvPr id="176" name="Google Shape;176;p26"/>
          <p:cNvSpPr/>
          <p:nvPr/>
        </p:nvSpPr>
        <p:spPr>
          <a:xfrm>
            <a:off x="7564517" y="2474476"/>
            <a:ext cx="6379845" cy="3267789"/>
          </a:xfrm>
          <a:prstGeom prst="roundRect">
            <a:avLst>
              <a:gd fmla="val 2547" name="adj"/>
            </a:avLst>
          </a:prstGeom>
          <a:solidFill>
            <a:srgbClr val="3737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6"/>
          <p:cNvSpPr/>
          <p:nvPr/>
        </p:nvSpPr>
        <p:spPr>
          <a:xfrm>
            <a:off x="7554635" y="2474476"/>
            <a:ext cx="6399609" cy="3267789"/>
          </a:xfrm>
          <a:prstGeom prst="roundRect">
            <a:avLst>
              <a:gd fmla="val 910" name="adj"/>
            </a:avLst>
          </a:prstGeom>
          <a:solidFill>
            <a:srgbClr val="3737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26"/>
          <p:cNvSpPr/>
          <p:nvPr/>
        </p:nvSpPr>
        <p:spPr>
          <a:xfrm>
            <a:off x="7752755" y="2623066"/>
            <a:ext cx="6003369" cy="2970609"/>
          </a:xfrm>
          <a:prstGeom prst="rect">
            <a:avLst/>
          </a:prstGeom>
          <a:noFill/>
          <a:ln>
            <a:noFill/>
          </a:ln>
        </p:spPr>
        <p:txBody>
          <a:bodyPr anchorCtr="0" anchor="t" bIns="0" lIns="0" spcFirstLastPara="1" rIns="0" wrap="square" tIns="0">
            <a:noAutofit/>
          </a:bodyPr>
          <a:lstStyle/>
          <a:p>
            <a:pPr indent="0" lvl="0" marL="0" marR="0" rtl="0" algn="l">
              <a:lnSpc>
                <a:spcPct val="148387"/>
              </a:lnSpc>
              <a:spcBef>
                <a:spcPts val="0"/>
              </a:spcBef>
              <a:spcAft>
                <a:spcPts val="0"/>
              </a:spcAft>
              <a:buClr>
                <a:srgbClr val="CFD0D8"/>
              </a:buClr>
              <a:buSzPts val="1550"/>
              <a:buFont typeface="Consolas"/>
              <a:buNone/>
            </a:pPr>
            <a:r>
              <a:rPr b="0" i="0" lang="en-US" sz="1550" u="none" cap="none" strike="noStrike">
                <a:solidFill>
                  <a:srgbClr val="CFD0D8"/>
                </a:solidFill>
                <a:highlight>
                  <a:srgbClr val="37373A"/>
                </a:highlight>
                <a:latin typeface="Consolas"/>
                <a:ea typeface="Consolas"/>
                <a:cs typeface="Consolas"/>
                <a:sym typeface="Consolas"/>
              </a:rPr>
              <a:t>SELECT</a:t>
            </a:r>
            <a:endParaRPr b="0" i="0" sz="1550" u="none" cap="none" strike="noStrike"/>
          </a:p>
          <a:p>
            <a:pPr indent="0" lvl="0" marL="0" marR="0" rtl="0" algn="l">
              <a:lnSpc>
                <a:spcPct val="148387"/>
              </a:lnSpc>
              <a:spcBef>
                <a:spcPts val="0"/>
              </a:spcBef>
              <a:spcAft>
                <a:spcPts val="0"/>
              </a:spcAft>
              <a:buClr>
                <a:srgbClr val="CFD0D8"/>
              </a:buClr>
              <a:buSzPts val="1550"/>
              <a:buFont typeface="Consolas"/>
              <a:buNone/>
            </a:pPr>
            <a:r>
              <a:rPr b="0" i="0" lang="en-US" sz="1550" u="none" cap="none" strike="noStrike">
                <a:solidFill>
                  <a:srgbClr val="CFD0D8"/>
                </a:solidFill>
                <a:highlight>
                  <a:srgbClr val="37373A"/>
                </a:highlight>
                <a:latin typeface="Consolas"/>
                <a:ea typeface="Consolas"/>
                <a:cs typeface="Consolas"/>
                <a:sym typeface="Consolas"/>
              </a:rPr>
              <a:t>  order_id,</a:t>
            </a:r>
            <a:endParaRPr b="0" i="0" sz="1550" u="none" cap="none" strike="noStrike"/>
          </a:p>
          <a:p>
            <a:pPr indent="0" lvl="0" marL="0" marR="0" rtl="0" algn="l">
              <a:lnSpc>
                <a:spcPct val="148387"/>
              </a:lnSpc>
              <a:spcBef>
                <a:spcPts val="0"/>
              </a:spcBef>
              <a:spcAft>
                <a:spcPts val="0"/>
              </a:spcAft>
              <a:buClr>
                <a:srgbClr val="CFD0D8"/>
              </a:buClr>
              <a:buSzPts val="1550"/>
              <a:buFont typeface="Consolas"/>
              <a:buNone/>
            </a:pPr>
            <a:r>
              <a:rPr b="0" i="0" lang="en-US" sz="1550" u="none" cap="none" strike="noStrike">
                <a:solidFill>
                  <a:srgbClr val="CFD0D8"/>
                </a:solidFill>
                <a:highlight>
                  <a:srgbClr val="37373A"/>
                </a:highlight>
                <a:latin typeface="Consolas"/>
                <a:ea typeface="Consolas"/>
                <a:cs typeface="Consolas"/>
                <a:sym typeface="Consolas"/>
              </a:rPr>
              <a:t>  order_date,</a:t>
            </a:r>
            <a:endParaRPr b="0" i="0" sz="1550" u="none" cap="none" strike="noStrike"/>
          </a:p>
          <a:p>
            <a:pPr indent="0" lvl="0" marL="0" marR="0" rtl="0" algn="l">
              <a:lnSpc>
                <a:spcPct val="148387"/>
              </a:lnSpc>
              <a:spcBef>
                <a:spcPts val="0"/>
              </a:spcBef>
              <a:spcAft>
                <a:spcPts val="0"/>
              </a:spcAft>
              <a:buClr>
                <a:srgbClr val="CFD0D8"/>
              </a:buClr>
              <a:buSzPts val="1550"/>
              <a:buFont typeface="Consolas"/>
              <a:buNone/>
            </a:pPr>
            <a:r>
              <a:rPr b="0" i="0" lang="en-US" sz="1550" u="none" cap="none" strike="noStrike">
                <a:solidFill>
                  <a:srgbClr val="CFD0D8"/>
                </a:solidFill>
                <a:highlight>
                  <a:srgbClr val="37373A"/>
                </a:highlight>
                <a:latin typeface="Consolas"/>
                <a:ea typeface="Consolas"/>
                <a:cs typeface="Consolas"/>
                <a:sym typeface="Consolas"/>
              </a:rPr>
              <a:t>  sale_amount,</a:t>
            </a:r>
            <a:endParaRPr b="0" i="0" sz="1550" u="none" cap="none" strike="noStrike"/>
          </a:p>
          <a:p>
            <a:pPr indent="0" lvl="0" marL="0" marR="0" rtl="0" algn="l">
              <a:lnSpc>
                <a:spcPct val="148387"/>
              </a:lnSpc>
              <a:spcBef>
                <a:spcPts val="0"/>
              </a:spcBef>
              <a:spcAft>
                <a:spcPts val="0"/>
              </a:spcAft>
              <a:buClr>
                <a:srgbClr val="CFD0D8"/>
              </a:buClr>
              <a:buSzPts val="1550"/>
              <a:buFont typeface="Consolas"/>
              <a:buNone/>
            </a:pPr>
            <a:r>
              <a:rPr b="0" i="0" lang="en-US" sz="1550" u="none" cap="none" strike="noStrike">
                <a:solidFill>
                  <a:srgbClr val="CFD0D8"/>
                </a:solidFill>
                <a:highlight>
                  <a:srgbClr val="37373A"/>
                </a:highlight>
                <a:latin typeface="Consolas"/>
                <a:ea typeface="Consolas"/>
                <a:cs typeface="Consolas"/>
                <a:sym typeface="Consolas"/>
              </a:rPr>
              <a:t>  SUM(sale_amount) OVER (</a:t>
            </a:r>
            <a:endParaRPr b="0" i="0" sz="1550" u="none" cap="none" strike="noStrike"/>
          </a:p>
          <a:p>
            <a:pPr indent="0" lvl="0" marL="0" marR="0" rtl="0" algn="l">
              <a:lnSpc>
                <a:spcPct val="148387"/>
              </a:lnSpc>
              <a:spcBef>
                <a:spcPts val="0"/>
              </a:spcBef>
              <a:spcAft>
                <a:spcPts val="0"/>
              </a:spcAft>
              <a:buClr>
                <a:srgbClr val="CFD0D8"/>
              </a:buClr>
              <a:buSzPts val="1550"/>
              <a:buFont typeface="Consolas"/>
              <a:buNone/>
            </a:pPr>
            <a:r>
              <a:rPr b="0" i="0" lang="en-US" sz="1550" u="none" cap="none" strike="noStrike">
                <a:solidFill>
                  <a:srgbClr val="CFD0D8"/>
                </a:solidFill>
                <a:highlight>
                  <a:srgbClr val="37373A"/>
                </a:highlight>
                <a:latin typeface="Consolas"/>
                <a:ea typeface="Consolas"/>
                <a:cs typeface="Consolas"/>
                <a:sym typeface="Consolas"/>
              </a:rPr>
              <a:t>    PARTITION BY customer_id</a:t>
            </a:r>
            <a:endParaRPr b="0" i="0" sz="1550" u="none" cap="none" strike="noStrike"/>
          </a:p>
          <a:p>
            <a:pPr indent="0" lvl="0" marL="0" marR="0" rtl="0" algn="l">
              <a:lnSpc>
                <a:spcPct val="148387"/>
              </a:lnSpc>
              <a:spcBef>
                <a:spcPts val="0"/>
              </a:spcBef>
              <a:spcAft>
                <a:spcPts val="0"/>
              </a:spcAft>
              <a:buClr>
                <a:srgbClr val="CFD0D8"/>
              </a:buClr>
              <a:buSzPts val="1550"/>
              <a:buFont typeface="Consolas"/>
              <a:buNone/>
            </a:pPr>
            <a:r>
              <a:rPr b="0" i="0" lang="en-US" sz="1550" u="none" cap="none" strike="noStrike">
                <a:solidFill>
                  <a:srgbClr val="CFD0D8"/>
                </a:solidFill>
                <a:highlight>
                  <a:srgbClr val="37373A"/>
                </a:highlight>
                <a:latin typeface="Consolas"/>
                <a:ea typeface="Consolas"/>
                <a:cs typeface="Consolas"/>
                <a:sym typeface="Consolas"/>
              </a:rPr>
              <a:t>    ORDER BY order_date ASC</a:t>
            </a:r>
            <a:endParaRPr b="0" i="0" sz="1550" u="none" cap="none" strike="noStrike"/>
          </a:p>
          <a:p>
            <a:pPr indent="0" lvl="0" marL="0" marR="0" rtl="0" algn="l">
              <a:lnSpc>
                <a:spcPct val="148387"/>
              </a:lnSpc>
              <a:spcBef>
                <a:spcPts val="0"/>
              </a:spcBef>
              <a:spcAft>
                <a:spcPts val="0"/>
              </a:spcAft>
              <a:buClr>
                <a:srgbClr val="CFD0D8"/>
              </a:buClr>
              <a:buSzPts val="1550"/>
              <a:buFont typeface="Consolas"/>
              <a:buNone/>
            </a:pPr>
            <a:r>
              <a:rPr b="0" i="0" lang="en-US" sz="1550" u="none" cap="none" strike="noStrike">
                <a:solidFill>
                  <a:srgbClr val="CFD0D8"/>
                </a:solidFill>
                <a:highlight>
                  <a:srgbClr val="37373A"/>
                </a:highlight>
                <a:latin typeface="Consolas"/>
                <a:ea typeface="Consolas"/>
                <a:cs typeface="Consolas"/>
                <a:sym typeface="Consolas"/>
              </a:rPr>
              <a:t>  ) as cumulative_customer_sales</a:t>
            </a:r>
            <a:endParaRPr b="0" i="0" sz="1550" u="none" cap="none" strike="noStrike"/>
          </a:p>
          <a:p>
            <a:pPr indent="0" lvl="0" marL="0" marR="0" rtl="0" algn="l">
              <a:lnSpc>
                <a:spcPct val="148387"/>
              </a:lnSpc>
              <a:spcBef>
                <a:spcPts val="0"/>
              </a:spcBef>
              <a:spcAft>
                <a:spcPts val="0"/>
              </a:spcAft>
              <a:buClr>
                <a:srgbClr val="CFD0D8"/>
              </a:buClr>
              <a:buSzPts val="1550"/>
              <a:buFont typeface="Consolas"/>
              <a:buNone/>
            </a:pPr>
            <a:r>
              <a:rPr b="0" i="0" lang="en-US" sz="1550" u="none" cap="none" strike="noStrike">
                <a:solidFill>
                  <a:srgbClr val="CFD0D8"/>
                </a:solidFill>
                <a:highlight>
                  <a:srgbClr val="37373A"/>
                </a:highlight>
                <a:latin typeface="Consolas"/>
                <a:ea typeface="Consolas"/>
                <a:cs typeface="Consolas"/>
                <a:sym typeface="Consolas"/>
              </a:rPr>
              <a:t>FROM</a:t>
            </a:r>
            <a:endParaRPr b="0" i="0" sz="1550" u="none" cap="none" strike="noStrike"/>
          </a:p>
          <a:p>
            <a:pPr indent="0" lvl="0" marL="0" marR="0" rtl="0" algn="l">
              <a:lnSpc>
                <a:spcPct val="148387"/>
              </a:lnSpc>
              <a:spcBef>
                <a:spcPts val="0"/>
              </a:spcBef>
              <a:spcAft>
                <a:spcPts val="0"/>
              </a:spcAft>
              <a:buClr>
                <a:srgbClr val="CFD0D8"/>
              </a:buClr>
              <a:buSzPts val="1550"/>
              <a:buFont typeface="Consolas"/>
              <a:buNone/>
            </a:pPr>
            <a:r>
              <a:rPr b="0" i="0" lang="en-US" sz="1550" u="none" cap="none" strike="noStrike">
                <a:solidFill>
                  <a:srgbClr val="CFD0D8"/>
                </a:solidFill>
                <a:highlight>
                  <a:srgbClr val="37373A"/>
                </a:highlight>
                <a:latin typeface="Consolas"/>
                <a:ea typeface="Consolas"/>
                <a:cs typeface="Consolas"/>
                <a:sym typeface="Consolas"/>
              </a:rPr>
              <a:t>  Sales;</a:t>
            </a:r>
            <a:endParaRPr b="0" i="0" sz="1550" u="none" cap="none" strike="noStrike"/>
          </a:p>
        </p:txBody>
      </p:sp>
      <p:sp>
        <p:nvSpPr>
          <p:cNvPr id="179" name="Google Shape;179;p26"/>
          <p:cNvSpPr/>
          <p:nvPr/>
        </p:nvSpPr>
        <p:spPr>
          <a:xfrm>
            <a:off x="7564517" y="6075075"/>
            <a:ext cx="6379800" cy="1218600"/>
          </a:xfrm>
          <a:prstGeom prst="rect">
            <a:avLst/>
          </a:prstGeom>
          <a:noFill/>
          <a:ln>
            <a:noFill/>
          </a:ln>
        </p:spPr>
        <p:txBody>
          <a:bodyPr anchorCtr="0" anchor="t" bIns="0" lIns="0" spcFirstLastPara="1" rIns="0" wrap="square" tIns="0">
            <a:noAutofit/>
          </a:bodyPr>
          <a:lstStyle/>
          <a:p>
            <a:pPr indent="0" lvl="0" marL="0" marR="0" rtl="0" algn="l">
              <a:lnSpc>
                <a:spcPct val="148387"/>
              </a:lnSpc>
              <a:spcBef>
                <a:spcPts val="0"/>
              </a:spcBef>
              <a:spcAft>
                <a:spcPts val="0"/>
              </a:spcAft>
              <a:buClr>
                <a:srgbClr val="CFD0D8"/>
              </a:buClr>
              <a:buSzPts val="1550"/>
              <a:buFont typeface="Instrument Sans"/>
              <a:buNone/>
            </a:pPr>
            <a:r>
              <a:rPr b="0" i="0" lang="en-US" sz="1550" u="none" cap="none" strike="noStrike">
                <a:solidFill>
                  <a:srgbClr val="CFD0D8"/>
                </a:solidFill>
                <a:latin typeface="Instrument Sans"/>
                <a:ea typeface="Instrument Sans"/>
                <a:cs typeface="Instrument Sans"/>
                <a:sym typeface="Instrument Sans"/>
              </a:rPr>
              <a:t>This query calculates the running total of </a:t>
            </a:r>
            <a:r>
              <a:rPr b="0" i="0" lang="en-US" sz="1550" u="none" cap="none" strike="noStrike">
                <a:solidFill>
                  <a:srgbClr val="CFD0D8"/>
                </a:solidFill>
                <a:highlight>
                  <a:srgbClr val="37373A"/>
                </a:highlight>
                <a:latin typeface="Consolas"/>
                <a:ea typeface="Consolas"/>
                <a:cs typeface="Consolas"/>
                <a:sym typeface="Consolas"/>
              </a:rPr>
              <a:t>sale_amount</a:t>
            </a:r>
            <a:r>
              <a:rPr b="0" i="0" lang="en-US" sz="1550" u="none" cap="none" strike="noStrike">
                <a:solidFill>
                  <a:srgbClr val="CFD0D8"/>
                </a:solidFill>
                <a:latin typeface="Instrument Sans"/>
                <a:ea typeface="Instrument Sans"/>
                <a:cs typeface="Instrument Sans"/>
                <a:sym typeface="Instrument Sans"/>
              </a:rPr>
              <a:t> for each customer, ordered by their transaction date. Each order row remains in the output, now enhanced with a </a:t>
            </a:r>
            <a:r>
              <a:rPr b="0" i="0" lang="en-US" sz="1550" u="none" cap="none" strike="noStrike">
                <a:solidFill>
                  <a:srgbClr val="CFD0D8"/>
                </a:solidFill>
                <a:highlight>
                  <a:srgbClr val="37373A"/>
                </a:highlight>
                <a:latin typeface="Consolas"/>
                <a:ea typeface="Consolas"/>
                <a:cs typeface="Consolas"/>
                <a:sym typeface="Consolas"/>
              </a:rPr>
              <a:t>cumulative_customer_sales</a:t>
            </a:r>
            <a:r>
              <a:rPr b="0" i="0" lang="en-US" sz="1550" u="none" cap="none" strike="noStrike">
                <a:solidFill>
                  <a:srgbClr val="CFD0D8"/>
                </a:solidFill>
                <a:latin typeface="Instrument Sans"/>
                <a:ea typeface="Instrument Sans"/>
                <a:cs typeface="Instrument Sans"/>
                <a:sym typeface="Instrument Sans"/>
              </a:rPr>
              <a:t> column showing total sales up to that specific order for that customer.</a:t>
            </a:r>
            <a:endParaRPr b="0" i="0" sz="155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7"/>
          <p:cNvSpPr/>
          <p:nvPr/>
        </p:nvSpPr>
        <p:spPr>
          <a:xfrm>
            <a:off x="941427" y="945356"/>
            <a:ext cx="12747427" cy="11544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3600"/>
              <a:buFont typeface="Instrument Sans"/>
              <a:buNone/>
            </a:pPr>
            <a:r>
              <a:rPr b="0" i="0" lang="en-US" sz="3600" u="none" cap="none" strike="noStrike">
                <a:solidFill>
                  <a:srgbClr val="CBCCCE"/>
                </a:solidFill>
                <a:latin typeface="Instrument Sans"/>
                <a:ea typeface="Instrument Sans"/>
                <a:cs typeface="Instrument Sans"/>
                <a:sym typeface="Instrument Sans"/>
              </a:rPr>
              <a:t>AVG() OVER(): Calculating Moving Averages and Contextual Averages</a:t>
            </a:r>
            <a:endParaRPr b="0" i="0" sz="3600" u="none" cap="none" strike="noStrike"/>
          </a:p>
        </p:txBody>
      </p:sp>
      <p:sp>
        <p:nvSpPr>
          <p:cNvPr id="186" name="Google Shape;186;p27"/>
          <p:cNvSpPr/>
          <p:nvPr/>
        </p:nvSpPr>
        <p:spPr>
          <a:xfrm>
            <a:off x="808315" y="2325410"/>
            <a:ext cx="6414492" cy="4958834"/>
          </a:xfrm>
          <a:prstGeom prst="roundRect">
            <a:avLst>
              <a:gd fmla="val 2682" name="adj"/>
            </a:avLst>
          </a:prstGeom>
          <a:solidFill>
            <a:srgbClr val="D5D5D8">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27"/>
          <p:cNvSpPr/>
          <p:nvPr/>
        </p:nvSpPr>
        <p:spPr>
          <a:xfrm>
            <a:off x="992981" y="2475786"/>
            <a:ext cx="3262074" cy="28872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000000"/>
              </a:buClr>
              <a:buSzPts val="1800"/>
              <a:buFont typeface="Instrument Sans SemiBold"/>
              <a:buNone/>
            </a:pPr>
            <a:r>
              <a:rPr b="1" i="0" lang="en-US" sz="1800" u="none" cap="none" strike="noStrike">
                <a:solidFill>
                  <a:srgbClr val="000000"/>
                </a:solidFill>
                <a:latin typeface="Instrument Sans SemiBold"/>
                <a:ea typeface="Instrument Sans SemiBold"/>
                <a:cs typeface="Instrument Sans SemiBold"/>
                <a:sym typeface="Instrument Sans SemiBold"/>
              </a:rPr>
              <a:t>What it Does &amp; When to Use It</a:t>
            </a:r>
            <a:endParaRPr b="0" i="0" sz="1800" u="none" cap="none" strike="noStrike"/>
          </a:p>
        </p:txBody>
      </p:sp>
      <p:sp>
        <p:nvSpPr>
          <p:cNvPr id="188" name="Google Shape;188;p27"/>
          <p:cNvSpPr/>
          <p:nvPr/>
        </p:nvSpPr>
        <p:spPr>
          <a:xfrm>
            <a:off x="992981" y="2914888"/>
            <a:ext cx="6045160" cy="1102995"/>
          </a:xfrm>
          <a:prstGeom prst="rect">
            <a:avLst/>
          </a:prstGeom>
          <a:noFill/>
          <a:ln>
            <a:noFill/>
          </a:ln>
        </p:spPr>
        <p:txBody>
          <a:bodyPr anchorCtr="0" anchor="t" bIns="0" lIns="0" spcFirstLastPara="1" rIns="0" wrap="square" tIns="0">
            <a:noAutofit/>
          </a:bodyPr>
          <a:lstStyle/>
          <a:p>
            <a:pPr indent="0" lvl="0" marL="0" marR="0" rtl="0" algn="l">
              <a:lnSpc>
                <a:spcPct val="144827"/>
              </a:lnSpc>
              <a:spcBef>
                <a:spcPts val="0"/>
              </a:spcBef>
              <a:spcAft>
                <a:spcPts val="0"/>
              </a:spcAft>
              <a:buClr>
                <a:srgbClr val="000000"/>
              </a:buClr>
              <a:buSzPts val="1450"/>
              <a:buFont typeface="Consolas"/>
              <a:buNone/>
            </a:pPr>
            <a:r>
              <a:rPr b="0" i="0" lang="en-US" sz="1450" u="none" cap="none" strike="noStrike">
                <a:solidFill>
                  <a:srgbClr val="000000"/>
                </a:solidFill>
                <a:highlight>
                  <a:srgbClr val="C8C8CB"/>
                </a:highlight>
                <a:latin typeface="Consolas"/>
                <a:ea typeface="Consolas"/>
                <a:cs typeface="Consolas"/>
                <a:sym typeface="Consolas"/>
              </a:rPr>
              <a:t>AVG() OVER()</a:t>
            </a:r>
            <a:r>
              <a:rPr b="0" i="0" lang="en-US" sz="1450" u="none" cap="none" strike="noStrike">
                <a:solidFill>
                  <a:srgbClr val="000000"/>
                </a:solidFill>
                <a:latin typeface="Instrument Sans Medium"/>
                <a:ea typeface="Instrument Sans Medium"/>
                <a:cs typeface="Instrument Sans Medium"/>
                <a:sym typeface="Instrument Sans Medium"/>
              </a:rPr>
              <a:t> computes the average of a numeric column over a defined "window" of rows. Unlike a standard </a:t>
            </a:r>
            <a:r>
              <a:rPr b="0" i="0" lang="en-US" sz="1450" u="none" cap="none" strike="noStrike">
                <a:solidFill>
                  <a:srgbClr val="000000"/>
                </a:solidFill>
                <a:highlight>
                  <a:srgbClr val="C8C8CB"/>
                </a:highlight>
                <a:latin typeface="Consolas"/>
                <a:ea typeface="Consolas"/>
                <a:cs typeface="Consolas"/>
                <a:sym typeface="Consolas"/>
              </a:rPr>
              <a:t>GROUP BY</a:t>
            </a:r>
            <a:r>
              <a:rPr b="0" i="0" lang="en-US" sz="1450" u="none" cap="none" strike="noStrike">
                <a:solidFill>
                  <a:srgbClr val="000000"/>
                </a:solidFill>
                <a:latin typeface="Instrument Sans Medium"/>
                <a:ea typeface="Instrument Sans Medium"/>
                <a:cs typeface="Instrument Sans Medium"/>
                <a:sym typeface="Instrument Sans Medium"/>
              </a:rPr>
              <a:t> aggregation, it adds this average to each individual row without collapsing the dataset, preserving all original details.</a:t>
            </a:r>
            <a:endParaRPr b="0" i="0" sz="1450" u="none" cap="none" strike="noStrike"/>
          </a:p>
        </p:txBody>
      </p:sp>
      <p:sp>
        <p:nvSpPr>
          <p:cNvPr id="189" name="Google Shape;189;p27"/>
          <p:cNvSpPr/>
          <p:nvPr/>
        </p:nvSpPr>
        <p:spPr>
          <a:xfrm>
            <a:off x="992981" y="4153257"/>
            <a:ext cx="6045160" cy="1340876"/>
          </a:xfrm>
          <a:prstGeom prst="rect">
            <a:avLst/>
          </a:prstGeom>
          <a:noFill/>
          <a:ln>
            <a:noFill/>
          </a:ln>
        </p:spPr>
        <p:txBody>
          <a:bodyPr anchorCtr="0" anchor="t" bIns="0" lIns="0" spcFirstLastPara="1" rIns="0" wrap="square" tIns="0">
            <a:noAutofit/>
          </a:bodyPr>
          <a:lstStyle/>
          <a:p>
            <a:pPr indent="0" lvl="0" marL="0" marR="0" rtl="0" algn="l">
              <a:lnSpc>
                <a:spcPct val="144827"/>
              </a:lnSpc>
              <a:spcBef>
                <a:spcPts val="0"/>
              </a:spcBef>
              <a:spcAft>
                <a:spcPts val="0"/>
              </a:spcAft>
              <a:buClr>
                <a:srgbClr val="000000"/>
              </a:buClr>
              <a:buSzPts val="1450"/>
              <a:buFont typeface="Instrument Sans Medium"/>
              <a:buNone/>
            </a:pPr>
            <a:r>
              <a:rPr b="0" i="0" lang="en-US" sz="1450" u="none" cap="none" strike="noStrike">
                <a:solidFill>
                  <a:srgbClr val="000000"/>
                </a:solidFill>
                <a:latin typeface="Instrument Sans Medium"/>
                <a:ea typeface="Instrument Sans Medium"/>
                <a:cs typeface="Instrument Sans Medium"/>
                <a:sym typeface="Instrument Sans Medium"/>
              </a:rPr>
              <a:t>Calculate </a:t>
            </a:r>
            <a:r>
              <a:rPr b="1" i="0" lang="en-US" sz="1450" u="none" cap="none" strike="noStrike">
                <a:solidFill>
                  <a:srgbClr val="000000"/>
                </a:solidFill>
                <a:latin typeface="Instrument Sans Medium"/>
                <a:ea typeface="Instrument Sans Medium"/>
                <a:cs typeface="Instrument Sans Medium"/>
                <a:sym typeface="Instrument Sans Medium"/>
              </a:rPr>
              <a:t>moving averages</a:t>
            </a:r>
            <a:r>
              <a:rPr b="0" i="0" lang="en-US" sz="1450" u="none" cap="none" strike="noStrike">
                <a:solidFill>
                  <a:srgbClr val="000000"/>
                </a:solidFill>
                <a:latin typeface="Instrument Sans Medium"/>
                <a:ea typeface="Instrument Sans Medium"/>
                <a:cs typeface="Instrument Sans Medium"/>
                <a:sym typeface="Instrument Sans Medium"/>
              </a:rPr>
              <a:t> to smooth out data volatility and identify trends.</a:t>
            </a:r>
            <a:endParaRPr b="0" i="0" sz="1450" u="none" cap="none" strike="noStrike"/>
          </a:p>
          <a:p>
            <a:pPr indent="-342900" lvl="0" marL="342900" marR="0" rtl="0" algn="l">
              <a:lnSpc>
                <a:spcPct val="144827"/>
              </a:lnSpc>
              <a:spcBef>
                <a:spcPts val="0"/>
              </a:spcBef>
              <a:spcAft>
                <a:spcPts val="0"/>
              </a:spcAft>
              <a:buClr>
                <a:srgbClr val="000000"/>
              </a:buClr>
              <a:buSzPts val="1450"/>
              <a:buFont typeface="Instrument Sans Medium"/>
              <a:buChar char="•"/>
            </a:pPr>
            <a:r>
              <a:rPr b="0" i="0" lang="en-US" sz="1450" u="none" cap="none" strike="noStrike">
                <a:solidFill>
                  <a:srgbClr val="000000"/>
                </a:solidFill>
                <a:latin typeface="Instrument Sans Medium"/>
                <a:ea typeface="Instrument Sans Medium"/>
                <a:cs typeface="Instrument Sans Medium"/>
                <a:sym typeface="Instrument Sans Medium"/>
              </a:rPr>
              <a:t>Determine the average performance of a sub-group relative to individual items (e.g., average sales per region for each transaction).</a:t>
            </a:r>
            <a:endParaRPr b="0" i="0" sz="1450" u="none" cap="none" strike="noStrike"/>
          </a:p>
          <a:p>
            <a:pPr indent="-342900" lvl="0" marL="342900" marR="0" rtl="0" algn="l">
              <a:lnSpc>
                <a:spcPct val="144827"/>
              </a:lnSpc>
              <a:spcBef>
                <a:spcPts val="0"/>
              </a:spcBef>
              <a:spcAft>
                <a:spcPts val="0"/>
              </a:spcAft>
              <a:buClr>
                <a:srgbClr val="000000"/>
              </a:buClr>
              <a:buSzPts val="1450"/>
              <a:buFont typeface="Instrument Sans Medium"/>
              <a:buChar char="•"/>
            </a:pPr>
            <a:r>
              <a:rPr b="0" i="0" lang="en-US" sz="1450" u="none" cap="none" strike="noStrike">
                <a:solidFill>
                  <a:srgbClr val="000000"/>
                </a:solidFill>
                <a:latin typeface="Instrument Sans Medium"/>
                <a:ea typeface="Instrument Sans Medium"/>
                <a:cs typeface="Instrument Sans Medium"/>
                <a:sym typeface="Instrument Sans Medium"/>
              </a:rPr>
              <a:t>Compare an individual data point against its immediate context.</a:t>
            </a:r>
            <a:endParaRPr b="0" i="0" sz="1450" u="none" cap="none" strike="noStrike"/>
          </a:p>
        </p:txBody>
      </p:sp>
      <p:sp>
        <p:nvSpPr>
          <p:cNvPr id="190" name="Google Shape;190;p27"/>
          <p:cNvSpPr/>
          <p:nvPr/>
        </p:nvSpPr>
        <p:spPr>
          <a:xfrm>
            <a:off x="992918" y="6310107"/>
            <a:ext cx="6045300" cy="536400"/>
          </a:xfrm>
          <a:prstGeom prst="rect">
            <a:avLst/>
          </a:prstGeom>
          <a:noFill/>
          <a:ln>
            <a:noFill/>
          </a:ln>
        </p:spPr>
        <p:txBody>
          <a:bodyPr anchorCtr="0" anchor="t" bIns="0" lIns="0" spcFirstLastPara="1" rIns="0" wrap="square" tIns="0">
            <a:noAutofit/>
          </a:bodyPr>
          <a:lstStyle/>
          <a:p>
            <a:pPr indent="0" lvl="0" marL="0" marR="0" rtl="0" algn="l">
              <a:lnSpc>
                <a:spcPct val="144827"/>
              </a:lnSpc>
              <a:spcBef>
                <a:spcPts val="0"/>
              </a:spcBef>
              <a:spcAft>
                <a:spcPts val="0"/>
              </a:spcAft>
              <a:buClr>
                <a:srgbClr val="000000"/>
              </a:buClr>
              <a:buSzPts val="1450"/>
              <a:buFont typeface="Instrument Sans Medium"/>
              <a:buNone/>
            </a:pPr>
            <a:r>
              <a:rPr b="0" i="0" lang="en-US" sz="1450" u="none" cap="none" strike="noStrike">
                <a:solidFill>
                  <a:srgbClr val="000000"/>
                </a:solidFill>
                <a:latin typeface="Instrument Sans Medium"/>
                <a:ea typeface="Instrument Sans Medium"/>
                <a:cs typeface="Instrument Sans Medium"/>
                <a:sym typeface="Instrument Sans Medium"/>
              </a:rPr>
              <a:t>It's excellent for visualizing trends by reducing noise, making </a:t>
            </a:r>
            <a:endParaRPr b="0" i="0" sz="1450" u="none" cap="none" strike="noStrike">
              <a:solidFill>
                <a:srgbClr val="000000"/>
              </a:solidFill>
              <a:latin typeface="Instrument Sans Medium"/>
              <a:ea typeface="Instrument Sans Medium"/>
              <a:cs typeface="Instrument Sans Medium"/>
              <a:sym typeface="Instrument Sans Medium"/>
            </a:endParaRPr>
          </a:p>
          <a:p>
            <a:pPr indent="0" lvl="0" marL="0" marR="0" rtl="0" algn="l">
              <a:lnSpc>
                <a:spcPct val="144827"/>
              </a:lnSpc>
              <a:spcBef>
                <a:spcPts val="0"/>
              </a:spcBef>
              <a:spcAft>
                <a:spcPts val="0"/>
              </a:spcAft>
              <a:buClr>
                <a:srgbClr val="000000"/>
              </a:buClr>
              <a:buSzPts val="1450"/>
              <a:buFont typeface="Instrument Sans Medium"/>
              <a:buNone/>
            </a:pPr>
            <a:r>
              <a:rPr b="0" i="0" lang="en-US" sz="1450" u="none" cap="none" strike="noStrike">
                <a:solidFill>
                  <a:srgbClr val="000000"/>
                </a:solidFill>
                <a:latin typeface="Instrument Sans Medium"/>
                <a:ea typeface="Instrument Sans Medium"/>
                <a:cs typeface="Instrument Sans Medium"/>
                <a:sym typeface="Instrument Sans Medium"/>
              </a:rPr>
              <a:t>underlying patterns in time-series data more apparent.</a:t>
            </a:r>
            <a:endParaRPr b="0" i="0" sz="1450" u="none" cap="none" strike="noStrike"/>
          </a:p>
        </p:txBody>
      </p:sp>
      <p:sp>
        <p:nvSpPr>
          <p:cNvPr id="191" name="Google Shape;191;p27"/>
          <p:cNvSpPr/>
          <p:nvPr/>
        </p:nvSpPr>
        <p:spPr>
          <a:xfrm>
            <a:off x="7548086" y="2475786"/>
            <a:ext cx="3285172" cy="28872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1800"/>
              <a:buFont typeface="Instrument Sans"/>
              <a:buNone/>
            </a:pPr>
            <a:r>
              <a:rPr b="0" i="0" lang="en-US" sz="1800" u="none" cap="none" strike="noStrike">
                <a:solidFill>
                  <a:srgbClr val="CBCCCE"/>
                </a:solidFill>
                <a:latin typeface="Instrument Sans"/>
                <a:ea typeface="Instrument Sans"/>
                <a:cs typeface="Instrument Sans"/>
                <a:sym typeface="Instrument Sans"/>
              </a:rPr>
              <a:t>Syntax &amp; Practical Application</a:t>
            </a:r>
            <a:endParaRPr b="0" i="0" sz="1800" u="none" cap="none" strike="noStrike"/>
          </a:p>
        </p:txBody>
      </p:sp>
      <p:sp>
        <p:nvSpPr>
          <p:cNvPr id="192" name="Google Shape;192;p27"/>
          <p:cNvSpPr/>
          <p:nvPr/>
        </p:nvSpPr>
        <p:spPr>
          <a:xfrm>
            <a:off x="7548086" y="2933700"/>
            <a:ext cx="6148268" cy="2690098"/>
          </a:xfrm>
          <a:prstGeom prst="roundRect">
            <a:avLst>
              <a:gd fmla="val 2884" name="adj"/>
            </a:avLst>
          </a:prstGeom>
          <a:solidFill>
            <a:srgbClr val="3737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27"/>
          <p:cNvSpPr/>
          <p:nvPr/>
        </p:nvSpPr>
        <p:spPr>
          <a:xfrm>
            <a:off x="7538918" y="2933700"/>
            <a:ext cx="6166604" cy="2690098"/>
          </a:xfrm>
          <a:prstGeom prst="roundRect">
            <a:avLst>
              <a:gd fmla="val 1030" name="adj"/>
            </a:avLst>
          </a:prstGeom>
          <a:solidFill>
            <a:srgbClr val="3737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27"/>
          <p:cNvSpPr/>
          <p:nvPr/>
        </p:nvSpPr>
        <p:spPr>
          <a:xfrm>
            <a:off x="7723584" y="3072170"/>
            <a:ext cx="5797272" cy="2413159"/>
          </a:xfrm>
          <a:prstGeom prst="rect">
            <a:avLst/>
          </a:prstGeom>
          <a:noFill/>
          <a:ln>
            <a:noFill/>
          </a:ln>
        </p:spPr>
        <p:txBody>
          <a:bodyPr anchorCtr="0" anchor="t" bIns="0" lIns="0" spcFirstLastPara="1" rIns="0" wrap="square" tIns="0">
            <a:noAutofit/>
          </a:bodyPr>
          <a:lstStyle/>
          <a:p>
            <a:pPr indent="0" lvl="0" marL="0" marR="0" rtl="0" algn="l">
              <a:lnSpc>
                <a:spcPct val="144827"/>
              </a:lnSpc>
              <a:spcBef>
                <a:spcPts val="0"/>
              </a:spcBef>
              <a:spcAft>
                <a:spcPts val="0"/>
              </a:spcAft>
              <a:buClr>
                <a:srgbClr val="CFD0D8"/>
              </a:buClr>
              <a:buSzPts val="1450"/>
              <a:buFont typeface="Consolas"/>
              <a:buNone/>
            </a:pPr>
            <a:r>
              <a:rPr b="0" i="0" lang="en-US" sz="1450" u="none" cap="none" strike="noStrike">
                <a:solidFill>
                  <a:srgbClr val="CFD0D8"/>
                </a:solidFill>
                <a:highlight>
                  <a:srgbClr val="37373A"/>
                </a:highlight>
                <a:latin typeface="Consolas"/>
                <a:ea typeface="Consolas"/>
                <a:cs typeface="Consolas"/>
                <a:sym typeface="Consolas"/>
              </a:rPr>
              <a:t>SELECT</a:t>
            </a:r>
            <a:endParaRPr b="0" i="0" sz="1450" u="none" cap="none" strike="noStrike"/>
          </a:p>
          <a:p>
            <a:pPr indent="0" lvl="0" marL="0" marR="0" rtl="0" algn="l">
              <a:lnSpc>
                <a:spcPct val="144827"/>
              </a:lnSpc>
              <a:spcBef>
                <a:spcPts val="0"/>
              </a:spcBef>
              <a:spcAft>
                <a:spcPts val="0"/>
              </a:spcAft>
              <a:buClr>
                <a:srgbClr val="CFD0D8"/>
              </a:buClr>
              <a:buSzPts val="1450"/>
              <a:buFont typeface="Consolas"/>
              <a:buNone/>
            </a:pPr>
            <a:r>
              <a:rPr b="0" i="0" lang="en-US" sz="1450" u="none" cap="none" strike="noStrike">
                <a:solidFill>
                  <a:srgbClr val="CFD0D8"/>
                </a:solidFill>
                <a:highlight>
                  <a:srgbClr val="37373A"/>
                </a:highlight>
                <a:latin typeface="Consolas"/>
                <a:ea typeface="Consolas"/>
                <a:cs typeface="Consolas"/>
                <a:sym typeface="Consolas"/>
              </a:rPr>
              <a:t>  transaction_date,</a:t>
            </a:r>
            <a:endParaRPr b="0" i="0" sz="1450" u="none" cap="none" strike="noStrike"/>
          </a:p>
          <a:p>
            <a:pPr indent="0" lvl="0" marL="0" marR="0" rtl="0" algn="l">
              <a:lnSpc>
                <a:spcPct val="144827"/>
              </a:lnSpc>
              <a:spcBef>
                <a:spcPts val="0"/>
              </a:spcBef>
              <a:spcAft>
                <a:spcPts val="0"/>
              </a:spcAft>
              <a:buClr>
                <a:srgbClr val="CFD0D8"/>
              </a:buClr>
              <a:buSzPts val="1450"/>
              <a:buFont typeface="Consolas"/>
              <a:buNone/>
            </a:pPr>
            <a:r>
              <a:rPr b="0" i="0" lang="en-US" sz="1450" u="none" cap="none" strike="noStrike">
                <a:solidFill>
                  <a:srgbClr val="CFD0D8"/>
                </a:solidFill>
                <a:highlight>
                  <a:srgbClr val="37373A"/>
                </a:highlight>
                <a:latin typeface="Consolas"/>
                <a:ea typeface="Consolas"/>
                <a:cs typeface="Consolas"/>
                <a:sym typeface="Consolas"/>
              </a:rPr>
              <a:t>  daily_sales,</a:t>
            </a:r>
            <a:endParaRPr b="0" i="0" sz="1450" u="none" cap="none" strike="noStrike"/>
          </a:p>
          <a:p>
            <a:pPr indent="0" lvl="0" marL="0" marR="0" rtl="0" algn="l">
              <a:lnSpc>
                <a:spcPct val="144827"/>
              </a:lnSpc>
              <a:spcBef>
                <a:spcPts val="0"/>
              </a:spcBef>
              <a:spcAft>
                <a:spcPts val="0"/>
              </a:spcAft>
              <a:buClr>
                <a:srgbClr val="CFD0D8"/>
              </a:buClr>
              <a:buSzPts val="1450"/>
              <a:buFont typeface="Consolas"/>
              <a:buNone/>
            </a:pPr>
            <a:r>
              <a:rPr b="0" i="0" lang="en-US" sz="1450" u="none" cap="none" strike="noStrike">
                <a:solidFill>
                  <a:srgbClr val="CFD0D8"/>
                </a:solidFill>
                <a:highlight>
                  <a:srgbClr val="37373A"/>
                </a:highlight>
                <a:latin typeface="Consolas"/>
                <a:ea typeface="Consolas"/>
                <a:cs typeface="Consolas"/>
                <a:sym typeface="Consolas"/>
              </a:rPr>
              <a:t>  AVG(daily_sales) OVER (</a:t>
            </a:r>
            <a:endParaRPr b="0" i="0" sz="1450" u="none" cap="none" strike="noStrike"/>
          </a:p>
          <a:p>
            <a:pPr indent="0" lvl="0" marL="0" marR="0" rtl="0" algn="l">
              <a:lnSpc>
                <a:spcPct val="144827"/>
              </a:lnSpc>
              <a:spcBef>
                <a:spcPts val="0"/>
              </a:spcBef>
              <a:spcAft>
                <a:spcPts val="0"/>
              </a:spcAft>
              <a:buClr>
                <a:srgbClr val="CFD0D8"/>
              </a:buClr>
              <a:buSzPts val="1450"/>
              <a:buFont typeface="Consolas"/>
              <a:buNone/>
            </a:pPr>
            <a:r>
              <a:rPr b="0" i="0" lang="en-US" sz="1450" u="none" cap="none" strike="noStrike">
                <a:solidFill>
                  <a:srgbClr val="CFD0D8"/>
                </a:solidFill>
                <a:highlight>
                  <a:srgbClr val="37373A"/>
                </a:highlight>
                <a:latin typeface="Consolas"/>
                <a:ea typeface="Consolas"/>
                <a:cs typeface="Consolas"/>
                <a:sym typeface="Consolas"/>
              </a:rPr>
              <a:t>    ORDER BY transaction_date ASC</a:t>
            </a:r>
            <a:endParaRPr b="0" i="0" sz="1450" u="none" cap="none" strike="noStrike"/>
          </a:p>
          <a:p>
            <a:pPr indent="0" lvl="0" marL="0" marR="0" rtl="0" algn="l">
              <a:lnSpc>
                <a:spcPct val="144827"/>
              </a:lnSpc>
              <a:spcBef>
                <a:spcPts val="0"/>
              </a:spcBef>
              <a:spcAft>
                <a:spcPts val="0"/>
              </a:spcAft>
              <a:buClr>
                <a:srgbClr val="CFD0D8"/>
              </a:buClr>
              <a:buSzPts val="1450"/>
              <a:buFont typeface="Consolas"/>
              <a:buNone/>
            </a:pPr>
            <a:r>
              <a:rPr b="0" i="0" lang="en-US" sz="1450" u="none" cap="none" strike="noStrike">
                <a:solidFill>
                  <a:srgbClr val="CFD0D8"/>
                </a:solidFill>
                <a:highlight>
                  <a:srgbClr val="37373A"/>
                </a:highlight>
                <a:latin typeface="Consolas"/>
                <a:ea typeface="Consolas"/>
                <a:cs typeface="Consolas"/>
                <a:sym typeface="Consolas"/>
              </a:rPr>
              <a:t>    ROWS BETWEEN 6 PRECEDING AND CURRENT ROW</a:t>
            </a:r>
            <a:endParaRPr b="0" i="0" sz="1450" u="none" cap="none" strike="noStrike"/>
          </a:p>
          <a:p>
            <a:pPr indent="0" lvl="0" marL="0" marR="0" rtl="0" algn="l">
              <a:lnSpc>
                <a:spcPct val="144827"/>
              </a:lnSpc>
              <a:spcBef>
                <a:spcPts val="0"/>
              </a:spcBef>
              <a:spcAft>
                <a:spcPts val="0"/>
              </a:spcAft>
              <a:buClr>
                <a:srgbClr val="CFD0D8"/>
              </a:buClr>
              <a:buSzPts val="1450"/>
              <a:buFont typeface="Consolas"/>
              <a:buNone/>
            </a:pPr>
            <a:r>
              <a:rPr b="0" i="0" lang="en-US" sz="1450" u="none" cap="none" strike="noStrike">
                <a:solidFill>
                  <a:srgbClr val="CFD0D8"/>
                </a:solidFill>
                <a:highlight>
                  <a:srgbClr val="37373A"/>
                </a:highlight>
                <a:latin typeface="Consolas"/>
                <a:ea typeface="Consolas"/>
                <a:cs typeface="Consolas"/>
                <a:sym typeface="Consolas"/>
              </a:rPr>
              <a:t>  ) as seven_day_moving_average</a:t>
            </a:r>
            <a:endParaRPr b="0" i="0" sz="1450" u="none" cap="none" strike="noStrike"/>
          </a:p>
          <a:p>
            <a:pPr indent="0" lvl="0" marL="0" marR="0" rtl="0" algn="l">
              <a:lnSpc>
                <a:spcPct val="144827"/>
              </a:lnSpc>
              <a:spcBef>
                <a:spcPts val="0"/>
              </a:spcBef>
              <a:spcAft>
                <a:spcPts val="0"/>
              </a:spcAft>
              <a:buClr>
                <a:srgbClr val="CFD0D8"/>
              </a:buClr>
              <a:buSzPts val="1450"/>
              <a:buFont typeface="Consolas"/>
              <a:buNone/>
            </a:pPr>
            <a:r>
              <a:rPr b="0" i="0" lang="en-US" sz="1450" u="none" cap="none" strike="noStrike">
                <a:solidFill>
                  <a:srgbClr val="CFD0D8"/>
                </a:solidFill>
                <a:highlight>
                  <a:srgbClr val="37373A"/>
                </a:highlight>
                <a:latin typeface="Consolas"/>
                <a:ea typeface="Consolas"/>
                <a:cs typeface="Consolas"/>
                <a:sym typeface="Consolas"/>
              </a:rPr>
              <a:t>FROM</a:t>
            </a:r>
            <a:endParaRPr b="0" i="0" sz="1450" u="none" cap="none" strike="noStrike"/>
          </a:p>
          <a:p>
            <a:pPr indent="0" lvl="0" marL="0" marR="0" rtl="0" algn="l">
              <a:lnSpc>
                <a:spcPct val="144827"/>
              </a:lnSpc>
              <a:spcBef>
                <a:spcPts val="0"/>
              </a:spcBef>
              <a:spcAft>
                <a:spcPts val="0"/>
              </a:spcAft>
              <a:buClr>
                <a:srgbClr val="CFD0D8"/>
              </a:buClr>
              <a:buSzPts val="1450"/>
              <a:buFont typeface="Consolas"/>
              <a:buNone/>
            </a:pPr>
            <a:r>
              <a:rPr b="0" i="0" lang="en-US" sz="1450" u="none" cap="none" strike="noStrike">
                <a:solidFill>
                  <a:srgbClr val="CFD0D8"/>
                </a:solidFill>
                <a:highlight>
                  <a:srgbClr val="37373A"/>
                </a:highlight>
                <a:latin typeface="Consolas"/>
                <a:ea typeface="Consolas"/>
                <a:cs typeface="Consolas"/>
                <a:sym typeface="Consolas"/>
              </a:rPr>
              <a:t>  SalesData;</a:t>
            </a:r>
            <a:endParaRPr b="0" i="0" sz="1450" u="none" cap="none" strike="noStrike"/>
          </a:p>
        </p:txBody>
      </p:sp>
      <p:sp>
        <p:nvSpPr>
          <p:cNvPr id="195" name="Google Shape;195;p27"/>
          <p:cNvSpPr/>
          <p:nvPr/>
        </p:nvSpPr>
        <p:spPr>
          <a:xfrm>
            <a:off x="7548086" y="5900310"/>
            <a:ext cx="6148200" cy="1356000"/>
          </a:xfrm>
          <a:prstGeom prst="rect">
            <a:avLst/>
          </a:prstGeom>
          <a:noFill/>
          <a:ln>
            <a:noFill/>
          </a:ln>
        </p:spPr>
        <p:txBody>
          <a:bodyPr anchorCtr="0" anchor="t" bIns="0" lIns="0" spcFirstLastPara="1" rIns="0" wrap="square" tIns="0">
            <a:noAutofit/>
          </a:bodyPr>
          <a:lstStyle/>
          <a:p>
            <a:pPr indent="0" lvl="0" marL="0" marR="0" rtl="0" algn="l">
              <a:lnSpc>
                <a:spcPct val="144827"/>
              </a:lnSpc>
              <a:spcBef>
                <a:spcPts val="0"/>
              </a:spcBef>
              <a:spcAft>
                <a:spcPts val="0"/>
              </a:spcAft>
              <a:buClr>
                <a:srgbClr val="CFD0D8"/>
              </a:buClr>
              <a:buSzPts val="1450"/>
              <a:buFont typeface="Instrument Sans"/>
              <a:buNone/>
            </a:pPr>
            <a:r>
              <a:rPr b="0" i="0" lang="en-US" sz="1450" u="none" cap="none" strike="noStrike">
                <a:solidFill>
                  <a:srgbClr val="CFD0D8"/>
                </a:solidFill>
                <a:latin typeface="Instrument Sans"/>
                <a:ea typeface="Instrument Sans"/>
                <a:cs typeface="Instrument Sans"/>
                <a:sym typeface="Instrument Sans"/>
              </a:rPr>
              <a:t>This query calculates a 7-day moving average of </a:t>
            </a:r>
            <a:r>
              <a:rPr b="0" i="0" lang="en-US" sz="1450" u="none" cap="none" strike="noStrike">
                <a:solidFill>
                  <a:srgbClr val="CFD0D8"/>
                </a:solidFill>
                <a:highlight>
                  <a:srgbClr val="37373A"/>
                </a:highlight>
                <a:latin typeface="Consolas"/>
                <a:ea typeface="Consolas"/>
                <a:cs typeface="Consolas"/>
                <a:sym typeface="Consolas"/>
              </a:rPr>
              <a:t>daily_sales</a:t>
            </a:r>
            <a:r>
              <a:rPr b="0" i="0" lang="en-US" sz="1450" u="none" cap="none" strike="noStrike">
                <a:solidFill>
                  <a:srgbClr val="CFD0D8"/>
                </a:solidFill>
                <a:latin typeface="Instrument Sans"/>
                <a:ea typeface="Instrument Sans"/>
                <a:cs typeface="Instrument Sans"/>
                <a:sym typeface="Instrument Sans"/>
              </a:rPr>
              <a:t>. For each day, it averages sales from that day and the six preceding days. This technique smooths out daily fluctuations, making it easier to spot underlying sales trends, like seasonal patterns or long-term growth/decline, which would be obscured by daily volatility alone.</a:t>
            </a:r>
            <a:endParaRPr b="0" i="0" sz="145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8"/>
          <p:cNvSpPr/>
          <p:nvPr/>
        </p:nvSpPr>
        <p:spPr>
          <a:xfrm>
            <a:off x="1942267" y="1207889"/>
            <a:ext cx="5888117" cy="486608"/>
          </a:xfrm>
          <a:prstGeom prst="rect">
            <a:avLst/>
          </a:prstGeom>
          <a:noFill/>
          <a:ln>
            <a:noFill/>
          </a:ln>
        </p:spPr>
        <p:txBody>
          <a:bodyPr anchorCtr="0" anchor="t" bIns="0" lIns="0" spcFirstLastPara="1" rIns="0" wrap="square" tIns="0">
            <a:noAutofit/>
          </a:bodyPr>
          <a:lstStyle/>
          <a:p>
            <a:pPr indent="0" lvl="0" marL="0" marR="0" rtl="0" algn="l">
              <a:lnSpc>
                <a:spcPct val="124590"/>
              </a:lnSpc>
              <a:spcBef>
                <a:spcPts val="0"/>
              </a:spcBef>
              <a:spcAft>
                <a:spcPts val="0"/>
              </a:spcAft>
              <a:buClr>
                <a:srgbClr val="CBCCCE"/>
              </a:buClr>
              <a:buSzPts val="3050"/>
              <a:buFont typeface="Instrument Sans"/>
              <a:buNone/>
            </a:pPr>
            <a:r>
              <a:rPr b="0" i="0" lang="en-US" sz="3050" u="none" cap="none" strike="noStrike">
                <a:solidFill>
                  <a:srgbClr val="CBCCCE"/>
                </a:solidFill>
                <a:latin typeface="Instrument Sans"/>
                <a:ea typeface="Instrument Sans"/>
                <a:cs typeface="Instrument Sans"/>
                <a:sym typeface="Instrument Sans"/>
              </a:rPr>
              <a:t>LAG(): Accessing Previous Rows</a:t>
            </a:r>
            <a:endParaRPr b="0" i="0" sz="3050" u="none" cap="none" strike="noStrike"/>
          </a:p>
        </p:txBody>
      </p:sp>
      <p:sp>
        <p:nvSpPr>
          <p:cNvPr id="202" name="Google Shape;202;p28"/>
          <p:cNvSpPr/>
          <p:nvPr/>
        </p:nvSpPr>
        <p:spPr>
          <a:xfrm>
            <a:off x="1830229" y="1854875"/>
            <a:ext cx="5406985" cy="5166717"/>
          </a:xfrm>
          <a:prstGeom prst="roundRect">
            <a:avLst>
              <a:gd fmla="val 2170" name="adj"/>
            </a:avLst>
          </a:prstGeom>
          <a:solidFill>
            <a:srgbClr val="D5D5D8">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28"/>
          <p:cNvSpPr/>
          <p:nvPr/>
        </p:nvSpPr>
        <p:spPr>
          <a:xfrm>
            <a:off x="1985963" y="1961793"/>
            <a:ext cx="2941796" cy="243245"/>
          </a:xfrm>
          <a:prstGeom prst="rect">
            <a:avLst/>
          </a:prstGeom>
          <a:noFill/>
          <a:ln>
            <a:noFill/>
          </a:ln>
        </p:spPr>
        <p:txBody>
          <a:bodyPr anchorCtr="0" anchor="t" bIns="0" lIns="0" spcFirstLastPara="1" rIns="0" wrap="square" tIns="0">
            <a:noAutofit/>
          </a:bodyPr>
          <a:lstStyle/>
          <a:p>
            <a:pPr indent="0" lvl="0" marL="0" marR="0" rtl="0" algn="l">
              <a:lnSpc>
                <a:spcPct val="126666"/>
              </a:lnSpc>
              <a:spcBef>
                <a:spcPts val="0"/>
              </a:spcBef>
              <a:spcAft>
                <a:spcPts val="0"/>
              </a:spcAft>
              <a:buClr>
                <a:srgbClr val="000000"/>
              </a:buClr>
              <a:buSzPts val="1500"/>
              <a:buFont typeface="Instrument Sans SemiBold"/>
              <a:buNone/>
            </a:pPr>
            <a:r>
              <a:rPr b="1" i="0" lang="en-US" sz="1500" u="none" cap="none" strike="noStrike">
                <a:solidFill>
                  <a:srgbClr val="000000"/>
                </a:solidFill>
                <a:latin typeface="Instrument Sans SemiBold"/>
                <a:ea typeface="Instrument Sans SemiBold"/>
                <a:cs typeface="Instrument Sans SemiBold"/>
                <a:sym typeface="Instrument Sans SemiBold"/>
              </a:rPr>
              <a:t>What it Does &amp; When to Apply It</a:t>
            </a:r>
            <a:endParaRPr b="0" i="0" sz="1500" u="none" cap="none" strike="noStrike"/>
          </a:p>
        </p:txBody>
      </p:sp>
      <p:sp>
        <p:nvSpPr>
          <p:cNvPr id="204" name="Google Shape;204;p28"/>
          <p:cNvSpPr/>
          <p:nvPr/>
        </p:nvSpPr>
        <p:spPr>
          <a:xfrm>
            <a:off x="1985963" y="2311956"/>
            <a:ext cx="5095518" cy="855345"/>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Clr>
                <a:srgbClr val="000000"/>
              </a:buClr>
              <a:buSzPts val="1200"/>
              <a:buFont typeface="Consolas"/>
              <a:buNone/>
            </a:pPr>
            <a:r>
              <a:rPr b="0" i="0" lang="en-US" sz="1200" u="none" cap="none" strike="noStrike">
                <a:solidFill>
                  <a:srgbClr val="000000"/>
                </a:solidFill>
                <a:highlight>
                  <a:srgbClr val="C8C8CB"/>
                </a:highlight>
                <a:latin typeface="Consolas"/>
                <a:ea typeface="Consolas"/>
                <a:cs typeface="Consolas"/>
                <a:sym typeface="Consolas"/>
              </a:rPr>
              <a:t>LAG()</a:t>
            </a:r>
            <a:r>
              <a:rPr b="0" i="0" lang="en-US" sz="1200" u="none" cap="none" strike="noStrike">
                <a:solidFill>
                  <a:srgbClr val="000000"/>
                </a:solidFill>
                <a:latin typeface="Instrument Sans Medium"/>
                <a:ea typeface="Instrument Sans Medium"/>
                <a:cs typeface="Instrument Sans Medium"/>
                <a:sym typeface="Instrument Sans Medium"/>
              </a:rPr>
              <a:t> is a powerful window function that retrieves a value from a row that precedes the current row within the same result set. This allows for direct comparison of a row's data with values from logically earlier, related rows, eliminating the need for complex self-joins.</a:t>
            </a:r>
            <a:endParaRPr b="0" i="0" sz="1200" u="none" cap="none" strike="noStrike"/>
          </a:p>
        </p:txBody>
      </p:sp>
      <p:sp>
        <p:nvSpPr>
          <p:cNvPr id="205" name="Google Shape;205;p28"/>
          <p:cNvSpPr/>
          <p:nvPr/>
        </p:nvSpPr>
        <p:spPr>
          <a:xfrm>
            <a:off x="1985963" y="3263503"/>
            <a:ext cx="5095518" cy="1095851"/>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Clr>
                <a:srgbClr val="000000"/>
              </a:buClr>
              <a:buSzPts val="1200"/>
              <a:buFont typeface="Instrument Sans Medium"/>
              <a:buNone/>
            </a:pPr>
            <a:r>
              <a:rPr b="0" i="0" lang="en-US" sz="1200" u="none" cap="none" strike="noStrike">
                <a:solidFill>
                  <a:srgbClr val="000000"/>
                </a:solidFill>
                <a:latin typeface="Instrument Sans Medium"/>
                <a:ea typeface="Instrument Sans Medium"/>
                <a:cs typeface="Instrument Sans Medium"/>
                <a:sym typeface="Instrument Sans Medium"/>
              </a:rPr>
              <a:t>It accesses previous rows based on a specified offset and the ordering within its </a:t>
            </a:r>
            <a:r>
              <a:rPr b="0" i="0" lang="en-US" sz="1200" u="none" cap="none" strike="noStrike">
                <a:solidFill>
                  <a:srgbClr val="000000"/>
                </a:solidFill>
                <a:highlight>
                  <a:srgbClr val="C8C8CB"/>
                </a:highlight>
                <a:latin typeface="Consolas"/>
                <a:ea typeface="Consolas"/>
                <a:cs typeface="Consolas"/>
                <a:sym typeface="Consolas"/>
              </a:rPr>
              <a:t>OVER</a:t>
            </a:r>
            <a:r>
              <a:rPr b="0" i="0" lang="en-US" sz="1200" u="none" cap="none" strike="noStrike">
                <a:solidFill>
                  <a:srgbClr val="000000"/>
                </a:solidFill>
                <a:latin typeface="Instrument Sans Medium"/>
                <a:ea typeface="Instrument Sans Medium"/>
                <a:cs typeface="Instrument Sans Medium"/>
                <a:sym typeface="Instrument Sans Medium"/>
              </a:rPr>
              <a:t> clause. Crucially, the </a:t>
            </a:r>
            <a:r>
              <a:rPr b="0" i="0" lang="en-US" sz="1200" u="none" cap="none" strike="noStrike">
                <a:solidFill>
                  <a:srgbClr val="000000"/>
                </a:solidFill>
                <a:highlight>
                  <a:srgbClr val="C8C8CB"/>
                </a:highlight>
                <a:latin typeface="Consolas"/>
                <a:ea typeface="Consolas"/>
                <a:cs typeface="Consolas"/>
                <a:sym typeface="Consolas"/>
              </a:rPr>
              <a:t>offset</a:t>
            </a:r>
            <a:r>
              <a:rPr b="0" i="0" lang="en-US" sz="1200" u="none" cap="none" strike="noStrike">
                <a:solidFill>
                  <a:srgbClr val="000000"/>
                </a:solidFill>
                <a:latin typeface="Instrument Sans Medium"/>
                <a:ea typeface="Instrument Sans Medium"/>
                <a:cs typeface="Instrument Sans Medium"/>
                <a:sym typeface="Instrument Sans Medium"/>
              </a:rPr>
              <a:t> parameter (defaulting to 1) determines how many rows back to look. If no preceding row exists (e.g., for the very first row in a partition), </a:t>
            </a:r>
            <a:r>
              <a:rPr b="0" i="0" lang="en-US" sz="1200" u="none" cap="none" strike="noStrike">
                <a:solidFill>
                  <a:srgbClr val="000000"/>
                </a:solidFill>
                <a:highlight>
                  <a:srgbClr val="C8C8CB"/>
                </a:highlight>
                <a:latin typeface="Consolas"/>
                <a:ea typeface="Consolas"/>
                <a:cs typeface="Consolas"/>
                <a:sym typeface="Consolas"/>
              </a:rPr>
              <a:t>LAG()</a:t>
            </a:r>
            <a:r>
              <a:rPr b="0" i="0" lang="en-US" sz="1200" u="none" cap="none" strike="noStrike">
                <a:solidFill>
                  <a:srgbClr val="000000"/>
                </a:solidFill>
                <a:latin typeface="Instrument Sans Medium"/>
                <a:ea typeface="Instrument Sans Medium"/>
                <a:cs typeface="Instrument Sans Medium"/>
                <a:sym typeface="Instrument Sans Medium"/>
              </a:rPr>
              <a:t> returns </a:t>
            </a:r>
            <a:r>
              <a:rPr b="0" i="0" lang="en-US" sz="1200" u="none" cap="none" strike="noStrike">
                <a:solidFill>
                  <a:srgbClr val="000000"/>
                </a:solidFill>
                <a:highlight>
                  <a:srgbClr val="C8C8CB"/>
                </a:highlight>
                <a:latin typeface="Consolas"/>
                <a:ea typeface="Consolas"/>
                <a:cs typeface="Consolas"/>
                <a:sym typeface="Consolas"/>
              </a:rPr>
              <a:t>NULL</a:t>
            </a:r>
            <a:r>
              <a:rPr b="0" i="0" lang="en-US" sz="1200" u="none" cap="none" strike="noStrike">
                <a:solidFill>
                  <a:srgbClr val="000000"/>
                </a:solidFill>
                <a:latin typeface="Instrument Sans Medium"/>
                <a:ea typeface="Instrument Sans Medium"/>
                <a:cs typeface="Instrument Sans Medium"/>
                <a:sym typeface="Instrument Sans Medium"/>
              </a:rPr>
              <a:t>, which can be overridden by a specified </a:t>
            </a:r>
            <a:r>
              <a:rPr b="0" i="0" lang="en-US" sz="1200" u="none" cap="none" strike="noStrike">
                <a:solidFill>
                  <a:srgbClr val="000000"/>
                </a:solidFill>
                <a:highlight>
                  <a:srgbClr val="C8C8CB"/>
                </a:highlight>
                <a:latin typeface="Consolas"/>
                <a:ea typeface="Consolas"/>
                <a:cs typeface="Consolas"/>
                <a:sym typeface="Consolas"/>
              </a:rPr>
              <a:t>default_value</a:t>
            </a:r>
            <a:r>
              <a:rPr b="0" i="0" lang="en-US" sz="1200" u="none" cap="none" strike="noStrike">
                <a:solidFill>
                  <a:srgbClr val="000000"/>
                </a:solidFill>
                <a:latin typeface="Instrument Sans Medium"/>
                <a:ea typeface="Instrument Sans Medium"/>
                <a:cs typeface="Instrument Sans Medium"/>
                <a:sym typeface="Instrument Sans Medium"/>
              </a:rPr>
              <a:t>.</a:t>
            </a:r>
            <a:endParaRPr b="0" i="0" sz="1200" u="none" cap="none" strike="noStrike"/>
          </a:p>
        </p:txBody>
      </p:sp>
      <p:sp>
        <p:nvSpPr>
          <p:cNvPr id="206" name="Google Shape;206;p28"/>
          <p:cNvSpPr/>
          <p:nvPr/>
        </p:nvSpPr>
        <p:spPr>
          <a:xfrm>
            <a:off x="1985963" y="4455557"/>
            <a:ext cx="5095518" cy="840523"/>
          </a:xfrm>
          <a:prstGeom prst="rect">
            <a:avLst/>
          </a:prstGeom>
          <a:noFill/>
          <a:ln>
            <a:noFill/>
          </a:ln>
        </p:spPr>
        <p:txBody>
          <a:bodyPr anchorCtr="0" anchor="t" bIns="0" lIns="0" spcFirstLastPara="1" rIns="0" wrap="square" tIns="0">
            <a:noAutofit/>
          </a:bodyPr>
          <a:lstStyle/>
          <a:p>
            <a:pPr indent="-342900" lvl="0" marL="342900" marR="0" rtl="0" algn="l">
              <a:lnSpc>
                <a:spcPct val="137500"/>
              </a:lnSpc>
              <a:spcBef>
                <a:spcPts val="0"/>
              </a:spcBef>
              <a:spcAft>
                <a:spcPts val="0"/>
              </a:spcAft>
              <a:buClr>
                <a:srgbClr val="000000"/>
              </a:buClr>
              <a:buSzPts val="1200"/>
              <a:buFont typeface="Instrument Sans Medium"/>
              <a:buChar char="•"/>
            </a:pPr>
            <a:r>
              <a:rPr b="0" i="0" lang="en-US" sz="1200" u="none" cap="none" strike="noStrike">
                <a:solidFill>
                  <a:srgbClr val="000000"/>
                </a:solidFill>
                <a:latin typeface="Instrument Sans Medium"/>
                <a:ea typeface="Instrument Sans Medium"/>
                <a:cs typeface="Instrument Sans Medium"/>
                <a:sym typeface="Instrument Sans Medium"/>
              </a:rPr>
              <a:t>Calculate period-over-period growth (e.g., month-over-month sales, daily stock changes).</a:t>
            </a:r>
            <a:endParaRPr b="0" i="0" sz="1200" u="none" cap="none" strike="noStrike"/>
          </a:p>
          <a:p>
            <a:pPr indent="-342900" lvl="0" marL="342900" marR="0" rtl="0" algn="l">
              <a:lnSpc>
                <a:spcPct val="137500"/>
              </a:lnSpc>
              <a:spcBef>
                <a:spcPts val="0"/>
              </a:spcBef>
              <a:spcAft>
                <a:spcPts val="0"/>
              </a:spcAft>
              <a:buClr>
                <a:srgbClr val="000000"/>
              </a:buClr>
              <a:buSzPts val="1200"/>
              <a:buFont typeface="Instrument Sans Medium"/>
              <a:buChar char="•"/>
            </a:pPr>
            <a:r>
              <a:rPr b="0" i="0" lang="en-US" sz="1200" u="none" cap="none" strike="noStrike">
                <a:solidFill>
                  <a:srgbClr val="000000"/>
                </a:solidFill>
                <a:latin typeface="Instrument Sans Medium"/>
                <a:ea typeface="Instrument Sans Medium"/>
                <a:cs typeface="Instrument Sans Medium"/>
                <a:sym typeface="Instrument Sans Medium"/>
              </a:rPr>
              <a:t>Compare consecutive records to identify trends or deviations.</a:t>
            </a:r>
            <a:endParaRPr b="0" i="0" sz="1200" u="none" cap="none" strike="noStrike"/>
          </a:p>
          <a:p>
            <a:pPr indent="-342900" lvl="0" marL="342900" marR="0" rtl="0" algn="l">
              <a:lnSpc>
                <a:spcPct val="137500"/>
              </a:lnSpc>
              <a:spcBef>
                <a:spcPts val="0"/>
              </a:spcBef>
              <a:spcAft>
                <a:spcPts val="0"/>
              </a:spcAft>
              <a:buClr>
                <a:srgbClr val="000000"/>
              </a:buClr>
              <a:buSzPts val="1200"/>
              <a:buFont typeface="Instrument Sans Medium"/>
              <a:buChar char="•"/>
            </a:pPr>
            <a:r>
              <a:rPr b="0" i="0" lang="en-US" sz="1200" u="none" cap="none" strike="noStrike">
                <a:solidFill>
                  <a:srgbClr val="000000"/>
                </a:solidFill>
                <a:latin typeface="Instrument Sans Medium"/>
                <a:ea typeface="Instrument Sans Medium"/>
                <a:cs typeface="Instrument Sans Medium"/>
                <a:sym typeface="Instrument Sans Medium"/>
              </a:rPr>
              <a:t>Analyze sequences of events or user actions.</a:t>
            </a:r>
            <a:endParaRPr b="0" i="0" sz="1200" u="none" cap="none" strike="noStrike"/>
          </a:p>
        </p:txBody>
      </p:sp>
      <p:sp>
        <p:nvSpPr>
          <p:cNvPr id="207" name="Google Shape;207;p28"/>
          <p:cNvSpPr/>
          <p:nvPr/>
        </p:nvSpPr>
        <p:spPr>
          <a:xfrm>
            <a:off x="7512606" y="1961793"/>
            <a:ext cx="2768441" cy="243245"/>
          </a:xfrm>
          <a:prstGeom prst="rect">
            <a:avLst/>
          </a:prstGeom>
          <a:noFill/>
          <a:ln>
            <a:noFill/>
          </a:ln>
        </p:spPr>
        <p:txBody>
          <a:bodyPr anchorCtr="0" anchor="t" bIns="0" lIns="0" spcFirstLastPara="1" rIns="0" wrap="square" tIns="0">
            <a:noAutofit/>
          </a:bodyPr>
          <a:lstStyle/>
          <a:p>
            <a:pPr indent="0" lvl="0" marL="0" marR="0" rtl="0" algn="l">
              <a:lnSpc>
                <a:spcPct val="126666"/>
              </a:lnSpc>
              <a:spcBef>
                <a:spcPts val="0"/>
              </a:spcBef>
              <a:spcAft>
                <a:spcPts val="0"/>
              </a:spcAft>
              <a:buClr>
                <a:srgbClr val="CBCCCE"/>
              </a:buClr>
              <a:buSzPts val="1500"/>
              <a:buFont typeface="Instrument Sans"/>
              <a:buNone/>
            </a:pPr>
            <a:r>
              <a:rPr b="0" i="0" lang="en-US" sz="1500" u="none" cap="none" strike="noStrike">
                <a:solidFill>
                  <a:srgbClr val="CBCCCE"/>
                </a:solidFill>
                <a:latin typeface="Instrument Sans"/>
                <a:ea typeface="Instrument Sans"/>
                <a:cs typeface="Instrument Sans"/>
                <a:sym typeface="Instrument Sans"/>
              </a:rPr>
              <a:t>Syntax &amp; Practical Application</a:t>
            </a:r>
            <a:endParaRPr b="0" i="0" sz="1500" u="none" cap="none" strike="noStrike"/>
          </a:p>
        </p:txBody>
      </p:sp>
      <p:sp>
        <p:nvSpPr>
          <p:cNvPr id="208" name="Google Shape;208;p28"/>
          <p:cNvSpPr/>
          <p:nvPr/>
        </p:nvSpPr>
        <p:spPr>
          <a:xfrm>
            <a:off x="7512606" y="2325291"/>
            <a:ext cx="5182910" cy="3173968"/>
          </a:xfrm>
          <a:prstGeom prst="roundRect">
            <a:avLst>
              <a:gd fmla="val 2061" name="adj"/>
            </a:avLst>
          </a:prstGeom>
          <a:solidFill>
            <a:srgbClr val="3737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28"/>
          <p:cNvSpPr/>
          <p:nvPr/>
        </p:nvSpPr>
        <p:spPr>
          <a:xfrm>
            <a:off x="7504867" y="2325291"/>
            <a:ext cx="5198388" cy="3173968"/>
          </a:xfrm>
          <a:prstGeom prst="roundRect">
            <a:avLst>
              <a:gd fmla="val 736" name="adj"/>
            </a:avLst>
          </a:prstGeom>
          <a:solidFill>
            <a:srgbClr val="3737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8"/>
          <p:cNvSpPr/>
          <p:nvPr/>
        </p:nvSpPr>
        <p:spPr>
          <a:xfrm>
            <a:off x="7660600" y="2442091"/>
            <a:ext cx="4886920" cy="2940367"/>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Clr>
                <a:srgbClr val="CFD0D8"/>
              </a:buClr>
              <a:buSzPts val="1200"/>
              <a:buFont typeface="Consolas"/>
              <a:buNone/>
            </a:pPr>
            <a:r>
              <a:rPr b="0" i="0" lang="en-US" sz="1200" u="none" cap="none" strike="noStrike">
                <a:solidFill>
                  <a:srgbClr val="CFD0D8"/>
                </a:solidFill>
                <a:highlight>
                  <a:srgbClr val="37373A"/>
                </a:highlight>
                <a:latin typeface="Consolas"/>
                <a:ea typeface="Consolas"/>
                <a:cs typeface="Consolas"/>
                <a:sym typeface="Consolas"/>
              </a:rPr>
              <a:t>SELECT</a:t>
            </a:r>
            <a:endParaRPr b="0" i="0" sz="1200" u="none" cap="none" strike="noStrike"/>
          </a:p>
          <a:p>
            <a:pPr indent="0" lvl="0" marL="0" marR="0" rtl="0" algn="l">
              <a:lnSpc>
                <a:spcPct val="137500"/>
              </a:lnSpc>
              <a:spcBef>
                <a:spcPts val="0"/>
              </a:spcBef>
              <a:spcAft>
                <a:spcPts val="0"/>
              </a:spcAft>
              <a:buClr>
                <a:srgbClr val="CFD0D8"/>
              </a:buClr>
              <a:buSzPts val="1200"/>
              <a:buFont typeface="Consolas"/>
              <a:buNone/>
            </a:pPr>
            <a:r>
              <a:rPr b="0" i="0" lang="en-US" sz="1200" u="none" cap="none" strike="noStrike">
                <a:solidFill>
                  <a:srgbClr val="CFD0D8"/>
                </a:solidFill>
                <a:highlight>
                  <a:srgbClr val="37373A"/>
                </a:highlight>
                <a:latin typeface="Consolas"/>
                <a:ea typeface="Consolas"/>
                <a:cs typeface="Consolas"/>
                <a:sym typeface="Consolas"/>
              </a:rPr>
              <a:t>  transaction_date,</a:t>
            </a:r>
            <a:endParaRPr b="0" i="0" sz="1200" u="none" cap="none" strike="noStrike"/>
          </a:p>
          <a:p>
            <a:pPr indent="0" lvl="0" marL="0" marR="0" rtl="0" algn="l">
              <a:lnSpc>
                <a:spcPct val="137500"/>
              </a:lnSpc>
              <a:spcBef>
                <a:spcPts val="0"/>
              </a:spcBef>
              <a:spcAft>
                <a:spcPts val="0"/>
              </a:spcAft>
              <a:buClr>
                <a:srgbClr val="CFD0D8"/>
              </a:buClr>
              <a:buSzPts val="1200"/>
              <a:buFont typeface="Consolas"/>
              <a:buNone/>
            </a:pPr>
            <a:r>
              <a:rPr b="0" i="0" lang="en-US" sz="1200" u="none" cap="none" strike="noStrike">
                <a:solidFill>
                  <a:srgbClr val="CFD0D8"/>
                </a:solidFill>
                <a:highlight>
                  <a:srgbClr val="37373A"/>
                </a:highlight>
                <a:latin typeface="Consolas"/>
                <a:ea typeface="Consolas"/>
                <a:cs typeface="Consolas"/>
                <a:sym typeface="Consolas"/>
              </a:rPr>
              <a:t>  product_id,</a:t>
            </a:r>
            <a:endParaRPr b="0" i="0" sz="1200" u="none" cap="none" strike="noStrike"/>
          </a:p>
          <a:p>
            <a:pPr indent="0" lvl="0" marL="0" marR="0" rtl="0" algn="l">
              <a:lnSpc>
                <a:spcPct val="137500"/>
              </a:lnSpc>
              <a:spcBef>
                <a:spcPts val="0"/>
              </a:spcBef>
              <a:spcAft>
                <a:spcPts val="0"/>
              </a:spcAft>
              <a:buClr>
                <a:srgbClr val="CFD0D8"/>
              </a:buClr>
              <a:buSzPts val="1200"/>
              <a:buFont typeface="Consolas"/>
              <a:buNone/>
            </a:pPr>
            <a:r>
              <a:rPr b="0" i="0" lang="en-US" sz="1200" u="none" cap="none" strike="noStrike">
                <a:solidFill>
                  <a:srgbClr val="CFD0D8"/>
                </a:solidFill>
                <a:highlight>
                  <a:srgbClr val="37373A"/>
                </a:highlight>
                <a:latin typeface="Consolas"/>
                <a:ea typeface="Consolas"/>
                <a:cs typeface="Consolas"/>
                <a:sym typeface="Consolas"/>
              </a:rPr>
              <a:t>  sales_amount,</a:t>
            </a:r>
            <a:endParaRPr b="0" i="0" sz="1200" u="none" cap="none" strike="noStrike"/>
          </a:p>
          <a:p>
            <a:pPr indent="0" lvl="0" marL="0" marR="0" rtl="0" algn="l">
              <a:lnSpc>
                <a:spcPct val="137500"/>
              </a:lnSpc>
              <a:spcBef>
                <a:spcPts val="0"/>
              </a:spcBef>
              <a:spcAft>
                <a:spcPts val="0"/>
              </a:spcAft>
              <a:buClr>
                <a:srgbClr val="CFD0D8"/>
              </a:buClr>
              <a:buSzPts val="1200"/>
              <a:buFont typeface="Consolas"/>
              <a:buNone/>
            </a:pPr>
            <a:r>
              <a:rPr b="0" i="0" lang="en-US" sz="1200" u="none" cap="none" strike="noStrike">
                <a:solidFill>
                  <a:srgbClr val="CFD0D8"/>
                </a:solidFill>
                <a:highlight>
                  <a:srgbClr val="37373A"/>
                </a:highlight>
                <a:latin typeface="Consolas"/>
                <a:ea typeface="Consolas"/>
                <a:cs typeface="Consolas"/>
                <a:sym typeface="Consolas"/>
              </a:rPr>
              <a:t>  LAG(sales_amount, 1, 0) OVER (</a:t>
            </a:r>
            <a:endParaRPr b="0" i="0" sz="1200" u="none" cap="none" strike="noStrike"/>
          </a:p>
          <a:p>
            <a:pPr indent="0" lvl="0" marL="0" marR="0" rtl="0" algn="l">
              <a:lnSpc>
                <a:spcPct val="137500"/>
              </a:lnSpc>
              <a:spcBef>
                <a:spcPts val="0"/>
              </a:spcBef>
              <a:spcAft>
                <a:spcPts val="0"/>
              </a:spcAft>
              <a:buClr>
                <a:srgbClr val="CFD0D8"/>
              </a:buClr>
              <a:buSzPts val="1200"/>
              <a:buFont typeface="Consolas"/>
              <a:buNone/>
            </a:pPr>
            <a:r>
              <a:rPr b="0" i="0" lang="en-US" sz="1200" u="none" cap="none" strike="noStrike">
                <a:solidFill>
                  <a:srgbClr val="CFD0D8"/>
                </a:solidFill>
                <a:highlight>
                  <a:srgbClr val="37373A"/>
                </a:highlight>
                <a:latin typeface="Consolas"/>
                <a:ea typeface="Consolas"/>
                <a:cs typeface="Consolas"/>
                <a:sym typeface="Consolas"/>
              </a:rPr>
              <a:t>    PARTITION BY product_id</a:t>
            </a:r>
            <a:endParaRPr b="0" i="0" sz="1200" u="none" cap="none" strike="noStrike"/>
          </a:p>
          <a:p>
            <a:pPr indent="0" lvl="0" marL="0" marR="0" rtl="0" algn="l">
              <a:lnSpc>
                <a:spcPct val="137500"/>
              </a:lnSpc>
              <a:spcBef>
                <a:spcPts val="0"/>
              </a:spcBef>
              <a:spcAft>
                <a:spcPts val="0"/>
              </a:spcAft>
              <a:buClr>
                <a:srgbClr val="CFD0D8"/>
              </a:buClr>
              <a:buSzPts val="1200"/>
              <a:buFont typeface="Consolas"/>
              <a:buNone/>
            </a:pPr>
            <a:r>
              <a:rPr b="0" i="0" lang="en-US" sz="1200" u="none" cap="none" strike="noStrike">
                <a:solidFill>
                  <a:srgbClr val="CFD0D8"/>
                </a:solidFill>
                <a:highlight>
                  <a:srgbClr val="37373A"/>
                </a:highlight>
                <a:latin typeface="Consolas"/>
                <a:ea typeface="Consolas"/>
                <a:cs typeface="Consolas"/>
                <a:sym typeface="Consolas"/>
              </a:rPr>
              <a:t>    ORDER BY transaction_date</a:t>
            </a:r>
            <a:endParaRPr b="0" i="0" sz="1200" u="none" cap="none" strike="noStrike"/>
          </a:p>
          <a:p>
            <a:pPr indent="0" lvl="0" marL="0" marR="0" rtl="0" algn="l">
              <a:lnSpc>
                <a:spcPct val="137500"/>
              </a:lnSpc>
              <a:spcBef>
                <a:spcPts val="0"/>
              </a:spcBef>
              <a:spcAft>
                <a:spcPts val="0"/>
              </a:spcAft>
              <a:buClr>
                <a:srgbClr val="CFD0D8"/>
              </a:buClr>
              <a:buSzPts val="1200"/>
              <a:buFont typeface="Consolas"/>
              <a:buNone/>
            </a:pPr>
            <a:r>
              <a:rPr b="0" i="0" lang="en-US" sz="1200" u="none" cap="none" strike="noStrike">
                <a:solidFill>
                  <a:srgbClr val="CFD0D8"/>
                </a:solidFill>
                <a:highlight>
                  <a:srgbClr val="37373A"/>
                </a:highlight>
                <a:latin typeface="Consolas"/>
                <a:ea typeface="Consolas"/>
                <a:cs typeface="Consolas"/>
                <a:sym typeface="Consolas"/>
              </a:rPr>
              <a:t>  ) as previous_sale,</a:t>
            </a:r>
            <a:endParaRPr b="0" i="0" sz="1200" u="none" cap="none" strike="noStrike"/>
          </a:p>
          <a:p>
            <a:pPr indent="0" lvl="0" marL="0" marR="0" rtl="0" algn="l">
              <a:lnSpc>
                <a:spcPct val="137500"/>
              </a:lnSpc>
              <a:spcBef>
                <a:spcPts val="0"/>
              </a:spcBef>
              <a:spcAft>
                <a:spcPts val="0"/>
              </a:spcAft>
              <a:buClr>
                <a:srgbClr val="CFD0D8"/>
              </a:buClr>
              <a:buSzPts val="1200"/>
              <a:buFont typeface="Consolas"/>
              <a:buNone/>
            </a:pPr>
            <a:r>
              <a:rPr b="0" i="0" lang="en-US" sz="1200" u="none" cap="none" strike="noStrike">
                <a:solidFill>
                  <a:srgbClr val="CFD0D8"/>
                </a:solidFill>
                <a:highlight>
                  <a:srgbClr val="37373A"/>
                </a:highlight>
                <a:latin typeface="Consolas"/>
                <a:ea typeface="Consolas"/>
                <a:cs typeface="Consolas"/>
                <a:sym typeface="Consolas"/>
              </a:rPr>
              <a:t>  (sales_amount - LAG(sales_amount, 1, 0) OVER (</a:t>
            </a:r>
            <a:endParaRPr b="0" i="0" sz="1200" u="none" cap="none" strike="noStrike"/>
          </a:p>
          <a:p>
            <a:pPr indent="0" lvl="0" marL="0" marR="0" rtl="0" algn="l">
              <a:lnSpc>
                <a:spcPct val="137500"/>
              </a:lnSpc>
              <a:spcBef>
                <a:spcPts val="0"/>
              </a:spcBef>
              <a:spcAft>
                <a:spcPts val="0"/>
              </a:spcAft>
              <a:buClr>
                <a:srgbClr val="CFD0D8"/>
              </a:buClr>
              <a:buSzPts val="1200"/>
              <a:buFont typeface="Consolas"/>
              <a:buNone/>
            </a:pPr>
            <a:r>
              <a:rPr b="0" i="0" lang="en-US" sz="1200" u="none" cap="none" strike="noStrike">
                <a:solidFill>
                  <a:srgbClr val="CFD0D8"/>
                </a:solidFill>
                <a:highlight>
                  <a:srgbClr val="37373A"/>
                </a:highlight>
                <a:latin typeface="Consolas"/>
                <a:ea typeface="Consolas"/>
                <a:cs typeface="Consolas"/>
                <a:sym typeface="Consolas"/>
              </a:rPr>
              <a:t>    PARTITION BY product_id</a:t>
            </a:r>
            <a:endParaRPr b="0" i="0" sz="1200" u="none" cap="none" strike="noStrike"/>
          </a:p>
          <a:p>
            <a:pPr indent="0" lvl="0" marL="0" marR="0" rtl="0" algn="l">
              <a:lnSpc>
                <a:spcPct val="137500"/>
              </a:lnSpc>
              <a:spcBef>
                <a:spcPts val="0"/>
              </a:spcBef>
              <a:spcAft>
                <a:spcPts val="0"/>
              </a:spcAft>
              <a:buClr>
                <a:srgbClr val="CFD0D8"/>
              </a:buClr>
              <a:buSzPts val="1200"/>
              <a:buFont typeface="Consolas"/>
              <a:buNone/>
            </a:pPr>
            <a:r>
              <a:rPr b="0" i="0" lang="en-US" sz="1200" u="none" cap="none" strike="noStrike">
                <a:solidFill>
                  <a:srgbClr val="CFD0D8"/>
                </a:solidFill>
                <a:highlight>
                  <a:srgbClr val="37373A"/>
                </a:highlight>
                <a:latin typeface="Consolas"/>
                <a:ea typeface="Consolas"/>
                <a:cs typeface="Consolas"/>
                <a:sym typeface="Consolas"/>
              </a:rPr>
              <a:t>    ORDER BY transaction_date</a:t>
            </a:r>
            <a:endParaRPr b="0" i="0" sz="1200" u="none" cap="none" strike="noStrike"/>
          </a:p>
          <a:p>
            <a:pPr indent="0" lvl="0" marL="0" marR="0" rtl="0" algn="l">
              <a:lnSpc>
                <a:spcPct val="137500"/>
              </a:lnSpc>
              <a:spcBef>
                <a:spcPts val="0"/>
              </a:spcBef>
              <a:spcAft>
                <a:spcPts val="0"/>
              </a:spcAft>
              <a:buClr>
                <a:srgbClr val="CFD0D8"/>
              </a:buClr>
              <a:buSzPts val="1200"/>
              <a:buFont typeface="Consolas"/>
              <a:buNone/>
            </a:pPr>
            <a:r>
              <a:rPr b="0" i="0" lang="en-US" sz="1200" u="none" cap="none" strike="noStrike">
                <a:solidFill>
                  <a:srgbClr val="CFD0D8"/>
                </a:solidFill>
                <a:highlight>
                  <a:srgbClr val="37373A"/>
                </a:highlight>
                <a:latin typeface="Consolas"/>
                <a:ea typeface="Consolas"/>
                <a:cs typeface="Consolas"/>
                <a:sym typeface="Consolas"/>
              </a:rPr>
              <a:t>  )) as sales_difference</a:t>
            </a:r>
            <a:endParaRPr b="0" i="0" sz="1200" u="none" cap="none" strike="noStrike"/>
          </a:p>
          <a:p>
            <a:pPr indent="0" lvl="0" marL="0" marR="0" rtl="0" algn="l">
              <a:lnSpc>
                <a:spcPct val="137500"/>
              </a:lnSpc>
              <a:spcBef>
                <a:spcPts val="0"/>
              </a:spcBef>
              <a:spcAft>
                <a:spcPts val="0"/>
              </a:spcAft>
              <a:buClr>
                <a:srgbClr val="CFD0D8"/>
              </a:buClr>
              <a:buSzPts val="1200"/>
              <a:buFont typeface="Consolas"/>
              <a:buNone/>
            </a:pPr>
            <a:r>
              <a:rPr b="0" i="0" lang="en-US" sz="1200" u="none" cap="none" strike="noStrike">
                <a:solidFill>
                  <a:srgbClr val="CFD0D8"/>
                </a:solidFill>
                <a:highlight>
                  <a:srgbClr val="37373A"/>
                </a:highlight>
                <a:latin typeface="Consolas"/>
                <a:ea typeface="Consolas"/>
                <a:cs typeface="Consolas"/>
                <a:sym typeface="Consolas"/>
              </a:rPr>
              <a:t>FROM</a:t>
            </a:r>
            <a:endParaRPr b="0" i="0" sz="1200" u="none" cap="none" strike="noStrike"/>
          </a:p>
          <a:p>
            <a:pPr indent="0" lvl="0" marL="0" marR="0" rtl="0" algn="l">
              <a:lnSpc>
                <a:spcPct val="137500"/>
              </a:lnSpc>
              <a:spcBef>
                <a:spcPts val="0"/>
              </a:spcBef>
              <a:spcAft>
                <a:spcPts val="0"/>
              </a:spcAft>
              <a:buClr>
                <a:srgbClr val="CFD0D8"/>
              </a:buClr>
              <a:buSzPts val="1200"/>
              <a:buFont typeface="Consolas"/>
              <a:buNone/>
            </a:pPr>
            <a:r>
              <a:rPr b="0" i="0" lang="en-US" sz="1200" u="none" cap="none" strike="noStrike">
                <a:solidFill>
                  <a:srgbClr val="CFD0D8"/>
                </a:solidFill>
                <a:highlight>
                  <a:srgbClr val="37373A"/>
                </a:highlight>
                <a:latin typeface="Consolas"/>
                <a:ea typeface="Consolas"/>
                <a:cs typeface="Consolas"/>
                <a:sym typeface="Consolas"/>
              </a:rPr>
              <a:t>  ProductTransactions;</a:t>
            </a:r>
            <a:endParaRPr b="0" i="0" sz="1200" u="none" cap="none" strike="noStrike"/>
          </a:p>
        </p:txBody>
      </p:sp>
      <p:sp>
        <p:nvSpPr>
          <p:cNvPr id="211" name="Google Shape;211;p28"/>
          <p:cNvSpPr/>
          <p:nvPr/>
        </p:nvSpPr>
        <p:spPr>
          <a:xfrm>
            <a:off x="7512606" y="5545158"/>
            <a:ext cx="5182910" cy="1305878"/>
          </a:xfrm>
          <a:prstGeom prst="rect">
            <a:avLst/>
          </a:prstGeom>
          <a:noFill/>
          <a:ln>
            <a:noFill/>
          </a:ln>
        </p:spPr>
        <p:txBody>
          <a:bodyPr anchorCtr="0" anchor="t" bIns="0" lIns="0" spcFirstLastPara="1" rIns="0" wrap="square" tIns="0">
            <a:noAutofit/>
          </a:bodyPr>
          <a:lstStyle/>
          <a:p>
            <a:pPr indent="0" lvl="0" marL="0" marR="0" rtl="0" algn="l">
              <a:lnSpc>
                <a:spcPct val="137500"/>
              </a:lnSpc>
              <a:spcBef>
                <a:spcPts val="0"/>
              </a:spcBef>
              <a:spcAft>
                <a:spcPts val="0"/>
              </a:spcAft>
              <a:buClr>
                <a:srgbClr val="CFD0D8"/>
              </a:buClr>
              <a:buSzPts val="1200"/>
              <a:buFont typeface="Instrument Sans"/>
              <a:buNone/>
            </a:pPr>
            <a:r>
              <a:rPr b="0" i="0" lang="en-US" sz="1200" u="none" cap="none" strike="noStrike">
                <a:solidFill>
                  <a:srgbClr val="CFD0D8"/>
                </a:solidFill>
                <a:latin typeface="Instrument Sans"/>
                <a:ea typeface="Instrument Sans"/>
                <a:cs typeface="Instrument Sans"/>
                <a:sym typeface="Instrument Sans"/>
              </a:rPr>
              <a:t>This query demonstrates how to calculate the sales difference for each product between consecutive transactions. </a:t>
            </a:r>
            <a:r>
              <a:rPr b="0" i="0" lang="en-US" sz="1200" u="none" cap="none" strike="noStrike">
                <a:solidFill>
                  <a:srgbClr val="CFD0D8"/>
                </a:solidFill>
                <a:highlight>
                  <a:srgbClr val="37373A"/>
                </a:highlight>
                <a:latin typeface="Consolas"/>
                <a:ea typeface="Consolas"/>
                <a:cs typeface="Consolas"/>
                <a:sym typeface="Consolas"/>
              </a:rPr>
              <a:t>PARTITION BY product_id</a:t>
            </a:r>
            <a:r>
              <a:rPr b="0" i="0" lang="en-US" sz="1200" u="none" cap="none" strike="noStrike">
                <a:solidFill>
                  <a:srgbClr val="CFD0D8"/>
                </a:solidFill>
                <a:latin typeface="Instrument Sans"/>
                <a:ea typeface="Instrument Sans"/>
                <a:cs typeface="Instrument Sans"/>
                <a:sym typeface="Instrument Sans"/>
              </a:rPr>
              <a:t> ensures comparisons are made within the same product, while </a:t>
            </a:r>
            <a:r>
              <a:rPr b="0" i="0" lang="en-US" sz="1200" u="none" cap="none" strike="noStrike">
                <a:solidFill>
                  <a:srgbClr val="CFD0D8"/>
                </a:solidFill>
                <a:highlight>
                  <a:srgbClr val="37373A"/>
                </a:highlight>
                <a:latin typeface="Consolas"/>
                <a:ea typeface="Consolas"/>
                <a:cs typeface="Consolas"/>
                <a:sym typeface="Consolas"/>
              </a:rPr>
              <a:t>ORDER BY transaction_date</a:t>
            </a:r>
            <a:r>
              <a:rPr b="0" i="0" lang="en-US" sz="1200" u="none" cap="none" strike="noStrike">
                <a:solidFill>
                  <a:srgbClr val="CFD0D8"/>
                </a:solidFill>
                <a:latin typeface="Instrument Sans"/>
                <a:ea typeface="Instrument Sans"/>
                <a:cs typeface="Instrument Sans"/>
                <a:sym typeface="Instrument Sans"/>
              </a:rPr>
              <a:t> defines the sequence. </a:t>
            </a:r>
            <a:r>
              <a:rPr b="0" i="0" lang="en-US" sz="1200" u="none" cap="none" strike="noStrike">
                <a:solidFill>
                  <a:srgbClr val="CFD0D8"/>
                </a:solidFill>
                <a:highlight>
                  <a:srgbClr val="37373A"/>
                </a:highlight>
                <a:latin typeface="Consolas"/>
                <a:ea typeface="Consolas"/>
                <a:cs typeface="Consolas"/>
                <a:sym typeface="Consolas"/>
              </a:rPr>
              <a:t>LAG(sales_amount, 1, 0)</a:t>
            </a:r>
            <a:r>
              <a:rPr b="0" i="0" lang="en-US" sz="1200" u="none" cap="none" strike="noStrike">
                <a:solidFill>
                  <a:srgbClr val="CFD0D8"/>
                </a:solidFill>
                <a:latin typeface="Instrument Sans"/>
                <a:ea typeface="Instrument Sans"/>
                <a:cs typeface="Instrument Sans"/>
                <a:sym typeface="Instrument Sans"/>
              </a:rPr>
              <a:t> fetches the sales from the immediately preceding transaction, returning 0 if no previous record exists within that product's partition.</a:t>
            </a:r>
            <a:endParaRPr b="0" i="0" sz="1200" u="none" cap="none" strike="noStrike"/>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9"/>
          <p:cNvSpPr/>
          <p:nvPr/>
        </p:nvSpPr>
        <p:spPr>
          <a:xfrm>
            <a:off x="2098119" y="1114544"/>
            <a:ext cx="6151602" cy="472440"/>
          </a:xfrm>
          <a:prstGeom prst="rect">
            <a:avLst/>
          </a:prstGeom>
          <a:noFill/>
          <a:ln>
            <a:noFill/>
          </a:ln>
        </p:spPr>
        <p:txBody>
          <a:bodyPr anchorCtr="0" anchor="t" bIns="0" lIns="0" spcFirstLastPara="1" rIns="0" wrap="square" tIns="0">
            <a:noAutofit/>
          </a:bodyPr>
          <a:lstStyle/>
          <a:p>
            <a:pPr indent="0" lvl="0" marL="0" marR="0" rtl="0" algn="l">
              <a:lnSpc>
                <a:spcPct val="125423"/>
              </a:lnSpc>
              <a:spcBef>
                <a:spcPts val="0"/>
              </a:spcBef>
              <a:spcAft>
                <a:spcPts val="0"/>
              </a:spcAft>
              <a:buClr>
                <a:srgbClr val="CBCCCE"/>
              </a:buClr>
              <a:buSzPts val="2950"/>
              <a:buFont typeface="Instrument Sans"/>
              <a:buNone/>
            </a:pPr>
            <a:r>
              <a:rPr b="0" i="0" lang="en-US" sz="2950" u="none" cap="none" strike="noStrike">
                <a:solidFill>
                  <a:srgbClr val="CBCCCE"/>
                </a:solidFill>
                <a:latin typeface="Instrument Sans"/>
                <a:ea typeface="Instrument Sans"/>
                <a:cs typeface="Instrument Sans"/>
                <a:sym typeface="Instrument Sans"/>
              </a:rPr>
              <a:t>LEAD(): Accessing Following Rows</a:t>
            </a:r>
            <a:endParaRPr b="0" i="0" sz="2950" u="none" cap="none" strike="noStrike"/>
          </a:p>
        </p:txBody>
      </p:sp>
      <p:sp>
        <p:nvSpPr>
          <p:cNvPr id="218" name="Google Shape;218;p29"/>
          <p:cNvSpPr/>
          <p:nvPr/>
        </p:nvSpPr>
        <p:spPr>
          <a:xfrm>
            <a:off x="1989296" y="1738193"/>
            <a:ext cx="5250180" cy="5376743"/>
          </a:xfrm>
          <a:prstGeom prst="roundRect">
            <a:avLst>
              <a:gd fmla="val 2074" name="adj"/>
            </a:avLst>
          </a:prstGeom>
          <a:solidFill>
            <a:srgbClr val="D5D5D8">
              <a:alpha val="94901"/>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29"/>
          <p:cNvSpPr/>
          <p:nvPr/>
        </p:nvSpPr>
        <p:spPr>
          <a:xfrm>
            <a:off x="2140506" y="1838920"/>
            <a:ext cx="2857262" cy="236339"/>
          </a:xfrm>
          <a:prstGeom prst="rect">
            <a:avLst/>
          </a:prstGeom>
          <a:noFill/>
          <a:ln>
            <a:noFill/>
          </a:ln>
        </p:spPr>
        <p:txBody>
          <a:bodyPr anchorCtr="0" anchor="t" bIns="0" lIns="0" spcFirstLastPara="1" rIns="0" wrap="square" tIns="0">
            <a:noAutofit/>
          </a:bodyPr>
          <a:lstStyle/>
          <a:p>
            <a:pPr indent="0" lvl="0" marL="0" marR="0" rtl="0" algn="l">
              <a:lnSpc>
                <a:spcPct val="127586"/>
              </a:lnSpc>
              <a:spcBef>
                <a:spcPts val="0"/>
              </a:spcBef>
              <a:spcAft>
                <a:spcPts val="0"/>
              </a:spcAft>
              <a:buClr>
                <a:srgbClr val="000000"/>
              </a:buClr>
              <a:buSzPts val="1450"/>
              <a:buFont typeface="Instrument Sans SemiBold"/>
              <a:buNone/>
            </a:pPr>
            <a:r>
              <a:rPr b="1" i="0" lang="en-US" sz="1450" u="none" cap="none" strike="noStrike">
                <a:solidFill>
                  <a:srgbClr val="000000"/>
                </a:solidFill>
                <a:latin typeface="Instrument Sans SemiBold"/>
                <a:ea typeface="Instrument Sans SemiBold"/>
                <a:cs typeface="Instrument Sans SemiBold"/>
                <a:sym typeface="Instrument Sans SemiBold"/>
              </a:rPr>
              <a:t>What it Does &amp; When to Apply It</a:t>
            </a:r>
            <a:endParaRPr b="0" i="0" sz="1450" u="none" cap="none" strike="noStrike"/>
          </a:p>
        </p:txBody>
      </p:sp>
      <p:sp>
        <p:nvSpPr>
          <p:cNvPr id="220" name="Google Shape;220;p29"/>
          <p:cNvSpPr/>
          <p:nvPr/>
        </p:nvSpPr>
        <p:spPr>
          <a:xfrm>
            <a:off x="2140506" y="2175986"/>
            <a:ext cx="4947761" cy="821531"/>
          </a:xfrm>
          <a:prstGeom prst="rect">
            <a:avLst/>
          </a:prstGeom>
          <a:noFill/>
          <a:ln>
            <a:noFill/>
          </a:ln>
        </p:spPr>
        <p:txBody>
          <a:bodyPr anchorCtr="0" anchor="t" bIns="0" lIns="0" spcFirstLastPara="1" rIns="0" wrap="square" tIns="0">
            <a:noAutofit/>
          </a:bodyPr>
          <a:lstStyle/>
          <a:p>
            <a:pPr indent="0" lvl="0" marL="0" marR="0" rtl="0" algn="l">
              <a:lnSpc>
                <a:spcPct val="134782"/>
              </a:lnSpc>
              <a:spcBef>
                <a:spcPts val="0"/>
              </a:spcBef>
              <a:spcAft>
                <a:spcPts val="0"/>
              </a:spcAft>
              <a:buClr>
                <a:srgbClr val="000000"/>
              </a:buClr>
              <a:buSzPts val="1150"/>
              <a:buFont typeface="Consolas"/>
              <a:buNone/>
            </a:pPr>
            <a:r>
              <a:rPr b="0" i="0" lang="en-US" sz="1150" u="none" cap="none" strike="noStrike">
                <a:solidFill>
                  <a:srgbClr val="000000"/>
                </a:solidFill>
                <a:highlight>
                  <a:srgbClr val="C8C8CB"/>
                </a:highlight>
                <a:latin typeface="Consolas"/>
                <a:ea typeface="Consolas"/>
                <a:cs typeface="Consolas"/>
                <a:sym typeface="Consolas"/>
              </a:rPr>
              <a:t>LEAD()</a:t>
            </a:r>
            <a:r>
              <a:rPr b="0" i="0" lang="en-US" sz="1150" u="none" cap="none" strike="noStrike">
                <a:solidFill>
                  <a:srgbClr val="000000"/>
                </a:solidFill>
                <a:latin typeface="Instrument Sans Medium"/>
                <a:ea typeface="Instrument Sans Medium"/>
                <a:cs typeface="Instrument Sans Medium"/>
                <a:sym typeface="Instrument Sans Medium"/>
              </a:rPr>
              <a:t> is the counterpart to </a:t>
            </a:r>
            <a:r>
              <a:rPr b="0" i="0" lang="en-US" sz="1150" u="none" cap="none" strike="noStrike">
                <a:solidFill>
                  <a:srgbClr val="000000"/>
                </a:solidFill>
                <a:highlight>
                  <a:srgbClr val="C8C8CB"/>
                </a:highlight>
                <a:latin typeface="Consolas"/>
                <a:ea typeface="Consolas"/>
                <a:cs typeface="Consolas"/>
                <a:sym typeface="Consolas"/>
              </a:rPr>
              <a:t>LAG()</a:t>
            </a:r>
            <a:r>
              <a:rPr b="0" i="0" lang="en-US" sz="1150" u="none" cap="none" strike="noStrike">
                <a:solidFill>
                  <a:srgbClr val="000000"/>
                </a:solidFill>
                <a:latin typeface="Instrument Sans Medium"/>
                <a:ea typeface="Instrument Sans Medium"/>
                <a:cs typeface="Instrument Sans Medium"/>
                <a:sym typeface="Instrument Sans Medium"/>
              </a:rPr>
              <a:t>. It retrieves a value from a row that </a:t>
            </a:r>
            <a:r>
              <a:rPr b="0" i="0" lang="en-US" sz="1150" u="none" cap="none" strike="noStrike">
                <a:solidFill>
                  <a:srgbClr val="008000"/>
                </a:solidFill>
                <a:latin typeface="Instrument Sans Medium"/>
                <a:ea typeface="Instrument Sans Medium"/>
                <a:cs typeface="Instrument Sans Medium"/>
                <a:sym typeface="Instrument Sans Medium"/>
              </a:rPr>
              <a:t>follows</a:t>
            </a:r>
            <a:r>
              <a:rPr b="0" i="0" lang="en-US" sz="1150" u="none" cap="none" strike="noStrike">
                <a:solidFill>
                  <a:srgbClr val="000000"/>
                </a:solidFill>
                <a:latin typeface="Instrument Sans Medium"/>
                <a:ea typeface="Instrument Sans Medium"/>
                <a:cs typeface="Instrument Sans Medium"/>
                <a:sym typeface="Instrument Sans Medium"/>
              </a:rPr>
              <a:t> the current row within the same result set. This enables direct comparisons with future data points, eliminating the need for complex self-joins.</a:t>
            </a:r>
            <a:endParaRPr b="0" i="0" sz="1150" u="none" cap="none" strike="noStrike"/>
          </a:p>
        </p:txBody>
      </p:sp>
      <p:sp>
        <p:nvSpPr>
          <p:cNvPr id="221" name="Google Shape;221;p29"/>
          <p:cNvSpPr/>
          <p:nvPr/>
        </p:nvSpPr>
        <p:spPr>
          <a:xfrm>
            <a:off x="2140506" y="3088243"/>
            <a:ext cx="4947761" cy="867251"/>
          </a:xfrm>
          <a:prstGeom prst="rect">
            <a:avLst/>
          </a:prstGeom>
          <a:noFill/>
          <a:ln>
            <a:noFill/>
          </a:ln>
        </p:spPr>
        <p:txBody>
          <a:bodyPr anchorCtr="0" anchor="t" bIns="0" lIns="0" spcFirstLastPara="1" rIns="0" wrap="square" tIns="0">
            <a:noAutofit/>
          </a:bodyPr>
          <a:lstStyle/>
          <a:p>
            <a:pPr indent="0" lvl="0" marL="0" marR="0" rtl="0" algn="l">
              <a:lnSpc>
                <a:spcPct val="134782"/>
              </a:lnSpc>
              <a:spcBef>
                <a:spcPts val="0"/>
              </a:spcBef>
              <a:spcAft>
                <a:spcPts val="0"/>
              </a:spcAft>
              <a:buClr>
                <a:srgbClr val="000000"/>
              </a:buClr>
              <a:buSzPts val="1150"/>
              <a:buFont typeface="Instrument Sans Medium"/>
              <a:buNone/>
            </a:pPr>
            <a:r>
              <a:rPr b="0" i="0" lang="en-US" sz="1150" u="none" cap="none" strike="noStrike">
                <a:solidFill>
                  <a:srgbClr val="000000"/>
                </a:solidFill>
                <a:latin typeface="Instrument Sans Medium"/>
                <a:ea typeface="Instrument Sans Medium"/>
                <a:cs typeface="Instrument Sans Medium"/>
                <a:sym typeface="Instrument Sans Medium"/>
              </a:rPr>
              <a:t>It accesses subsequent rows based on a specified </a:t>
            </a:r>
            <a:r>
              <a:rPr b="0" i="0" lang="en-US" sz="1150" u="none" cap="none" strike="noStrike">
                <a:solidFill>
                  <a:srgbClr val="000000"/>
                </a:solidFill>
                <a:highlight>
                  <a:srgbClr val="C8C8CB"/>
                </a:highlight>
                <a:latin typeface="Consolas"/>
                <a:ea typeface="Consolas"/>
                <a:cs typeface="Consolas"/>
                <a:sym typeface="Consolas"/>
              </a:rPr>
              <a:t>offset</a:t>
            </a:r>
            <a:r>
              <a:rPr b="0" i="0" lang="en-US" sz="1150" u="none" cap="none" strike="noStrike">
                <a:solidFill>
                  <a:srgbClr val="000000"/>
                </a:solidFill>
                <a:latin typeface="Instrument Sans Medium"/>
                <a:ea typeface="Instrument Sans Medium"/>
                <a:cs typeface="Instrument Sans Medium"/>
                <a:sym typeface="Instrument Sans Medium"/>
              </a:rPr>
              <a:t> (defaulting to 1) and the ordering within its </a:t>
            </a:r>
            <a:r>
              <a:rPr b="0" i="0" lang="en-US" sz="1150" u="none" cap="none" strike="noStrike">
                <a:solidFill>
                  <a:srgbClr val="000000"/>
                </a:solidFill>
                <a:highlight>
                  <a:srgbClr val="C8C8CB"/>
                </a:highlight>
                <a:latin typeface="Consolas"/>
                <a:ea typeface="Consolas"/>
                <a:cs typeface="Consolas"/>
                <a:sym typeface="Consolas"/>
              </a:rPr>
              <a:t>OVER</a:t>
            </a:r>
            <a:r>
              <a:rPr b="0" i="0" lang="en-US" sz="1150" u="none" cap="none" strike="noStrike">
                <a:solidFill>
                  <a:srgbClr val="000000"/>
                </a:solidFill>
                <a:latin typeface="Instrument Sans Medium"/>
                <a:ea typeface="Instrument Sans Medium"/>
                <a:cs typeface="Instrument Sans Medium"/>
                <a:sym typeface="Instrument Sans Medium"/>
              </a:rPr>
              <a:t> clause. If no following row exists (e.g., for the very last row in a partition), </a:t>
            </a:r>
            <a:r>
              <a:rPr b="0" i="0" lang="en-US" sz="1150" u="none" cap="none" strike="noStrike">
                <a:solidFill>
                  <a:srgbClr val="000000"/>
                </a:solidFill>
                <a:highlight>
                  <a:srgbClr val="C8C8CB"/>
                </a:highlight>
                <a:latin typeface="Consolas"/>
                <a:ea typeface="Consolas"/>
                <a:cs typeface="Consolas"/>
                <a:sym typeface="Consolas"/>
              </a:rPr>
              <a:t>LEAD()</a:t>
            </a:r>
            <a:r>
              <a:rPr b="0" i="0" lang="en-US" sz="1150" u="none" cap="none" strike="noStrike">
                <a:solidFill>
                  <a:srgbClr val="000000"/>
                </a:solidFill>
                <a:latin typeface="Instrument Sans Medium"/>
                <a:ea typeface="Instrument Sans Medium"/>
                <a:cs typeface="Instrument Sans Medium"/>
                <a:sym typeface="Instrument Sans Medium"/>
              </a:rPr>
              <a:t> returns </a:t>
            </a:r>
            <a:r>
              <a:rPr b="0" i="0" lang="en-US" sz="1150" u="none" cap="none" strike="noStrike">
                <a:solidFill>
                  <a:srgbClr val="000000"/>
                </a:solidFill>
                <a:highlight>
                  <a:srgbClr val="C8C8CB"/>
                </a:highlight>
                <a:latin typeface="Consolas"/>
                <a:ea typeface="Consolas"/>
                <a:cs typeface="Consolas"/>
                <a:sym typeface="Consolas"/>
              </a:rPr>
              <a:t>NULL</a:t>
            </a:r>
            <a:r>
              <a:rPr b="0" i="0" lang="en-US" sz="1150" u="none" cap="none" strike="noStrike">
                <a:solidFill>
                  <a:srgbClr val="000000"/>
                </a:solidFill>
                <a:latin typeface="Instrument Sans Medium"/>
                <a:ea typeface="Instrument Sans Medium"/>
                <a:cs typeface="Instrument Sans Medium"/>
                <a:sym typeface="Instrument Sans Medium"/>
              </a:rPr>
              <a:t>, which can be overridden by a specified </a:t>
            </a:r>
            <a:r>
              <a:rPr b="0" i="0" lang="en-US" sz="1150" u="none" cap="none" strike="noStrike">
                <a:solidFill>
                  <a:srgbClr val="000000"/>
                </a:solidFill>
                <a:highlight>
                  <a:srgbClr val="C8C8CB"/>
                </a:highlight>
                <a:latin typeface="Consolas"/>
                <a:ea typeface="Consolas"/>
                <a:cs typeface="Consolas"/>
                <a:sym typeface="Consolas"/>
              </a:rPr>
              <a:t>default_value</a:t>
            </a:r>
            <a:r>
              <a:rPr b="0" i="0" lang="en-US" sz="1150" u="none" cap="none" strike="noStrike">
                <a:solidFill>
                  <a:srgbClr val="000000"/>
                </a:solidFill>
                <a:latin typeface="Instrument Sans Medium"/>
                <a:ea typeface="Instrument Sans Medium"/>
                <a:cs typeface="Instrument Sans Medium"/>
                <a:sym typeface="Instrument Sans Medium"/>
              </a:rPr>
              <a:t>.</a:t>
            </a:r>
            <a:endParaRPr b="0" i="0" sz="1150" u="none" cap="none" strike="noStrike"/>
          </a:p>
        </p:txBody>
      </p:sp>
      <p:sp>
        <p:nvSpPr>
          <p:cNvPr id="222" name="Google Shape;222;p29"/>
          <p:cNvSpPr/>
          <p:nvPr/>
        </p:nvSpPr>
        <p:spPr>
          <a:xfrm>
            <a:off x="2140506" y="4046220"/>
            <a:ext cx="4947761" cy="1209747"/>
          </a:xfrm>
          <a:prstGeom prst="rect">
            <a:avLst/>
          </a:prstGeom>
          <a:noFill/>
          <a:ln>
            <a:noFill/>
          </a:ln>
        </p:spPr>
        <p:txBody>
          <a:bodyPr anchorCtr="0" anchor="t" bIns="0" lIns="0" spcFirstLastPara="1" rIns="0" wrap="square" tIns="0">
            <a:noAutofit/>
          </a:bodyPr>
          <a:lstStyle/>
          <a:p>
            <a:pPr indent="-342900" lvl="0" marL="342900" marR="0" rtl="0" algn="l">
              <a:lnSpc>
                <a:spcPct val="134782"/>
              </a:lnSpc>
              <a:spcBef>
                <a:spcPts val="0"/>
              </a:spcBef>
              <a:spcAft>
                <a:spcPts val="0"/>
              </a:spcAft>
              <a:buClr>
                <a:srgbClr val="000000"/>
              </a:buClr>
              <a:buSzPts val="1150"/>
              <a:buFont typeface="Instrument Sans Medium"/>
              <a:buChar char="•"/>
            </a:pPr>
            <a:r>
              <a:rPr b="0" i="0" lang="en-US" sz="1150" u="none" cap="none" strike="noStrike">
                <a:solidFill>
                  <a:srgbClr val="000000"/>
                </a:solidFill>
                <a:latin typeface="Instrument Sans Medium"/>
                <a:ea typeface="Instrument Sans Medium"/>
                <a:cs typeface="Instrument Sans Medium"/>
                <a:sym typeface="Instrument Sans Medium"/>
              </a:rPr>
              <a:t>Forecasting future values based on current data (e.g., next quarter's projected sales).</a:t>
            </a:r>
            <a:endParaRPr b="0" i="0" sz="1150" u="none" cap="none" strike="noStrike"/>
          </a:p>
          <a:p>
            <a:pPr indent="-342900" lvl="0" marL="342900" marR="0" rtl="0" algn="l">
              <a:lnSpc>
                <a:spcPct val="134782"/>
              </a:lnSpc>
              <a:spcBef>
                <a:spcPts val="0"/>
              </a:spcBef>
              <a:spcAft>
                <a:spcPts val="0"/>
              </a:spcAft>
              <a:buClr>
                <a:srgbClr val="000000"/>
              </a:buClr>
              <a:buSzPts val="1150"/>
              <a:buFont typeface="Instrument Sans Medium"/>
              <a:buChar char="•"/>
            </a:pPr>
            <a:r>
              <a:rPr b="0" i="0" lang="en-US" sz="1150" u="none" cap="none" strike="noStrike">
                <a:solidFill>
                  <a:srgbClr val="000000"/>
                </a:solidFill>
                <a:latin typeface="Instrument Sans Medium"/>
                <a:ea typeface="Instrument Sans Medium"/>
                <a:cs typeface="Instrument Sans Medium"/>
                <a:sym typeface="Instrument Sans Medium"/>
              </a:rPr>
              <a:t>Comparing a current period's performance against the next period's.</a:t>
            </a:r>
            <a:endParaRPr b="0" i="0" sz="1150" u="none" cap="none" strike="noStrike"/>
          </a:p>
          <a:p>
            <a:pPr indent="-342900" lvl="0" marL="342900" marR="0" rtl="0" algn="l">
              <a:lnSpc>
                <a:spcPct val="134782"/>
              </a:lnSpc>
              <a:spcBef>
                <a:spcPts val="0"/>
              </a:spcBef>
              <a:spcAft>
                <a:spcPts val="0"/>
              </a:spcAft>
              <a:buClr>
                <a:srgbClr val="000000"/>
              </a:buClr>
              <a:buSzPts val="1150"/>
              <a:buFont typeface="Instrument Sans Medium"/>
              <a:buChar char="•"/>
            </a:pPr>
            <a:r>
              <a:rPr b="0" i="0" lang="en-US" sz="1150" u="none" cap="none" strike="noStrike">
                <a:solidFill>
                  <a:srgbClr val="000000"/>
                </a:solidFill>
                <a:latin typeface="Instrument Sans Medium"/>
                <a:ea typeface="Instrument Sans Medium"/>
                <a:cs typeface="Instrument Sans Medium"/>
                <a:sym typeface="Instrument Sans Medium"/>
              </a:rPr>
              <a:t>Identifying gaps or continuities in sequences, such as transaction series.</a:t>
            </a:r>
            <a:endParaRPr b="0" i="0" sz="1150" u="none" cap="none" strike="noStrike"/>
          </a:p>
        </p:txBody>
      </p:sp>
      <p:sp>
        <p:nvSpPr>
          <p:cNvPr id="223" name="Google Shape;223;p29"/>
          <p:cNvSpPr/>
          <p:nvPr/>
        </p:nvSpPr>
        <p:spPr>
          <a:xfrm>
            <a:off x="7507129" y="1838920"/>
            <a:ext cx="2688908" cy="236339"/>
          </a:xfrm>
          <a:prstGeom prst="rect">
            <a:avLst/>
          </a:prstGeom>
          <a:noFill/>
          <a:ln>
            <a:noFill/>
          </a:ln>
        </p:spPr>
        <p:txBody>
          <a:bodyPr anchorCtr="0" anchor="t" bIns="0" lIns="0" spcFirstLastPara="1" rIns="0" wrap="square" tIns="0">
            <a:noAutofit/>
          </a:bodyPr>
          <a:lstStyle/>
          <a:p>
            <a:pPr indent="0" lvl="0" marL="0" marR="0" rtl="0" algn="l">
              <a:lnSpc>
                <a:spcPct val="127586"/>
              </a:lnSpc>
              <a:spcBef>
                <a:spcPts val="0"/>
              </a:spcBef>
              <a:spcAft>
                <a:spcPts val="0"/>
              </a:spcAft>
              <a:buClr>
                <a:srgbClr val="CBCCCE"/>
              </a:buClr>
              <a:buSzPts val="1450"/>
              <a:buFont typeface="Instrument Sans"/>
              <a:buNone/>
            </a:pPr>
            <a:r>
              <a:rPr b="0" i="0" lang="en-US" sz="1450" u="none" cap="none" strike="noStrike">
                <a:solidFill>
                  <a:srgbClr val="CBCCCE"/>
                </a:solidFill>
                <a:latin typeface="Instrument Sans"/>
                <a:ea typeface="Instrument Sans"/>
                <a:cs typeface="Instrument Sans"/>
                <a:sym typeface="Instrument Sans"/>
              </a:rPr>
              <a:t>Syntax &amp; Practical Application</a:t>
            </a:r>
            <a:endParaRPr b="0" i="0" sz="1450" u="none" cap="none" strike="noStrike"/>
          </a:p>
        </p:txBody>
      </p:sp>
      <p:sp>
        <p:nvSpPr>
          <p:cNvPr id="224" name="Google Shape;224;p29"/>
          <p:cNvSpPr/>
          <p:nvPr/>
        </p:nvSpPr>
        <p:spPr>
          <a:xfrm>
            <a:off x="7507129" y="2188607"/>
            <a:ext cx="5032534" cy="3048714"/>
          </a:xfrm>
          <a:prstGeom prst="roundRect">
            <a:avLst>
              <a:gd fmla="val 2083" name="adj"/>
            </a:avLst>
          </a:prstGeom>
          <a:solidFill>
            <a:srgbClr val="3737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29"/>
          <p:cNvSpPr/>
          <p:nvPr/>
        </p:nvSpPr>
        <p:spPr>
          <a:xfrm>
            <a:off x="7499628" y="2188607"/>
            <a:ext cx="5047536" cy="3048714"/>
          </a:xfrm>
          <a:prstGeom prst="roundRect">
            <a:avLst>
              <a:gd fmla="val 744" name="adj"/>
            </a:avLst>
          </a:prstGeom>
          <a:solidFill>
            <a:srgbClr val="3737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9"/>
          <p:cNvSpPr/>
          <p:nvPr/>
        </p:nvSpPr>
        <p:spPr>
          <a:xfrm>
            <a:off x="7650837" y="2301954"/>
            <a:ext cx="4745117" cy="2822019"/>
          </a:xfrm>
          <a:prstGeom prst="rect">
            <a:avLst/>
          </a:prstGeom>
          <a:noFill/>
          <a:ln>
            <a:noFill/>
          </a:ln>
        </p:spPr>
        <p:txBody>
          <a:bodyPr anchorCtr="0" anchor="t" bIns="0" lIns="0" spcFirstLastPara="1" rIns="0" wrap="square" tIns="0">
            <a:noAutofit/>
          </a:bodyPr>
          <a:lstStyle/>
          <a:p>
            <a:pPr indent="0" lvl="0" marL="0" marR="0" rtl="0" algn="l">
              <a:lnSpc>
                <a:spcPct val="134782"/>
              </a:lnSpc>
              <a:spcBef>
                <a:spcPts val="0"/>
              </a:spcBef>
              <a:spcAft>
                <a:spcPts val="0"/>
              </a:spcAft>
              <a:buClr>
                <a:srgbClr val="CFD0D8"/>
              </a:buClr>
              <a:buSzPts val="1150"/>
              <a:buFont typeface="Consolas"/>
              <a:buNone/>
            </a:pPr>
            <a:r>
              <a:rPr b="0" i="0" lang="en-US" sz="1150" u="none" cap="none" strike="noStrike">
                <a:solidFill>
                  <a:srgbClr val="CFD0D8"/>
                </a:solidFill>
                <a:highlight>
                  <a:srgbClr val="37373A"/>
                </a:highlight>
                <a:latin typeface="Consolas"/>
                <a:ea typeface="Consolas"/>
                <a:cs typeface="Consolas"/>
                <a:sym typeface="Consolas"/>
              </a:rPr>
              <a:t>SELECT</a:t>
            </a:r>
            <a:endParaRPr b="0" i="0" sz="1150" u="none" cap="none" strike="noStrike"/>
          </a:p>
          <a:p>
            <a:pPr indent="0" lvl="0" marL="0" marR="0" rtl="0" algn="l">
              <a:lnSpc>
                <a:spcPct val="134782"/>
              </a:lnSpc>
              <a:spcBef>
                <a:spcPts val="0"/>
              </a:spcBef>
              <a:spcAft>
                <a:spcPts val="0"/>
              </a:spcAft>
              <a:buClr>
                <a:srgbClr val="CFD0D8"/>
              </a:buClr>
              <a:buSzPts val="1150"/>
              <a:buFont typeface="Consolas"/>
              <a:buNone/>
            </a:pPr>
            <a:r>
              <a:rPr b="0" i="0" lang="en-US" sz="1150" u="none" cap="none" strike="noStrike">
                <a:solidFill>
                  <a:srgbClr val="CFD0D8"/>
                </a:solidFill>
                <a:highlight>
                  <a:srgbClr val="37373A"/>
                </a:highlight>
                <a:latin typeface="Consolas"/>
                <a:ea typeface="Consolas"/>
                <a:cs typeface="Consolas"/>
                <a:sym typeface="Consolas"/>
              </a:rPr>
              <a:t>  transaction_date,</a:t>
            </a:r>
            <a:endParaRPr b="0" i="0" sz="1150" u="none" cap="none" strike="noStrike"/>
          </a:p>
          <a:p>
            <a:pPr indent="0" lvl="0" marL="0" marR="0" rtl="0" algn="l">
              <a:lnSpc>
                <a:spcPct val="134782"/>
              </a:lnSpc>
              <a:spcBef>
                <a:spcPts val="0"/>
              </a:spcBef>
              <a:spcAft>
                <a:spcPts val="0"/>
              </a:spcAft>
              <a:buClr>
                <a:srgbClr val="CFD0D8"/>
              </a:buClr>
              <a:buSzPts val="1150"/>
              <a:buFont typeface="Consolas"/>
              <a:buNone/>
            </a:pPr>
            <a:r>
              <a:rPr b="0" i="0" lang="en-US" sz="1150" u="none" cap="none" strike="noStrike">
                <a:solidFill>
                  <a:srgbClr val="CFD0D8"/>
                </a:solidFill>
                <a:highlight>
                  <a:srgbClr val="37373A"/>
                </a:highlight>
                <a:latin typeface="Consolas"/>
                <a:ea typeface="Consolas"/>
                <a:cs typeface="Consolas"/>
                <a:sym typeface="Consolas"/>
              </a:rPr>
              <a:t>  product_id,</a:t>
            </a:r>
            <a:endParaRPr b="0" i="0" sz="1150" u="none" cap="none" strike="noStrike"/>
          </a:p>
          <a:p>
            <a:pPr indent="0" lvl="0" marL="0" marR="0" rtl="0" algn="l">
              <a:lnSpc>
                <a:spcPct val="134782"/>
              </a:lnSpc>
              <a:spcBef>
                <a:spcPts val="0"/>
              </a:spcBef>
              <a:spcAft>
                <a:spcPts val="0"/>
              </a:spcAft>
              <a:buClr>
                <a:srgbClr val="CFD0D8"/>
              </a:buClr>
              <a:buSzPts val="1150"/>
              <a:buFont typeface="Consolas"/>
              <a:buNone/>
            </a:pPr>
            <a:r>
              <a:rPr b="0" i="0" lang="en-US" sz="1150" u="none" cap="none" strike="noStrike">
                <a:solidFill>
                  <a:srgbClr val="CFD0D8"/>
                </a:solidFill>
                <a:highlight>
                  <a:srgbClr val="37373A"/>
                </a:highlight>
                <a:latin typeface="Consolas"/>
                <a:ea typeface="Consolas"/>
                <a:cs typeface="Consolas"/>
                <a:sym typeface="Consolas"/>
              </a:rPr>
              <a:t>  sales_amount,</a:t>
            </a:r>
            <a:endParaRPr b="0" i="0" sz="1150" u="none" cap="none" strike="noStrike"/>
          </a:p>
          <a:p>
            <a:pPr indent="0" lvl="0" marL="0" marR="0" rtl="0" algn="l">
              <a:lnSpc>
                <a:spcPct val="134782"/>
              </a:lnSpc>
              <a:spcBef>
                <a:spcPts val="0"/>
              </a:spcBef>
              <a:spcAft>
                <a:spcPts val="0"/>
              </a:spcAft>
              <a:buClr>
                <a:srgbClr val="CFD0D8"/>
              </a:buClr>
              <a:buSzPts val="1150"/>
              <a:buFont typeface="Consolas"/>
              <a:buNone/>
            </a:pPr>
            <a:r>
              <a:rPr b="0" i="0" lang="en-US" sz="1150" u="none" cap="none" strike="noStrike">
                <a:solidFill>
                  <a:srgbClr val="CFD0D8"/>
                </a:solidFill>
                <a:highlight>
                  <a:srgbClr val="37373A"/>
                </a:highlight>
                <a:latin typeface="Consolas"/>
                <a:ea typeface="Consolas"/>
                <a:cs typeface="Consolas"/>
                <a:sym typeface="Consolas"/>
              </a:rPr>
              <a:t>  LEAD(sales_amount, 1, 0) OVER (</a:t>
            </a:r>
            <a:endParaRPr b="0" i="0" sz="1150" u="none" cap="none" strike="noStrike"/>
          </a:p>
          <a:p>
            <a:pPr indent="0" lvl="0" marL="0" marR="0" rtl="0" algn="l">
              <a:lnSpc>
                <a:spcPct val="134782"/>
              </a:lnSpc>
              <a:spcBef>
                <a:spcPts val="0"/>
              </a:spcBef>
              <a:spcAft>
                <a:spcPts val="0"/>
              </a:spcAft>
              <a:buClr>
                <a:srgbClr val="CFD0D8"/>
              </a:buClr>
              <a:buSzPts val="1150"/>
              <a:buFont typeface="Consolas"/>
              <a:buNone/>
            </a:pPr>
            <a:r>
              <a:rPr b="0" i="0" lang="en-US" sz="1150" u="none" cap="none" strike="noStrike">
                <a:solidFill>
                  <a:srgbClr val="CFD0D8"/>
                </a:solidFill>
                <a:highlight>
                  <a:srgbClr val="37373A"/>
                </a:highlight>
                <a:latin typeface="Consolas"/>
                <a:ea typeface="Consolas"/>
                <a:cs typeface="Consolas"/>
                <a:sym typeface="Consolas"/>
              </a:rPr>
              <a:t>    PARTITION BY product_id</a:t>
            </a:r>
            <a:endParaRPr b="0" i="0" sz="1150" u="none" cap="none" strike="noStrike"/>
          </a:p>
          <a:p>
            <a:pPr indent="0" lvl="0" marL="0" marR="0" rtl="0" algn="l">
              <a:lnSpc>
                <a:spcPct val="134782"/>
              </a:lnSpc>
              <a:spcBef>
                <a:spcPts val="0"/>
              </a:spcBef>
              <a:spcAft>
                <a:spcPts val="0"/>
              </a:spcAft>
              <a:buClr>
                <a:srgbClr val="CFD0D8"/>
              </a:buClr>
              <a:buSzPts val="1150"/>
              <a:buFont typeface="Consolas"/>
              <a:buNone/>
            </a:pPr>
            <a:r>
              <a:rPr b="0" i="0" lang="en-US" sz="1150" u="none" cap="none" strike="noStrike">
                <a:solidFill>
                  <a:srgbClr val="CFD0D8"/>
                </a:solidFill>
                <a:highlight>
                  <a:srgbClr val="37373A"/>
                </a:highlight>
                <a:latin typeface="Consolas"/>
                <a:ea typeface="Consolas"/>
                <a:cs typeface="Consolas"/>
                <a:sym typeface="Consolas"/>
              </a:rPr>
              <a:t>    ORDER BY transaction_date</a:t>
            </a:r>
            <a:endParaRPr b="0" i="0" sz="1150" u="none" cap="none" strike="noStrike"/>
          </a:p>
          <a:p>
            <a:pPr indent="0" lvl="0" marL="0" marR="0" rtl="0" algn="l">
              <a:lnSpc>
                <a:spcPct val="134782"/>
              </a:lnSpc>
              <a:spcBef>
                <a:spcPts val="0"/>
              </a:spcBef>
              <a:spcAft>
                <a:spcPts val="0"/>
              </a:spcAft>
              <a:buClr>
                <a:srgbClr val="CFD0D8"/>
              </a:buClr>
              <a:buSzPts val="1150"/>
              <a:buFont typeface="Consolas"/>
              <a:buNone/>
            </a:pPr>
            <a:r>
              <a:rPr b="0" i="0" lang="en-US" sz="1150" u="none" cap="none" strike="noStrike">
                <a:solidFill>
                  <a:srgbClr val="CFD0D8"/>
                </a:solidFill>
                <a:highlight>
                  <a:srgbClr val="37373A"/>
                </a:highlight>
                <a:latin typeface="Consolas"/>
                <a:ea typeface="Consolas"/>
                <a:cs typeface="Consolas"/>
                <a:sym typeface="Consolas"/>
              </a:rPr>
              <a:t>  ) as next_sale,</a:t>
            </a:r>
            <a:endParaRPr b="0" i="0" sz="1150" u="none" cap="none" strike="noStrike"/>
          </a:p>
          <a:p>
            <a:pPr indent="0" lvl="0" marL="0" marR="0" rtl="0" algn="l">
              <a:lnSpc>
                <a:spcPct val="134782"/>
              </a:lnSpc>
              <a:spcBef>
                <a:spcPts val="0"/>
              </a:spcBef>
              <a:spcAft>
                <a:spcPts val="0"/>
              </a:spcAft>
              <a:buClr>
                <a:srgbClr val="CFD0D8"/>
              </a:buClr>
              <a:buSzPts val="1150"/>
              <a:buFont typeface="Consolas"/>
              <a:buNone/>
            </a:pPr>
            <a:r>
              <a:rPr b="0" i="0" lang="en-US" sz="1150" u="none" cap="none" strike="noStrike">
                <a:solidFill>
                  <a:srgbClr val="CFD0D8"/>
                </a:solidFill>
                <a:highlight>
                  <a:srgbClr val="37373A"/>
                </a:highlight>
                <a:latin typeface="Consolas"/>
                <a:ea typeface="Consolas"/>
                <a:cs typeface="Consolas"/>
                <a:sym typeface="Consolas"/>
              </a:rPr>
              <a:t>  (LEAD(sales_amount, 1, 0) OVER (</a:t>
            </a:r>
            <a:endParaRPr b="0" i="0" sz="1150" u="none" cap="none" strike="noStrike"/>
          </a:p>
          <a:p>
            <a:pPr indent="0" lvl="0" marL="0" marR="0" rtl="0" algn="l">
              <a:lnSpc>
                <a:spcPct val="134782"/>
              </a:lnSpc>
              <a:spcBef>
                <a:spcPts val="0"/>
              </a:spcBef>
              <a:spcAft>
                <a:spcPts val="0"/>
              </a:spcAft>
              <a:buClr>
                <a:srgbClr val="CFD0D8"/>
              </a:buClr>
              <a:buSzPts val="1150"/>
              <a:buFont typeface="Consolas"/>
              <a:buNone/>
            </a:pPr>
            <a:r>
              <a:rPr b="0" i="0" lang="en-US" sz="1150" u="none" cap="none" strike="noStrike">
                <a:solidFill>
                  <a:srgbClr val="CFD0D8"/>
                </a:solidFill>
                <a:highlight>
                  <a:srgbClr val="37373A"/>
                </a:highlight>
                <a:latin typeface="Consolas"/>
                <a:ea typeface="Consolas"/>
                <a:cs typeface="Consolas"/>
                <a:sym typeface="Consolas"/>
              </a:rPr>
              <a:t>    PARTITION BY product_id</a:t>
            </a:r>
            <a:endParaRPr b="0" i="0" sz="1150" u="none" cap="none" strike="noStrike"/>
          </a:p>
          <a:p>
            <a:pPr indent="0" lvl="0" marL="0" marR="0" rtl="0" algn="l">
              <a:lnSpc>
                <a:spcPct val="134782"/>
              </a:lnSpc>
              <a:spcBef>
                <a:spcPts val="0"/>
              </a:spcBef>
              <a:spcAft>
                <a:spcPts val="0"/>
              </a:spcAft>
              <a:buClr>
                <a:srgbClr val="CFD0D8"/>
              </a:buClr>
              <a:buSzPts val="1150"/>
              <a:buFont typeface="Consolas"/>
              <a:buNone/>
            </a:pPr>
            <a:r>
              <a:rPr b="0" i="0" lang="en-US" sz="1150" u="none" cap="none" strike="noStrike">
                <a:solidFill>
                  <a:srgbClr val="CFD0D8"/>
                </a:solidFill>
                <a:highlight>
                  <a:srgbClr val="37373A"/>
                </a:highlight>
                <a:latin typeface="Consolas"/>
                <a:ea typeface="Consolas"/>
                <a:cs typeface="Consolas"/>
                <a:sym typeface="Consolas"/>
              </a:rPr>
              <a:t>    ORDER BY transaction_date</a:t>
            </a:r>
            <a:endParaRPr b="0" i="0" sz="1150" u="none" cap="none" strike="noStrike"/>
          </a:p>
          <a:p>
            <a:pPr indent="0" lvl="0" marL="0" marR="0" rtl="0" algn="l">
              <a:lnSpc>
                <a:spcPct val="134782"/>
              </a:lnSpc>
              <a:spcBef>
                <a:spcPts val="0"/>
              </a:spcBef>
              <a:spcAft>
                <a:spcPts val="0"/>
              </a:spcAft>
              <a:buClr>
                <a:srgbClr val="CFD0D8"/>
              </a:buClr>
              <a:buSzPts val="1150"/>
              <a:buFont typeface="Consolas"/>
              <a:buNone/>
            </a:pPr>
            <a:r>
              <a:rPr b="0" i="0" lang="en-US" sz="1150" u="none" cap="none" strike="noStrike">
                <a:solidFill>
                  <a:srgbClr val="CFD0D8"/>
                </a:solidFill>
                <a:highlight>
                  <a:srgbClr val="37373A"/>
                </a:highlight>
                <a:latin typeface="Consolas"/>
                <a:ea typeface="Consolas"/>
                <a:cs typeface="Consolas"/>
                <a:sym typeface="Consolas"/>
              </a:rPr>
              <a:t>  ) - sales_amount) as sales_growth</a:t>
            </a:r>
            <a:endParaRPr b="0" i="0" sz="1150" u="none" cap="none" strike="noStrike"/>
          </a:p>
          <a:p>
            <a:pPr indent="0" lvl="0" marL="0" marR="0" rtl="0" algn="l">
              <a:lnSpc>
                <a:spcPct val="134782"/>
              </a:lnSpc>
              <a:spcBef>
                <a:spcPts val="0"/>
              </a:spcBef>
              <a:spcAft>
                <a:spcPts val="0"/>
              </a:spcAft>
              <a:buClr>
                <a:srgbClr val="CFD0D8"/>
              </a:buClr>
              <a:buSzPts val="1150"/>
              <a:buFont typeface="Consolas"/>
              <a:buNone/>
            </a:pPr>
            <a:r>
              <a:rPr b="0" i="0" lang="en-US" sz="1150" u="none" cap="none" strike="noStrike">
                <a:solidFill>
                  <a:srgbClr val="CFD0D8"/>
                </a:solidFill>
                <a:highlight>
                  <a:srgbClr val="37373A"/>
                </a:highlight>
                <a:latin typeface="Consolas"/>
                <a:ea typeface="Consolas"/>
                <a:cs typeface="Consolas"/>
                <a:sym typeface="Consolas"/>
              </a:rPr>
              <a:t>FROM</a:t>
            </a:r>
            <a:endParaRPr b="0" i="0" sz="1150" u="none" cap="none" strike="noStrike"/>
          </a:p>
          <a:p>
            <a:pPr indent="0" lvl="0" marL="0" marR="0" rtl="0" algn="l">
              <a:lnSpc>
                <a:spcPct val="134782"/>
              </a:lnSpc>
              <a:spcBef>
                <a:spcPts val="0"/>
              </a:spcBef>
              <a:spcAft>
                <a:spcPts val="0"/>
              </a:spcAft>
              <a:buClr>
                <a:srgbClr val="CFD0D8"/>
              </a:buClr>
              <a:buSzPts val="1150"/>
              <a:buFont typeface="Consolas"/>
              <a:buNone/>
            </a:pPr>
            <a:r>
              <a:rPr b="0" i="0" lang="en-US" sz="1150" u="none" cap="none" strike="noStrike">
                <a:solidFill>
                  <a:srgbClr val="CFD0D8"/>
                </a:solidFill>
                <a:highlight>
                  <a:srgbClr val="37373A"/>
                </a:highlight>
                <a:latin typeface="Consolas"/>
                <a:ea typeface="Consolas"/>
                <a:cs typeface="Consolas"/>
                <a:sym typeface="Consolas"/>
              </a:rPr>
              <a:t>  ProductTransactions;</a:t>
            </a:r>
            <a:endParaRPr b="0" i="0" sz="1150" u="none" cap="none" strike="noStrike"/>
          </a:p>
        </p:txBody>
      </p:sp>
      <p:sp>
        <p:nvSpPr>
          <p:cNvPr id="227" name="Google Shape;227;p29"/>
          <p:cNvSpPr/>
          <p:nvPr/>
        </p:nvSpPr>
        <p:spPr>
          <a:xfrm>
            <a:off x="7507129" y="5641476"/>
            <a:ext cx="5032500" cy="1673400"/>
          </a:xfrm>
          <a:prstGeom prst="rect">
            <a:avLst/>
          </a:prstGeom>
          <a:noFill/>
          <a:ln>
            <a:noFill/>
          </a:ln>
        </p:spPr>
        <p:txBody>
          <a:bodyPr anchorCtr="0" anchor="t" bIns="0" lIns="0" spcFirstLastPara="1" rIns="0" wrap="square" tIns="0">
            <a:noAutofit/>
          </a:bodyPr>
          <a:lstStyle/>
          <a:p>
            <a:pPr indent="0" lvl="0" marL="0" marR="0" rtl="0" algn="l">
              <a:lnSpc>
                <a:spcPct val="134782"/>
              </a:lnSpc>
              <a:spcBef>
                <a:spcPts val="0"/>
              </a:spcBef>
              <a:spcAft>
                <a:spcPts val="0"/>
              </a:spcAft>
              <a:buClr>
                <a:srgbClr val="CFD0D8"/>
              </a:buClr>
              <a:buSzPts val="1150"/>
              <a:buFont typeface="Instrument Sans"/>
              <a:buNone/>
            </a:pPr>
            <a:r>
              <a:rPr b="0" i="0" lang="en-US" sz="1150" u="none" cap="none" strike="noStrike">
                <a:solidFill>
                  <a:srgbClr val="CFD0D8"/>
                </a:solidFill>
                <a:latin typeface="Instrument Sans"/>
                <a:ea typeface="Instrument Sans"/>
                <a:cs typeface="Instrument Sans"/>
                <a:sym typeface="Instrument Sans"/>
              </a:rPr>
              <a:t>This query calculates the expected sales growth for each product by comparing current sales to the next transaction's sales. </a:t>
            </a:r>
            <a:r>
              <a:rPr b="0" i="0" lang="en-US" sz="1150" u="none" cap="none" strike="noStrike">
                <a:solidFill>
                  <a:srgbClr val="CFD0D8"/>
                </a:solidFill>
                <a:highlight>
                  <a:srgbClr val="37373A"/>
                </a:highlight>
                <a:latin typeface="Consolas"/>
                <a:ea typeface="Consolas"/>
                <a:cs typeface="Consolas"/>
                <a:sym typeface="Consolas"/>
              </a:rPr>
              <a:t>PARTITION BY product_id</a:t>
            </a:r>
            <a:r>
              <a:rPr b="0" i="0" lang="en-US" sz="1150" u="none" cap="none" strike="noStrike">
                <a:solidFill>
                  <a:srgbClr val="CFD0D8"/>
                </a:solidFill>
                <a:latin typeface="Instrument Sans"/>
                <a:ea typeface="Instrument Sans"/>
                <a:cs typeface="Instrument Sans"/>
                <a:sym typeface="Instrument Sans"/>
              </a:rPr>
              <a:t> ensures comparisons are made only within the same product, and </a:t>
            </a:r>
            <a:r>
              <a:rPr b="0" i="0" lang="en-US" sz="1150" u="none" cap="none" strike="noStrike">
                <a:solidFill>
                  <a:srgbClr val="CFD0D8"/>
                </a:solidFill>
                <a:highlight>
                  <a:srgbClr val="37373A"/>
                </a:highlight>
                <a:latin typeface="Consolas"/>
                <a:ea typeface="Consolas"/>
                <a:cs typeface="Consolas"/>
                <a:sym typeface="Consolas"/>
              </a:rPr>
              <a:t>ORDER BY transaction_date</a:t>
            </a:r>
            <a:r>
              <a:rPr b="0" i="0" lang="en-US" sz="1150" u="none" cap="none" strike="noStrike">
                <a:solidFill>
                  <a:srgbClr val="CFD0D8"/>
                </a:solidFill>
                <a:latin typeface="Instrument Sans"/>
                <a:ea typeface="Instrument Sans"/>
                <a:cs typeface="Instrument Sans"/>
                <a:sym typeface="Instrument Sans"/>
              </a:rPr>
              <a:t> defines the future sequence. </a:t>
            </a:r>
            <a:r>
              <a:rPr b="0" i="0" lang="en-US" sz="1150" u="none" cap="none" strike="noStrike">
                <a:solidFill>
                  <a:srgbClr val="CFD0D8"/>
                </a:solidFill>
                <a:highlight>
                  <a:srgbClr val="37373A"/>
                </a:highlight>
                <a:latin typeface="Consolas"/>
                <a:ea typeface="Consolas"/>
                <a:cs typeface="Consolas"/>
                <a:sym typeface="Consolas"/>
              </a:rPr>
              <a:t>LEAD(sales_amount, 1, 0)</a:t>
            </a:r>
            <a:r>
              <a:rPr b="0" i="0" lang="en-US" sz="1150" u="none" cap="none" strike="noStrike">
                <a:solidFill>
                  <a:srgbClr val="CFD0D8"/>
                </a:solidFill>
                <a:latin typeface="Instrument Sans"/>
                <a:ea typeface="Instrument Sans"/>
                <a:cs typeface="Instrument Sans"/>
                <a:sym typeface="Instrument Sans"/>
              </a:rPr>
              <a:t> fetches the sales from the immediately following transaction, returning 0 if no subsequent record exists within that product's partition. This is invaluable for trend analysis and planning.</a:t>
            </a:r>
            <a:endParaRPr b="0" i="0" sz="1150" u="none" cap="none" strike="noStrike"/>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0"/>
          <p:cNvSpPr/>
          <p:nvPr/>
        </p:nvSpPr>
        <p:spPr>
          <a:xfrm>
            <a:off x="713899" y="905828"/>
            <a:ext cx="9084112" cy="637342"/>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4000"/>
              <a:buFont typeface="Instrument Sans"/>
              <a:buNone/>
            </a:pPr>
            <a:r>
              <a:rPr b="0" i="0" lang="en-US" sz="4000" u="none" cap="none" strike="noStrike">
                <a:solidFill>
                  <a:srgbClr val="CBCCCE"/>
                </a:solidFill>
                <a:latin typeface="Instrument Sans"/>
                <a:ea typeface="Instrument Sans"/>
                <a:cs typeface="Instrument Sans"/>
                <a:sym typeface="Instrument Sans"/>
              </a:rPr>
              <a:t>PARTITION BY &amp; ORDER BY Explained</a:t>
            </a:r>
            <a:endParaRPr b="0" i="0" sz="4000" u="none" cap="none" strike="noStrike"/>
          </a:p>
        </p:txBody>
      </p:sp>
      <p:sp>
        <p:nvSpPr>
          <p:cNvPr id="234" name="Google Shape;234;p30"/>
          <p:cNvSpPr/>
          <p:nvPr/>
        </p:nvSpPr>
        <p:spPr>
          <a:xfrm>
            <a:off x="713899" y="1983224"/>
            <a:ext cx="1557338" cy="309801"/>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SzPts val="1600"/>
              <a:buFont typeface="Arial"/>
              <a:buNone/>
            </a:pPr>
            <a:r>
              <a:t/>
            </a:r>
            <a:endParaRPr b="0" i="0" sz="1600" u="none" cap="none" strike="noStrike"/>
          </a:p>
        </p:txBody>
      </p:sp>
      <p:sp>
        <p:nvSpPr>
          <p:cNvPr id="235" name="Google Shape;235;p30"/>
          <p:cNvSpPr/>
          <p:nvPr/>
        </p:nvSpPr>
        <p:spPr>
          <a:xfrm>
            <a:off x="2776537" y="2001560"/>
            <a:ext cx="3810714" cy="31861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2000"/>
              <a:buFont typeface="Instrument Sans"/>
              <a:buNone/>
            </a:pPr>
            <a:r>
              <a:rPr b="0" i="0" lang="en-US" sz="2000" u="none" cap="none" strike="noStrike">
                <a:solidFill>
                  <a:srgbClr val="CBCCCE"/>
                </a:solidFill>
                <a:latin typeface="Instrument Sans"/>
                <a:ea typeface="Instrument Sans"/>
                <a:cs typeface="Instrument Sans"/>
                <a:sym typeface="Instrument Sans"/>
              </a:rPr>
              <a:t>PARTITION BY: Divide Your Data</a:t>
            </a:r>
            <a:endParaRPr b="0" i="0" sz="2000" u="none" cap="none" strike="noStrike"/>
          </a:p>
        </p:txBody>
      </p:sp>
      <p:sp>
        <p:nvSpPr>
          <p:cNvPr id="236" name="Google Shape;236;p30"/>
          <p:cNvSpPr/>
          <p:nvPr/>
        </p:nvSpPr>
        <p:spPr>
          <a:xfrm>
            <a:off x="2776537" y="2503527"/>
            <a:ext cx="11147465" cy="619601"/>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CFD0D8"/>
              </a:buClr>
              <a:buSzPts val="1600"/>
              <a:buFont typeface="Instrument Sans"/>
              <a:buNone/>
            </a:pPr>
            <a:r>
              <a:rPr b="0" i="0" lang="en-US" sz="1600" u="none" cap="none" strike="noStrike">
                <a:solidFill>
                  <a:srgbClr val="CFD0D8"/>
                </a:solidFill>
                <a:latin typeface="Instrument Sans"/>
                <a:ea typeface="Instrument Sans"/>
                <a:cs typeface="Instrument Sans"/>
                <a:sym typeface="Instrument Sans"/>
              </a:rPr>
              <a:t>Splits your result set into groups. Window functions reset for each partition, like starting fresh calculations per category.</a:t>
            </a:r>
            <a:endParaRPr b="0" i="0" sz="1600" u="none" cap="none" strike="noStrike"/>
          </a:p>
        </p:txBody>
      </p:sp>
      <p:sp>
        <p:nvSpPr>
          <p:cNvPr id="237" name="Google Shape;237;p30"/>
          <p:cNvSpPr/>
          <p:nvPr/>
        </p:nvSpPr>
        <p:spPr>
          <a:xfrm>
            <a:off x="2776537" y="3329464"/>
            <a:ext cx="11147465" cy="615553"/>
          </a:xfrm>
          <a:prstGeom prst="roundRect">
            <a:avLst>
              <a:gd fmla="val 13917" name="adj"/>
            </a:avLst>
          </a:prstGeom>
          <a:solidFill>
            <a:srgbClr val="3737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30"/>
          <p:cNvSpPr/>
          <p:nvPr/>
        </p:nvSpPr>
        <p:spPr>
          <a:xfrm>
            <a:off x="2766417" y="3329464"/>
            <a:ext cx="11167705" cy="615553"/>
          </a:xfrm>
          <a:prstGeom prst="roundRect">
            <a:avLst>
              <a:gd fmla="val 4971" name="adj"/>
            </a:avLst>
          </a:prstGeom>
          <a:solidFill>
            <a:srgbClr val="3737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30"/>
          <p:cNvSpPr/>
          <p:nvPr/>
        </p:nvSpPr>
        <p:spPr>
          <a:xfrm>
            <a:off x="2970371" y="3482340"/>
            <a:ext cx="10759797" cy="309801"/>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CFD0D8"/>
              </a:buClr>
              <a:buSzPts val="1600"/>
              <a:buFont typeface="Consolas"/>
              <a:buNone/>
            </a:pPr>
            <a:r>
              <a:rPr b="0" i="0" lang="en-US" sz="1600" u="none" cap="none" strike="noStrike">
                <a:solidFill>
                  <a:srgbClr val="CFD0D8"/>
                </a:solidFill>
                <a:highlight>
                  <a:srgbClr val="37373A"/>
                </a:highlight>
                <a:latin typeface="Consolas"/>
                <a:ea typeface="Consolas"/>
                <a:cs typeface="Consolas"/>
                <a:sym typeface="Consolas"/>
              </a:rPr>
              <a:t>PARTITION BY department</a:t>
            </a:r>
            <a:endParaRPr b="0" i="0" sz="1600" u="none" cap="none" strike="noStrike"/>
          </a:p>
        </p:txBody>
      </p:sp>
      <p:sp>
        <p:nvSpPr>
          <p:cNvPr id="240" name="Google Shape;240;p30"/>
          <p:cNvSpPr/>
          <p:nvPr/>
        </p:nvSpPr>
        <p:spPr>
          <a:xfrm>
            <a:off x="2776537" y="4151352"/>
            <a:ext cx="11147465" cy="309801"/>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CFD0D8"/>
              </a:buClr>
              <a:buSzPts val="1600"/>
              <a:buFont typeface="Instrument Sans"/>
              <a:buNone/>
            </a:pPr>
            <a:r>
              <a:rPr b="0" i="0" lang="en-US" sz="1600" u="none" cap="none" strike="noStrike">
                <a:solidFill>
                  <a:srgbClr val="CFD0D8"/>
                </a:solidFill>
                <a:latin typeface="Instrument Sans"/>
                <a:ea typeface="Instrument Sans"/>
                <a:cs typeface="Instrument Sans"/>
                <a:sym typeface="Instrument Sans"/>
              </a:rPr>
              <a:t>Calculations restart for Sales, Marketing, Engineering, etc.</a:t>
            </a:r>
            <a:endParaRPr b="0" i="0" sz="1600" u="none" cap="none" strike="noStrike"/>
          </a:p>
        </p:txBody>
      </p:sp>
      <p:sp>
        <p:nvSpPr>
          <p:cNvPr id="241" name="Google Shape;241;p30"/>
          <p:cNvSpPr/>
          <p:nvPr/>
        </p:nvSpPr>
        <p:spPr>
          <a:xfrm>
            <a:off x="2776537" y="4769441"/>
            <a:ext cx="11147465" cy="33099"/>
          </a:xfrm>
          <a:prstGeom prst="rect">
            <a:avLst/>
          </a:prstGeom>
          <a:solidFill>
            <a:srgbClr val="CFD0D8">
              <a:alpha val="4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30"/>
          <p:cNvSpPr/>
          <p:nvPr/>
        </p:nvSpPr>
        <p:spPr>
          <a:xfrm>
            <a:off x="2776537" y="5008840"/>
            <a:ext cx="3487579" cy="318611"/>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2000"/>
              <a:buFont typeface="Instrument Sans"/>
              <a:buNone/>
            </a:pPr>
            <a:r>
              <a:rPr b="0" i="0" lang="en-US" sz="2000" u="none" cap="none" strike="noStrike">
                <a:solidFill>
                  <a:srgbClr val="CBCCCE"/>
                </a:solidFill>
                <a:latin typeface="Instrument Sans"/>
                <a:ea typeface="Instrument Sans"/>
                <a:cs typeface="Instrument Sans"/>
                <a:sym typeface="Instrument Sans"/>
              </a:rPr>
              <a:t>ORDER BY: Set the Sequence</a:t>
            </a:r>
            <a:endParaRPr b="0" i="0" sz="2000" u="none" cap="none" strike="noStrike"/>
          </a:p>
        </p:txBody>
      </p:sp>
      <p:sp>
        <p:nvSpPr>
          <p:cNvPr id="243" name="Google Shape;243;p30"/>
          <p:cNvSpPr/>
          <p:nvPr/>
        </p:nvSpPr>
        <p:spPr>
          <a:xfrm>
            <a:off x="2776537" y="5510808"/>
            <a:ext cx="11147465" cy="309801"/>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CFD0D8"/>
              </a:buClr>
              <a:buSzPts val="1600"/>
              <a:buFont typeface="Instrument Sans"/>
              <a:buNone/>
            </a:pPr>
            <a:r>
              <a:rPr b="0" i="0" lang="en-US" sz="1600" u="none" cap="none" strike="noStrike">
                <a:solidFill>
                  <a:srgbClr val="CFD0D8"/>
                </a:solidFill>
                <a:latin typeface="Instrument Sans"/>
                <a:ea typeface="Instrument Sans"/>
                <a:cs typeface="Instrument Sans"/>
                <a:sym typeface="Instrument Sans"/>
              </a:rPr>
              <a:t>Defines the order for calculations within each partition. Critical for rankings, running totals, and LAG/LEAD functions.</a:t>
            </a:r>
            <a:endParaRPr b="0" i="0" sz="1600" u="none" cap="none" strike="noStrike"/>
          </a:p>
        </p:txBody>
      </p:sp>
      <p:sp>
        <p:nvSpPr>
          <p:cNvPr id="244" name="Google Shape;244;p30"/>
          <p:cNvSpPr/>
          <p:nvPr/>
        </p:nvSpPr>
        <p:spPr>
          <a:xfrm>
            <a:off x="2776537" y="6026944"/>
            <a:ext cx="11147465" cy="615553"/>
          </a:xfrm>
          <a:prstGeom prst="roundRect">
            <a:avLst>
              <a:gd fmla="val 13917" name="adj"/>
            </a:avLst>
          </a:prstGeom>
          <a:solidFill>
            <a:srgbClr val="3737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30"/>
          <p:cNvSpPr/>
          <p:nvPr/>
        </p:nvSpPr>
        <p:spPr>
          <a:xfrm>
            <a:off x="2766417" y="6026944"/>
            <a:ext cx="11167705" cy="615553"/>
          </a:xfrm>
          <a:prstGeom prst="roundRect">
            <a:avLst>
              <a:gd fmla="val 4971" name="adj"/>
            </a:avLst>
          </a:prstGeom>
          <a:solidFill>
            <a:srgbClr val="3737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30"/>
          <p:cNvSpPr/>
          <p:nvPr/>
        </p:nvSpPr>
        <p:spPr>
          <a:xfrm>
            <a:off x="2970371" y="6179820"/>
            <a:ext cx="10759797" cy="309801"/>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CFD0D8"/>
              </a:buClr>
              <a:buSzPts val="1600"/>
              <a:buFont typeface="Consolas"/>
              <a:buNone/>
            </a:pPr>
            <a:r>
              <a:rPr b="0" i="0" lang="en-US" sz="1600" u="none" cap="none" strike="noStrike">
                <a:solidFill>
                  <a:srgbClr val="CFD0D8"/>
                </a:solidFill>
                <a:highlight>
                  <a:srgbClr val="37373A"/>
                </a:highlight>
                <a:latin typeface="Consolas"/>
                <a:ea typeface="Consolas"/>
                <a:cs typeface="Consolas"/>
                <a:sym typeface="Consolas"/>
              </a:rPr>
              <a:t>ORDER BY salary DESC</a:t>
            </a:r>
            <a:endParaRPr b="0" i="0" sz="1600" u="none" cap="none" strike="noStrike"/>
          </a:p>
        </p:txBody>
      </p:sp>
      <p:sp>
        <p:nvSpPr>
          <p:cNvPr id="247" name="Google Shape;247;p30"/>
          <p:cNvSpPr/>
          <p:nvPr/>
        </p:nvSpPr>
        <p:spPr>
          <a:xfrm>
            <a:off x="2776537" y="6848832"/>
            <a:ext cx="11147465" cy="309801"/>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0"/>
              </a:spcBef>
              <a:spcAft>
                <a:spcPts val="0"/>
              </a:spcAft>
              <a:buClr>
                <a:srgbClr val="CFD0D8"/>
              </a:buClr>
              <a:buSzPts val="1600"/>
              <a:buFont typeface="Instrument Sans"/>
              <a:buNone/>
            </a:pPr>
            <a:r>
              <a:rPr b="0" i="0" lang="en-US" sz="1600" u="none" cap="none" strike="noStrike">
                <a:solidFill>
                  <a:srgbClr val="CFD0D8"/>
                </a:solidFill>
                <a:latin typeface="Instrument Sans"/>
                <a:ea typeface="Instrument Sans"/>
                <a:cs typeface="Instrument Sans"/>
                <a:sym typeface="Instrument Sans"/>
              </a:rPr>
              <a:t>Processes rows from highest to lowest salary.</a:t>
            </a:r>
            <a:endParaRPr b="0" i="0" sz="1600" u="none" cap="none" strike="noStrike"/>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1"/>
          <p:cNvSpPr/>
          <p:nvPr/>
        </p:nvSpPr>
        <p:spPr>
          <a:xfrm>
            <a:off x="1837849" y="944642"/>
            <a:ext cx="5237083" cy="496133"/>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CBCCCE"/>
              </a:buClr>
              <a:buSzPts val="3100"/>
              <a:buFont typeface="Instrument Sans"/>
              <a:buNone/>
            </a:pPr>
            <a:r>
              <a:rPr b="0" i="0" lang="en-US" sz="3100" u="none" cap="none" strike="noStrike">
                <a:solidFill>
                  <a:srgbClr val="CBCCCE"/>
                </a:solidFill>
                <a:latin typeface="Instrument Sans"/>
                <a:ea typeface="Instrument Sans"/>
                <a:cs typeface="Instrument Sans"/>
                <a:sym typeface="Instrument Sans"/>
              </a:rPr>
              <a:t>Window Functions in Action</a:t>
            </a:r>
            <a:endParaRPr b="0" i="0" sz="3100" u="none" cap="none" strike="noStrike"/>
          </a:p>
        </p:txBody>
      </p:sp>
      <p:sp>
        <p:nvSpPr>
          <p:cNvPr id="254" name="Google Shape;254;p31"/>
          <p:cNvSpPr/>
          <p:nvPr/>
        </p:nvSpPr>
        <p:spPr>
          <a:xfrm>
            <a:off x="1837849" y="1662946"/>
            <a:ext cx="10954702" cy="4633793"/>
          </a:xfrm>
          <a:prstGeom prst="roundRect">
            <a:avLst>
              <a:gd fmla="val 1439" name="adj"/>
            </a:avLst>
          </a:prstGeom>
          <a:solidFill>
            <a:srgbClr val="2525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55" name="Google Shape;255;p31"/>
          <p:cNvPicPr preferRelativeResize="0"/>
          <p:nvPr/>
        </p:nvPicPr>
        <p:blipFill rotWithShape="1">
          <a:blip r:embed="rId3">
            <a:alphaModFix/>
          </a:blip>
          <a:srcRect b="0" l="0" r="0" t="0"/>
          <a:stretch/>
        </p:blipFill>
        <p:spPr>
          <a:xfrm>
            <a:off x="1996559" y="1830586"/>
            <a:ext cx="248007" cy="198358"/>
          </a:xfrm>
          <a:prstGeom prst="rect">
            <a:avLst/>
          </a:prstGeom>
          <a:noFill/>
          <a:ln>
            <a:noFill/>
          </a:ln>
        </p:spPr>
      </p:pic>
      <p:sp>
        <p:nvSpPr>
          <p:cNvPr id="256" name="Google Shape;256;p31"/>
          <p:cNvSpPr/>
          <p:nvPr/>
        </p:nvSpPr>
        <p:spPr>
          <a:xfrm>
            <a:off x="2403277" y="1813679"/>
            <a:ext cx="5173861" cy="248007"/>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FFFFFF"/>
              </a:buClr>
              <a:buSzPts val="1550"/>
              <a:buFont typeface="Instrument Sans"/>
              <a:buNone/>
            </a:pPr>
            <a:r>
              <a:rPr b="0" i="0" lang="en-US" sz="1550" u="none" cap="none" strike="noStrike">
                <a:solidFill>
                  <a:srgbClr val="FFFFFF"/>
                </a:solidFill>
                <a:latin typeface="Instrument Sans"/>
                <a:ea typeface="Instrument Sans"/>
                <a:cs typeface="Instrument Sans"/>
                <a:sym typeface="Instrument Sans"/>
              </a:rPr>
              <a:t>Example: Ranking Employees by Salary per Department</a:t>
            </a:r>
            <a:endParaRPr b="0" i="0" sz="1550" u="none" cap="none" strike="noStrike"/>
          </a:p>
        </p:txBody>
      </p:sp>
      <p:sp>
        <p:nvSpPr>
          <p:cNvPr id="257" name="Google Shape;257;p31"/>
          <p:cNvSpPr/>
          <p:nvPr/>
        </p:nvSpPr>
        <p:spPr>
          <a:xfrm>
            <a:off x="2403277" y="2186702"/>
            <a:ext cx="10230564" cy="3905726"/>
          </a:xfrm>
          <a:prstGeom prst="roundRect">
            <a:avLst>
              <a:gd fmla="val 1707" name="adj"/>
            </a:avLst>
          </a:prstGeom>
          <a:solidFill>
            <a:srgbClr val="3737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31"/>
          <p:cNvSpPr/>
          <p:nvPr/>
        </p:nvSpPr>
        <p:spPr>
          <a:xfrm>
            <a:off x="2395418" y="2186702"/>
            <a:ext cx="10246281" cy="3905726"/>
          </a:xfrm>
          <a:prstGeom prst="roundRect">
            <a:avLst>
              <a:gd fmla="val 610" name="adj"/>
            </a:avLst>
          </a:prstGeom>
          <a:solidFill>
            <a:srgbClr val="3737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31"/>
          <p:cNvSpPr/>
          <p:nvPr/>
        </p:nvSpPr>
        <p:spPr>
          <a:xfrm>
            <a:off x="2554129" y="2305764"/>
            <a:ext cx="9928860" cy="3667601"/>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FFFFFF"/>
              </a:buClr>
              <a:buSzPts val="1250"/>
              <a:buFont typeface="Consolas"/>
              <a:buNone/>
            </a:pPr>
            <a:r>
              <a:rPr b="0" i="0" lang="en-US" sz="1250" u="none" cap="none" strike="noStrike">
                <a:solidFill>
                  <a:srgbClr val="FFFFFF"/>
                </a:solidFill>
                <a:highlight>
                  <a:srgbClr val="37373A"/>
                </a:highlight>
                <a:latin typeface="Consolas"/>
                <a:ea typeface="Consolas"/>
                <a:cs typeface="Consolas"/>
                <a:sym typeface="Consolas"/>
              </a:rPr>
              <a:t>SELECT </a:t>
            </a:r>
            <a:endParaRPr b="0" i="0" sz="1250" u="none" cap="none" strike="noStrike"/>
          </a:p>
          <a:p>
            <a:pPr indent="0" lvl="0" marL="0" marR="0" rtl="0" algn="l">
              <a:lnSpc>
                <a:spcPct val="136000"/>
              </a:lnSpc>
              <a:spcBef>
                <a:spcPts val="0"/>
              </a:spcBef>
              <a:spcAft>
                <a:spcPts val="0"/>
              </a:spcAft>
              <a:buClr>
                <a:srgbClr val="FFFFFF"/>
              </a:buClr>
              <a:buSzPts val="1250"/>
              <a:buFont typeface="Consolas"/>
              <a:buNone/>
            </a:pPr>
            <a:r>
              <a:rPr b="0" i="0" lang="en-US" sz="1250" u="none" cap="none" strike="noStrike">
                <a:solidFill>
                  <a:srgbClr val="FFFFFF"/>
                </a:solidFill>
                <a:highlight>
                  <a:srgbClr val="37373A"/>
                </a:highlight>
                <a:latin typeface="Consolas"/>
                <a:ea typeface="Consolas"/>
                <a:cs typeface="Consolas"/>
                <a:sym typeface="Consolas"/>
              </a:rPr>
              <a:t>  employee_name,</a:t>
            </a:r>
            <a:endParaRPr b="0" i="0" sz="1250" u="none" cap="none" strike="noStrike"/>
          </a:p>
          <a:p>
            <a:pPr indent="0" lvl="0" marL="0" marR="0" rtl="0" algn="l">
              <a:lnSpc>
                <a:spcPct val="136000"/>
              </a:lnSpc>
              <a:spcBef>
                <a:spcPts val="0"/>
              </a:spcBef>
              <a:spcAft>
                <a:spcPts val="0"/>
              </a:spcAft>
              <a:buClr>
                <a:srgbClr val="FFFFFF"/>
              </a:buClr>
              <a:buSzPts val="1250"/>
              <a:buFont typeface="Consolas"/>
              <a:buNone/>
            </a:pPr>
            <a:r>
              <a:rPr b="0" i="0" lang="en-US" sz="1250" u="none" cap="none" strike="noStrike">
                <a:solidFill>
                  <a:srgbClr val="FFFFFF"/>
                </a:solidFill>
                <a:highlight>
                  <a:srgbClr val="37373A"/>
                </a:highlight>
                <a:latin typeface="Consolas"/>
                <a:ea typeface="Consolas"/>
                <a:cs typeface="Consolas"/>
                <a:sym typeface="Consolas"/>
              </a:rPr>
              <a:t>  department,</a:t>
            </a:r>
            <a:endParaRPr b="0" i="0" sz="1250" u="none" cap="none" strike="noStrike"/>
          </a:p>
          <a:p>
            <a:pPr indent="0" lvl="0" marL="0" marR="0" rtl="0" algn="l">
              <a:lnSpc>
                <a:spcPct val="136000"/>
              </a:lnSpc>
              <a:spcBef>
                <a:spcPts val="0"/>
              </a:spcBef>
              <a:spcAft>
                <a:spcPts val="0"/>
              </a:spcAft>
              <a:buClr>
                <a:srgbClr val="FFFFFF"/>
              </a:buClr>
              <a:buSzPts val="1250"/>
              <a:buFont typeface="Consolas"/>
              <a:buNone/>
            </a:pPr>
            <a:r>
              <a:rPr b="0" i="0" lang="en-US" sz="1250" u="none" cap="none" strike="noStrike">
                <a:solidFill>
                  <a:srgbClr val="FFFFFF"/>
                </a:solidFill>
                <a:highlight>
                  <a:srgbClr val="37373A"/>
                </a:highlight>
                <a:latin typeface="Consolas"/>
                <a:ea typeface="Consolas"/>
                <a:cs typeface="Consolas"/>
                <a:sym typeface="Consolas"/>
              </a:rPr>
              <a:t>  salary,</a:t>
            </a:r>
            <a:endParaRPr b="0" i="0" sz="1250" u="none" cap="none" strike="noStrike"/>
          </a:p>
          <a:p>
            <a:pPr indent="0" lvl="0" marL="0" marR="0" rtl="0" algn="l">
              <a:lnSpc>
                <a:spcPct val="136000"/>
              </a:lnSpc>
              <a:spcBef>
                <a:spcPts val="0"/>
              </a:spcBef>
              <a:spcAft>
                <a:spcPts val="0"/>
              </a:spcAft>
              <a:buClr>
                <a:srgbClr val="FFFFFF"/>
              </a:buClr>
              <a:buSzPts val="1250"/>
              <a:buFont typeface="Consolas"/>
              <a:buNone/>
            </a:pPr>
            <a:r>
              <a:rPr b="0" i="0" lang="en-US" sz="1250" u="none" cap="none" strike="noStrike">
                <a:solidFill>
                  <a:srgbClr val="FFFFFF"/>
                </a:solidFill>
                <a:highlight>
                  <a:srgbClr val="37373A"/>
                </a:highlight>
                <a:latin typeface="Consolas"/>
                <a:ea typeface="Consolas"/>
                <a:cs typeface="Consolas"/>
                <a:sym typeface="Consolas"/>
              </a:rPr>
              <a:t>  ROW_NUMBER() OVER (</a:t>
            </a:r>
            <a:endParaRPr b="0" i="0" sz="1250" u="none" cap="none" strike="noStrike"/>
          </a:p>
          <a:p>
            <a:pPr indent="0" lvl="0" marL="0" marR="0" rtl="0" algn="l">
              <a:lnSpc>
                <a:spcPct val="136000"/>
              </a:lnSpc>
              <a:spcBef>
                <a:spcPts val="0"/>
              </a:spcBef>
              <a:spcAft>
                <a:spcPts val="0"/>
              </a:spcAft>
              <a:buClr>
                <a:srgbClr val="FFFFFF"/>
              </a:buClr>
              <a:buSzPts val="1250"/>
              <a:buFont typeface="Consolas"/>
              <a:buNone/>
            </a:pPr>
            <a:r>
              <a:rPr b="0" i="0" lang="en-US" sz="1250" u="none" cap="none" strike="noStrike">
                <a:solidFill>
                  <a:srgbClr val="FFFFFF"/>
                </a:solidFill>
                <a:highlight>
                  <a:srgbClr val="37373A"/>
                </a:highlight>
                <a:latin typeface="Consolas"/>
                <a:ea typeface="Consolas"/>
                <a:cs typeface="Consolas"/>
                <a:sym typeface="Consolas"/>
              </a:rPr>
              <a:t>    PARTITION BY department </a:t>
            </a:r>
            <a:endParaRPr b="0" i="0" sz="1250" u="none" cap="none" strike="noStrike"/>
          </a:p>
          <a:p>
            <a:pPr indent="0" lvl="0" marL="0" marR="0" rtl="0" algn="l">
              <a:lnSpc>
                <a:spcPct val="136000"/>
              </a:lnSpc>
              <a:spcBef>
                <a:spcPts val="0"/>
              </a:spcBef>
              <a:spcAft>
                <a:spcPts val="0"/>
              </a:spcAft>
              <a:buClr>
                <a:srgbClr val="FFFFFF"/>
              </a:buClr>
              <a:buSzPts val="1250"/>
              <a:buFont typeface="Consolas"/>
              <a:buNone/>
            </a:pPr>
            <a:r>
              <a:rPr b="0" i="0" lang="en-US" sz="1250" u="none" cap="none" strike="noStrike">
                <a:solidFill>
                  <a:srgbClr val="FFFFFF"/>
                </a:solidFill>
                <a:highlight>
                  <a:srgbClr val="37373A"/>
                </a:highlight>
                <a:latin typeface="Consolas"/>
                <a:ea typeface="Consolas"/>
                <a:cs typeface="Consolas"/>
                <a:sym typeface="Consolas"/>
              </a:rPr>
              <a:t>    ORDER BY salary DESC</a:t>
            </a:r>
            <a:endParaRPr b="0" i="0" sz="1250" u="none" cap="none" strike="noStrike"/>
          </a:p>
          <a:p>
            <a:pPr indent="0" lvl="0" marL="0" marR="0" rtl="0" algn="l">
              <a:lnSpc>
                <a:spcPct val="136000"/>
              </a:lnSpc>
              <a:spcBef>
                <a:spcPts val="0"/>
              </a:spcBef>
              <a:spcAft>
                <a:spcPts val="0"/>
              </a:spcAft>
              <a:buClr>
                <a:srgbClr val="FFFFFF"/>
              </a:buClr>
              <a:buSzPts val="1250"/>
              <a:buFont typeface="Consolas"/>
              <a:buNone/>
            </a:pPr>
            <a:r>
              <a:rPr b="0" i="0" lang="en-US" sz="1250" u="none" cap="none" strike="noStrike">
                <a:solidFill>
                  <a:srgbClr val="FFFFFF"/>
                </a:solidFill>
                <a:highlight>
                  <a:srgbClr val="37373A"/>
                </a:highlight>
                <a:latin typeface="Consolas"/>
                <a:ea typeface="Consolas"/>
                <a:cs typeface="Consolas"/>
                <a:sym typeface="Consolas"/>
              </a:rPr>
              <a:t>  ) AS row_num,</a:t>
            </a:r>
            <a:endParaRPr b="0" i="0" sz="1250" u="none" cap="none" strike="noStrike"/>
          </a:p>
          <a:p>
            <a:pPr indent="0" lvl="0" marL="0" marR="0" rtl="0" algn="l">
              <a:lnSpc>
                <a:spcPct val="136000"/>
              </a:lnSpc>
              <a:spcBef>
                <a:spcPts val="0"/>
              </a:spcBef>
              <a:spcAft>
                <a:spcPts val="0"/>
              </a:spcAft>
              <a:buClr>
                <a:srgbClr val="FFFFFF"/>
              </a:buClr>
              <a:buSzPts val="1250"/>
              <a:buFont typeface="Consolas"/>
              <a:buNone/>
            </a:pPr>
            <a:r>
              <a:rPr b="0" i="0" lang="en-US" sz="1250" u="none" cap="none" strike="noStrike">
                <a:solidFill>
                  <a:srgbClr val="FFFFFF"/>
                </a:solidFill>
                <a:highlight>
                  <a:srgbClr val="37373A"/>
                </a:highlight>
                <a:latin typeface="Consolas"/>
                <a:ea typeface="Consolas"/>
                <a:cs typeface="Consolas"/>
                <a:sym typeface="Consolas"/>
              </a:rPr>
              <a:t>  RANK() OVER (</a:t>
            </a:r>
            <a:endParaRPr b="0" i="0" sz="1250" u="none" cap="none" strike="noStrike"/>
          </a:p>
          <a:p>
            <a:pPr indent="0" lvl="0" marL="0" marR="0" rtl="0" algn="l">
              <a:lnSpc>
                <a:spcPct val="136000"/>
              </a:lnSpc>
              <a:spcBef>
                <a:spcPts val="0"/>
              </a:spcBef>
              <a:spcAft>
                <a:spcPts val="0"/>
              </a:spcAft>
              <a:buClr>
                <a:srgbClr val="FFFFFF"/>
              </a:buClr>
              <a:buSzPts val="1250"/>
              <a:buFont typeface="Consolas"/>
              <a:buNone/>
            </a:pPr>
            <a:r>
              <a:rPr b="0" i="0" lang="en-US" sz="1250" u="none" cap="none" strike="noStrike">
                <a:solidFill>
                  <a:srgbClr val="FFFFFF"/>
                </a:solidFill>
                <a:highlight>
                  <a:srgbClr val="37373A"/>
                </a:highlight>
                <a:latin typeface="Consolas"/>
                <a:ea typeface="Consolas"/>
                <a:cs typeface="Consolas"/>
                <a:sym typeface="Consolas"/>
              </a:rPr>
              <a:t>    PARTITION BY department </a:t>
            </a:r>
            <a:endParaRPr b="0" i="0" sz="1250" u="none" cap="none" strike="noStrike"/>
          </a:p>
          <a:p>
            <a:pPr indent="0" lvl="0" marL="0" marR="0" rtl="0" algn="l">
              <a:lnSpc>
                <a:spcPct val="136000"/>
              </a:lnSpc>
              <a:spcBef>
                <a:spcPts val="0"/>
              </a:spcBef>
              <a:spcAft>
                <a:spcPts val="0"/>
              </a:spcAft>
              <a:buClr>
                <a:srgbClr val="FFFFFF"/>
              </a:buClr>
              <a:buSzPts val="1250"/>
              <a:buFont typeface="Consolas"/>
              <a:buNone/>
            </a:pPr>
            <a:r>
              <a:rPr b="0" i="0" lang="en-US" sz="1250" u="none" cap="none" strike="noStrike">
                <a:solidFill>
                  <a:srgbClr val="FFFFFF"/>
                </a:solidFill>
                <a:highlight>
                  <a:srgbClr val="37373A"/>
                </a:highlight>
                <a:latin typeface="Consolas"/>
                <a:ea typeface="Consolas"/>
                <a:cs typeface="Consolas"/>
                <a:sym typeface="Consolas"/>
              </a:rPr>
              <a:t>    ORDER BY salary DESC</a:t>
            </a:r>
            <a:endParaRPr b="0" i="0" sz="1250" u="none" cap="none" strike="noStrike"/>
          </a:p>
          <a:p>
            <a:pPr indent="0" lvl="0" marL="0" marR="0" rtl="0" algn="l">
              <a:lnSpc>
                <a:spcPct val="136000"/>
              </a:lnSpc>
              <a:spcBef>
                <a:spcPts val="0"/>
              </a:spcBef>
              <a:spcAft>
                <a:spcPts val="0"/>
              </a:spcAft>
              <a:buClr>
                <a:srgbClr val="FFFFFF"/>
              </a:buClr>
              <a:buSzPts val="1250"/>
              <a:buFont typeface="Consolas"/>
              <a:buNone/>
            </a:pPr>
            <a:r>
              <a:rPr b="0" i="0" lang="en-US" sz="1250" u="none" cap="none" strike="noStrike">
                <a:solidFill>
                  <a:srgbClr val="FFFFFF"/>
                </a:solidFill>
                <a:highlight>
                  <a:srgbClr val="37373A"/>
                </a:highlight>
                <a:latin typeface="Consolas"/>
                <a:ea typeface="Consolas"/>
                <a:cs typeface="Consolas"/>
                <a:sym typeface="Consolas"/>
              </a:rPr>
              <a:t>  ) AS salary_rank,</a:t>
            </a:r>
            <a:endParaRPr b="0" i="0" sz="1250" u="none" cap="none" strike="noStrike"/>
          </a:p>
          <a:p>
            <a:pPr indent="0" lvl="0" marL="0" marR="0" rtl="0" algn="l">
              <a:lnSpc>
                <a:spcPct val="136000"/>
              </a:lnSpc>
              <a:spcBef>
                <a:spcPts val="0"/>
              </a:spcBef>
              <a:spcAft>
                <a:spcPts val="0"/>
              </a:spcAft>
              <a:buClr>
                <a:srgbClr val="FFFFFF"/>
              </a:buClr>
              <a:buSzPts val="1250"/>
              <a:buFont typeface="Consolas"/>
              <a:buNone/>
            </a:pPr>
            <a:r>
              <a:rPr b="0" i="0" lang="en-US" sz="1250" u="none" cap="none" strike="noStrike">
                <a:solidFill>
                  <a:srgbClr val="FFFFFF"/>
                </a:solidFill>
                <a:highlight>
                  <a:srgbClr val="37373A"/>
                </a:highlight>
                <a:latin typeface="Consolas"/>
                <a:ea typeface="Consolas"/>
                <a:cs typeface="Consolas"/>
                <a:sym typeface="Consolas"/>
              </a:rPr>
              <a:t>  DENSE_RANK() OVER (</a:t>
            </a:r>
            <a:endParaRPr b="0" i="0" sz="1250" u="none" cap="none" strike="noStrike"/>
          </a:p>
          <a:p>
            <a:pPr indent="0" lvl="0" marL="0" marR="0" rtl="0" algn="l">
              <a:lnSpc>
                <a:spcPct val="136000"/>
              </a:lnSpc>
              <a:spcBef>
                <a:spcPts val="0"/>
              </a:spcBef>
              <a:spcAft>
                <a:spcPts val="0"/>
              </a:spcAft>
              <a:buClr>
                <a:srgbClr val="FFFFFF"/>
              </a:buClr>
              <a:buSzPts val="1250"/>
              <a:buFont typeface="Consolas"/>
              <a:buNone/>
            </a:pPr>
            <a:r>
              <a:rPr b="0" i="0" lang="en-US" sz="1250" u="none" cap="none" strike="noStrike">
                <a:solidFill>
                  <a:srgbClr val="FFFFFF"/>
                </a:solidFill>
                <a:highlight>
                  <a:srgbClr val="37373A"/>
                </a:highlight>
                <a:latin typeface="Consolas"/>
                <a:ea typeface="Consolas"/>
                <a:cs typeface="Consolas"/>
                <a:sym typeface="Consolas"/>
              </a:rPr>
              <a:t>    PARTITION BY department </a:t>
            </a:r>
            <a:endParaRPr b="0" i="0" sz="1250" u="none" cap="none" strike="noStrike"/>
          </a:p>
          <a:p>
            <a:pPr indent="0" lvl="0" marL="0" marR="0" rtl="0" algn="l">
              <a:lnSpc>
                <a:spcPct val="136000"/>
              </a:lnSpc>
              <a:spcBef>
                <a:spcPts val="0"/>
              </a:spcBef>
              <a:spcAft>
                <a:spcPts val="0"/>
              </a:spcAft>
              <a:buClr>
                <a:srgbClr val="FFFFFF"/>
              </a:buClr>
              <a:buSzPts val="1250"/>
              <a:buFont typeface="Consolas"/>
              <a:buNone/>
            </a:pPr>
            <a:r>
              <a:rPr b="0" i="0" lang="en-US" sz="1250" u="none" cap="none" strike="noStrike">
                <a:solidFill>
                  <a:srgbClr val="FFFFFF"/>
                </a:solidFill>
                <a:highlight>
                  <a:srgbClr val="37373A"/>
                </a:highlight>
                <a:latin typeface="Consolas"/>
                <a:ea typeface="Consolas"/>
                <a:cs typeface="Consolas"/>
                <a:sym typeface="Consolas"/>
              </a:rPr>
              <a:t>    ORDER BY salary DESC</a:t>
            </a:r>
            <a:endParaRPr b="0" i="0" sz="1250" u="none" cap="none" strike="noStrike"/>
          </a:p>
          <a:p>
            <a:pPr indent="0" lvl="0" marL="0" marR="0" rtl="0" algn="l">
              <a:lnSpc>
                <a:spcPct val="136000"/>
              </a:lnSpc>
              <a:spcBef>
                <a:spcPts val="0"/>
              </a:spcBef>
              <a:spcAft>
                <a:spcPts val="0"/>
              </a:spcAft>
              <a:buClr>
                <a:srgbClr val="FFFFFF"/>
              </a:buClr>
              <a:buSzPts val="1250"/>
              <a:buFont typeface="Consolas"/>
              <a:buNone/>
            </a:pPr>
            <a:r>
              <a:rPr b="0" i="0" lang="en-US" sz="1250" u="none" cap="none" strike="noStrike">
                <a:solidFill>
                  <a:srgbClr val="FFFFFF"/>
                </a:solidFill>
                <a:highlight>
                  <a:srgbClr val="37373A"/>
                </a:highlight>
                <a:latin typeface="Consolas"/>
                <a:ea typeface="Consolas"/>
                <a:cs typeface="Consolas"/>
                <a:sym typeface="Consolas"/>
              </a:rPr>
              <a:t>  ) AS dense_salary_rank</a:t>
            </a:r>
            <a:endParaRPr b="0" i="0" sz="1250" u="none" cap="none" strike="noStrike"/>
          </a:p>
          <a:p>
            <a:pPr indent="0" lvl="0" marL="0" marR="0" rtl="0" algn="l">
              <a:lnSpc>
                <a:spcPct val="136000"/>
              </a:lnSpc>
              <a:spcBef>
                <a:spcPts val="0"/>
              </a:spcBef>
              <a:spcAft>
                <a:spcPts val="0"/>
              </a:spcAft>
              <a:buClr>
                <a:srgbClr val="FFFFFF"/>
              </a:buClr>
              <a:buSzPts val="1250"/>
              <a:buFont typeface="Consolas"/>
              <a:buNone/>
            </a:pPr>
            <a:r>
              <a:rPr b="0" i="0" lang="en-US" sz="1250" u="none" cap="none" strike="noStrike">
                <a:solidFill>
                  <a:srgbClr val="FFFFFF"/>
                </a:solidFill>
                <a:highlight>
                  <a:srgbClr val="37373A"/>
                </a:highlight>
                <a:latin typeface="Consolas"/>
                <a:ea typeface="Consolas"/>
                <a:cs typeface="Consolas"/>
                <a:sym typeface="Consolas"/>
              </a:rPr>
              <a:t>FROM employees;</a:t>
            </a:r>
            <a:endParaRPr b="0" i="0" sz="1250" u="none" cap="none" strike="noStrike"/>
          </a:p>
        </p:txBody>
      </p:sp>
      <p:sp>
        <p:nvSpPr>
          <p:cNvPr id="260" name="Google Shape;260;p31"/>
          <p:cNvSpPr/>
          <p:nvPr/>
        </p:nvSpPr>
        <p:spPr>
          <a:xfrm>
            <a:off x="1837849" y="6782730"/>
            <a:ext cx="3577500" cy="863100"/>
          </a:xfrm>
          <a:prstGeom prst="roundRect">
            <a:avLst>
              <a:gd fmla="val 7726" name="adj"/>
            </a:avLst>
          </a:prstGeom>
          <a:solidFill>
            <a:srgbClr val="3D3D42"/>
          </a:solidFill>
          <a:ln cap="flat" cmpd="sng" w="9525">
            <a:solidFill>
              <a:srgbClr val="5656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31"/>
          <p:cNvSpPr/>
          <p:nvPr/>
        </p:nvSpPr>
        <p:spPr>
          <a:xfrm>
            <a:off x="2004179" y="6588085"/>
            <a:ext cx="1984534" cy="248007"/>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CFD0D8"/>
              </a:buClr>
              <a:buSzPts val="1550"/>
              <a:buFont typeface="Instrument Sans"/>
              <a:buNone/>
            </a:pPr>
            <a:r>
              <a:rPr b="0" i="0" lang="en-US" sz="1550" u="none" cap="none" strike="noStrike">
                <a:solidFill>
                  <a:srgbClr val="CFD0D8"/>
                </a:solidFill>
                <a:latin typeface="Instrument Sans"/>
                <a:ea typeface="Instrument Sans"/>
                <a:cs typeface="Instrument Sans"/>
                <a:sym typeface="Instrument Sans"/>
              </a:rPr>
              <a:t>ROW_NUMBER</a:t>
            </a:r>
            <a:endParaRPr b="0" i="0" sz="1550" u="none" cap="none" strike="noStrike"/>
          </a:p>
        </p:txBody>
      </p:sp>
      <p:sp>
        <p:nvSpPr>
          <p:cNvPr id="262" name="Google Shape;262;p31"/>
          <p:cNvSpPr/>
          <p:nvPr/>
        </p:nvSpPr>
        <p:spPr>
          <a:xfrm>
            <a:off x="2004179" y="6902767"/>
            <a:ext cx="3244800" cy="215700"/>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CFD0D8"/>
              </a:buClr>
              <a:buSzPts val="1250"/>
              <a:buFont typeface="Instrument Sans"/>
              <a:buNone/>
            </a:pPr>
            <a:r>
              <a:rPr b="0" i="0" lang="en-US" sz="1250" u="none" cap="none" strike="noStrike">
                <a:solidFill>
                  <a:srgbClr val="CFD0D8"/>
                </a:solidFill>
                <a:latin typeface="Instrument Sans"/>
                <a:ea typeface="Instrument Sans"/>
                <a:cs typeface="Instrument Sans"/>
                <a:sym typeface="Instrument Sans"/>
              </a:rPr>
              <a:t>Always unique: 1, 2, 3, 4...</a:t>
            </a:r>
            <a:endParaRPr b="0" i="0" sz="1250" u="none" cap="none" strike="noStrike"/>
          </a:p>
        </p:txBody>
      </p:sp>
      <p:sp>
        <p:nvSpPr>
          <p:cNvPr id="263" name="Google Shape;263;p31"/>
          <p:cNvSpPr/>
          <p:nvPr/>
        </p:nvSpPr>
        <p:spPr>
          <a:xfrm>
            <a:off x="5526418" y="6687180"/>
            <a:ext cx="3577500" cy="863100"/>
          </a:xfrm>
          <a:prstGeom prst="roundRect">
            <a:avLst>
              <a:gd fmla="val 7726" name="adj"/>
            </a:avLst>
          </a:prstGeom>
          <a:solidFill>
            <a:srgbClr val="3D3D42"/>
          </a:solidFill>
          <a:ln cap="flat" cmpd="sng" w="9525">
            <a:solidFill>
              <a:srgbClr val="5656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31"/>
          <p:cNvSpPr/>
          <p:nvPr/>
        </p:nvSpPr>
        <p:spPr>
          <a:xfrm>
            <a:off x="5692735" y="6588085"/>
            <a:ext cx="1984534" cy="248007"/>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CFD0D8"/>
              </a:buClr>
              <a:buSzPts val="1550"/>
              <a:buFont typeface="Instrument Sans"/>
              <a:buNone/>
            </a:pPr>
            <a:r>
              <a:rPr b="0" i="0" lang="en-US" sz="1550" u="none" cap="none" strike="noStrike">
                <a:solidFill>
                  <a:srgbClr val="CFD0D8"/>
                </a:solidFill>
                <a:latin typeface="Instrument Sans"/>
                <a:ea typeface="Instrument Sans"/>
                <a:cs typeface="Instrument Sans"/>
                <a:sym typeface="Instrument Sans"/>
              </a:rPr>
              <a:t>RANK</a:t>
            </a:r>
            <a:endParaRPr b="0" i="0" sz="1550" u="none" cap="none" strike="noStrike"/>
          </a:p>
        </p:txBody>
      </p:sp>
      <p:sp>
        <p:nvSpPr>
          <p:cNvPr id="265" name="Google Shape;265;p31"/>
          <p:cNvSpPr/>
          <p:nvPr/>
        </p:nvSpPr>
        <p:spPr>
          <a:xfrm>
            <a:off x="5692735" y="6902767"/>
            <a:ext cx="3244810" cy="215741"/>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CFD0D8"/>
              </a:buClr>
              <a:buSzPts val="1250"/>
              <a:buFont typeface="Instrument Sans"/>
              <a:buNone/>
            </a:pPr>
            <a:r>
              <a:rPr b="0" i="0" lang="en-US" sz="1250" u="none" cap="none" strike="noStrike">
                <a:solidFill>
                  <a:srgbClr val="CFD0D8"/>
                </a:solidFill>
                <a:latin typeface="Instrument Sans"/>
                <a:ea typeface="Instrument Sans"/>
                <a:cs typeface="Instrument Sans"/>
                <a:sym typeface="Instrument Sans"/>
              </a:rPr>
              <a:t>With gaps: 1, 2, 2, 4...</a:t>
            </a:r>
            <a:endParaRPr b="0" i="0" sz="1250" u="none" cap="none" strike="noStrike"/>
          </a:p>
        </p:txBody>
      </p:sp>
      <p:sp>
        <p:nvSpPr>
          <p:cNvPr id="266" name="Google Shape;266;p31"/>
          <p:cNvSpPr/>
          <p:nvPr/>
        </p:nvSpPr>
        <p:spPr>
          <a:xfrm>
            <a:off x="9214961" y="6782730"/>
            <a:ext cx="3577500" cy="863100"/>
          </a:xfrm>
          <a:prstGeom prst="roundRect">
            <a:avLst>
              <a:gd fmla="val 7726" name="adj"/>
            </a:avLst>
          </a:prstGeom>
          <a:solidFill>
            <a:srgbClr val="3D3D42"/>
          </a:solidFill>
          <a:ln cap="flat" cmpd="sng" w="9525">
            <a:solidFill>
              <a:srgbClr val="5656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31"/>
          <p:cNvSpPr/>
          <p:nvPr/>
        </p:nvSpPr>
        <p:spPr>
          <a:xfrm>
            <a:off x="9381292" y="6588085"/>
            <a:ext cx="1984534" cy="248007"/>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CFD0D8"/>
              </a:buClr>
              <a:buSzPts val="1550"/>
              <a:buFont typeface="Instrument Sans"/>
              <a:buNone/>
            </a:pPr>
            <a:r>
              <a:rPr b="0" i="0" lang="en-US" sz="1550" u="none" cap="none" strike="noStrike">
                <a:solidFill>
                  <a:srgbClr val="CFD0D8"/>
                </a:solidFill>
                <a:latin typeface="Instrument Sans"/>
                <a:ea typeface="Instrument Sans"/>
                <a:cs typeface="Instrument Sans"/>
                <a:sym typeface="Instrument Sans"/>
              </a:rPr>
              <a:t>DENSE_RANK</a:t>
            </a:r>
            <a:endParaRPr b="0" i="0" sz="1550" u="none" cap="none" strike="noStrike"/>
          </a:p>
        </p:txBody>
      </p:sp>
      <p:sp>
        <p:nvSpPr>
          <p:cNvPr id="268" name="Google Shape;268;p31"/>
          <p:cNvSpPr/>
          <p:nvPr/>
        </p:nvSpPr>
        <p:spPr>
          <a:xfrm>
            <a:off x="9381292" y="6902767"/>
            <a:ext cx="3244810" cy="215741"/>
          </a:xfrm>
          <a:prstGeom prst="rect">
            <a:avLst/>
          </a:prstGeom>
          <a:noFill/>
          <a:ln>
            <a:noFill/>
          </a:ln>
        </p:spPr>
        <p:txBody>
          <a:bodyPr anchorCtr="0" anchor="t" bIns="0" lIns="0" spcFirstLastPara="1" rIns="0" wrap="square" tIns="0">
            <a:noAutofit/>
          </a:bodyPr>
          <a:lstStyle/>
          <a:p>
            <a:pPr indent="0" lvl="0" marL="0" marR="0" rtl="0" algn="l">
              <a:lnSpc>
                <a:spcPct val="136000"/>
              </a:lnSpc>
              <a:spcBef>
                <a:spcPts val="0"/>
              </a:spcBef>
              <a:spcAft>
                <a:spcPts val="0"/>
              </a:spcAft>
              <a:buClr>
                <a:srgbClr val="CFD0D8"/>
              </a:buClr>
              <a:buSzPts val="1250"/>
              <a:buFont typeface="Instrument Sans"/>
              <a:buNone/>
            </a:pPr>
            <a:r>
              <a:rPr b="0" i="0" lang="en-US" sz="1250" u="none" cap="none" strike="noStrike">
                <a:solidFill>
                  <a:srgbClr val="CFD0D8"/>
                </a:solidFill>
                <a:latin typeface="Instrument Sans"/>
                <a:ea typeface="Instrument Sans"/>
                <a:cs typeface="Instrument Sans"/>
                <a:sym typeface="Instrument Sans"/>
              </a:rPr>
              <a:t>No gaps: 1, 2, 2, 3...</a:t>
            </a:r>
            <a:endParaRPr b="0" i="0" sz="1250" u="none" cap="none" strike="noStrike"/>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3" name="Shape 273"/>
        <p:cNvGrpSpPr/>
        <p:nvPr/>
      </p:nvGrpSpPr>
      <p:grpSpPr>
        <a:xfrm>
          <a:off x="0" y="0"/>
          <a:ext cx="0" cy="0"/>
          <a:chOff x="0" y="0"/>
          <a:chExt cx="0" cy="0"/>
        </a:xfrm>
      </p:grpSpPr>
      <p:sp>
        <p:nvSpPr>
          <p:cNvPr id="274" name="Google Shape;274;p32"/>
          <p:cNvSpPr/>
          <p:nvPr/>
        </p:nvSpPr>
        <p:spPr>
          <a:xfrm>
            <a:off x="757817" y="311825"/>
            <a:ext cx="7934400" cy="612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3800"/>
              <a:buFont typeface="Instrument Sans"/>
              <a:buNone/>
            </a:pPr>
            <a:r>
              <a:rPr b="0" i="0" lang="en-US" sz="3800" u="none" cap="none" strike="noStrike">
                <a:solidFill>
                  <a:srgbClr val="CBCCCE"/>
                </a:solidFill>
                <a:latin typeface="Instrument Sans"/>
                <a:ea typeface="Instrument Sans"/>
                <a:cs typeface="Instrument Sans"/>
                <a:sym typeface="Instrument Sans"/>
              </a:rPr>
              <a:t>Running Totals &amp; Moving Averages</a:t>
            </a:r>
            <a:endParaRPr b="0" i="0" sz="3800" u="none" cap="none" strike="noStrike"/>
          </a:p>
        </p:txBody>
      </p:sp>
      <p:sp>
        <p:nvSpPr>
          <p:cNvPr id="275" name="Google Shape;275;p32"/>
          <p:cNvSpPr/>
          <p:nvPr/>
        </p:nvSpPr>
        <p:spPr>
          <a:xfrm>
            <a:off x="757817" y="1119667"/>
            <a:ext cx="13517400" cy="7053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CFD0D8"/>
              </a:buClr>
              <a:buSzPts val="1468"/>
              <a:buFont typeface="Instrument Sans"/>
              <a:buNone/>
            </a:pPr>
            <a:r>
              <a:rPr b="0" i="0" lang="en-US" sz="1468" u="none" cap="none" strike="noStrike">
                <a:solidFill>
                  <a:srgbClr val="CFD0D8"/>
                </a:solidFill>
                <a:latin typeface="Instrument Sans"/>
                <a:ea typeface="Instrument Sans"/>
                <a:cs typeface="Instrument Sans"/>
                <a:sym typeface="Instrument Sans"/>
              </a:rPr>
              <a:t>Window functions are incredibly powerful for analytical tasks like calculating running totals and moving averages, which provide insight into trends over time. A running total, also known as a cumulative sum, aggregates values sequentially, while a moving average smooths out short-term fluctuations to highlight longer-term trends.</a:t>
            </a:r>
            <a:endParaRPr b="0" i="0" sz="1468" u="none" cap="none" strike="noStrike"/>
          </a:p>
        </p:txBody>
      </p:sp>
      <p:sp>
        <p:nvSpPr>
          <p:cNvPr id="276" name="Google Shape;276;p32"/>
          <p:cNvSpPr/>
          <p:nvPr/>
        </p:nvSpPr>
        <p:spPr>
          <a:xfrm>
            <a:off x="757817" y="1971728"/>
            <a:ext cx="3123000" cy="305700"/>
          </a:xfrm>
          <a:prstGeom prst="rect">
            <a:avLst/>
          </a:prstGeom>
          <a:noFill/>
          <a:ln>
            <a:noFill/>
          </a:ln>
        </p:spPr>
        <p:txBody>
          <a:bodyPr anchorCtr="0" anchor="t" bIns="0" lIns="0" spcFirstLastPara="1" rIns="0" wrap="square" tIns="0">
            <a:noAutofit/>
          </a:bodyPr>
          <a:lstStyle/>
          <a:p>
            <a:pPr indent="0" lvl="0" marL="0" marR="0" rtl="0" algn="l">
              <a:lnSpc>
                <a:spcPct val="122727"/>
              </a:lnSpc>
              <a:spcBef>
                <a:spcPts val="0"/>
              </a:spcBef>
              <a:spcAft>
                <a:spcPts val="0"/>
              </a:spcAft>
              <a:buClr>
                <a:srgbClr val="CBCCCE"/>
              </a:buClr>
              <a:buSzPts val="1900"/>
              <a:buFont typeface="Instrument Sans"/>
              <a:buNone/>
            </a:pPr>
            <a:r>
              <a:rPr b="0" i="0" lang="en-US" sz="1900" u="none" cap="none" strike="noStrike">
                <a:solidFill>
                  <a:srgbClr val="CBCCCE"/>
                </a:solidFill>
                <a:latin typeface="Instrument Sans"/>
                <a:ea typeface="Instrument Sans"/>
                <a:cs typeface="Instrument Sans"/>
                <a:sym typeface="Instrument Sans"/>
              </a:rPr>
              <a:t>Calculate Cumulative Sales</a:t>
            </a:r>
            <a:endParaRPr b="0" i="0" sz="1900" u="none" cap="none" strike="noStrike"/>
          </a:p>
        </p:txBody>
      </p:sp>
      <p:sp>
        <p:nvSpPr>
          <p:cNvPr id="277" name="Google Shape;277;p32"/>
          <p:cNvSpPr/>
          <p:nvPr/>
        </p:nvSpPr>
        <p:spPr>
          <a:xfrm>
            <a:off x="757817" y="2424598"/>
            <a:ext cx="13517400" cy="3584700"/>
          </a:xfrm>
          <a:prstGeom prst="roundRect">
            <a:avLst>
              <a:gd fmla="val 2295" name="adj"/>
            </a:avLst>
          </a:prstGeom>
          <a:solidFill>
            <a:srgbClr val="37373A"/>
          </a:solidFill>
          <a:ln>
            <a:noFill/>
          </a:ln>
        </p:spPr>
        <p:txBody>
          <a:bodyPr anchorCtr="0" anchor="ctr" bIns="157925" lIns="157925" spcFirstLastPara="1" rIns="157925" wrap="square" tIns="157925">
            <a:noAutofit/>
          </a:bodyPr>
          <a:lstStyle/>
          <a:p>
            <a:pPr indent="0" lvl="0" marL="0" rtl="0" algn="l">
              <a:spcBef>
                <a:spcPts val="0"/>
              </a:spcBef>
              <a:spcAft>
                <a:spcPts val="0"/>
              </a:spcAft>
              <a:buNone/>
            </a:pPr>
            <a:r>
              <a:t/>
            </a:r>
            <a:endParaRPr/>
          </a:p>
        </p:txBody>
      </p:sp>
      <p:sp>
        <p:nvSpPr>
          <p:cNvPr id="278" name="Google Shape;278;p32"/>
          <p:cNvSpPr/>
          <p:nvPr/>
        </p:nvSpPr>
        <p:spPr>
          <a:xfrm>
            <a:off x="748150" y="2424601"/>
            <a:ext cx="13536900" cy="4526700"/>
          </a:xfrm>
          <a:prstGeom prst="roundRect">
            <a:avLst>
              <a:gd fmla="val 820" name="adj"/>
            </a:avLst>
          </a:prstGeom>
          <a:solidFill>
            <a:srgbClr val="37373A"/>
          </a:solidFill>
          <a:ln>
            <a:noFill/>
          </a:ln>
        </p:spPr>
        <p:txBody>
          <a:bodyPr anchorCtr="0" anchor="ctr" bIns="157925" lIns="157925" spcFirstLastPara="1" rIns="157925" wrap="square" tIns="157925">
            <a:noAutofit/>
          </a:bodyPr>
          <a:lstStyle/>
          <a:p>
            <a:pPr indent="0" lvl="0" marL="0" rtl="0" algn="l">
              <a:spcBef>
                <a:spcPts val="0"/>
              </a:spcBef>
              <a:spcAft>
                <a:spcPts val="0"/>
              </a:spcAft>
              <a:buNone/>
            </a:pPr>
            <a:r>
              <a:t/>
            </a:r>
            <a:endParaRPr/>
          </a:p>
        </p:txBody>
      </p:sp>
      <p:sp>
        <p:nvSpPr>
          <p:cNvPr id="279" name="Google Shape;279;p32"/>
          <p:cNvSpPr/>
          <p:nvPr/>
        </p:nvSpPr>
        <p:spPr>
          <a:xfrm>
            <a:off x="943942" y="2571440"/>
            <a:ext cx="13145400" cy="32913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CFD0D8"/>
              </a:buClr>
              <a:buSzPts val="1468"/>
              <a:buFont typeface="Consolas"/>
              <a:buNone/>
            </a:pPr>
            <a:r>
              <a:rPr b="0" i="0" lang="en-US" sz="1468" u="none" cap="none" strike="noStrike">
                <a:solidFill>
                  <a:srgbClr val="CFD0D8"/>
                </a:solidFill>
                <a:highlight>
                  <a:srgbClr val="37373A"/>
                </a:highlight>
                <a:latin typeface="Consolas"/>
                <a:ea typeface="Consolas"/>
                <a:cs typeface="Consolas"/>
                <a:sym typeface="Consolas"/>
              </a:rPr>
              <a:t>SELECT </a:t>
            </a:r>
            <a:endParaRPr b="0" i="0" sz="1468" u="none" cap="none" strike="noStrike"/>
          </a:p>
          <a:p>
            <a:pPr indent="0" lvl="0" marL="0" marR="0" rtl="0" algn="l">
              <a:lnSpc>
                <a:spcPct val="123529"/>
              </a:lnSpc>
              <a:spcBef>
                <a:spcPts val="0"/>
              </a:spcBef>
              <a:spcAft>
                <a:spcPts val="0"/>
              </a:spcAft>
              <a:buClr>
                <a:srgbClr val="CFD0D8"/>
              </a:buClr>
              <a:buSzPts val="1468"/>
              <a:buFont typeface="Consolas"/>
              <a:buNone/>
            </a:pPr>
            <a:r>
              <a:rPr b="0" i="0" lang="en-US" sz="1468" u="none" cap="none" strike="noStrike">
                <a:solidFill>
                  <a:srgbClr val="CFD0D8"/>
                </a:solidFill>
                <a:highlight>
                  <a:srgbClr val="37373A"/>
                </a:highlight>
                <a:latin typeface="Consolas"/>
                <a:ea typeface="Consolas"/>
                <a:cs typeface="Consolas"/>
                <a:sym typeface="Consolas"/>
              </a:rPr>
              <a:t>  order_date,</a:t>
            </a:r>
            <a:endParaRPr b="0" i="0" sz="1468" u="none" cap="none" strike="noStrike"/>
          </a:p>
          <a:p>
            <a:pPr indent="0" lvl="0" marL="0" marR="0" rtl="0" algn="l">
              <a:lnSpc>
                <a:spcPct val="123529"/>
              </a:lnSpc>
              <a:spcBef>
                <a:spcPts val="0"/>
              </a:spcBef>
              <a:spcAft>
                <a:spcPts val="0"/>
              </a:spcAft>
              <a:buClr>
                <a:srgbClr val="CFD0D8"/>
              </a:buClr>
              <a:buSzPts val="1468"/>
              <a:buFont typeface="Consolas"/>
              <a:buNone/>
            </a:pPr>
            <a:r>
              <a:rPr b="0" i="0" lang="en-US" sz="1468" u="none" cap="none" strike="noStrike">
                <a:solidFill>
                  <a:srgbClr val="CFD0D8"/>
                </a:solidFill>
                <a:highlight>
                  <a:srgbClr val="37373A"/>
                </a:highlight>
                <a:latin typeface="Consolas"/>
                <a:ea typeface="Consolas"/>
                <a:cs typeface="Consolas"/>
                <a:sym typeface="Consolas"/>
              </a:rPr>
              <a:t>  daily_sales,</a:t>
            </a:r>
            <a:endParaRPr b="0" i="0" sz="1468" u="none" cap="none" strike="noStrike"/>
          </a:p>
          <a:p>
            <a:pPr indent="0" lvl="0" marL="0" marR="0" rtl="0" algn="l">
              <a:lnSpc>
                <a:spcPct val="123529"/>
              </a:lnSpc>
              <a:spcBef>
                <a:spcPts val="0"/>
              </a:spcBef>
              <a:spcAft>
                <a:spcPts val="0"/>
              </a:spcAft>
              <a:buClr>
                <a:srgbClr val="CFD0D8"/>
              </a:buClr>
              <a:buSzPts val="1468"/>
              <a:buFont typeface="Consolas"/>
              <a:buNone/>
            </a:pPr>
            <a:r>
              <a:rPr b="0" i="0" lang="en-US" sz="1468" u="none" cap="none" strike="noStrike">
                <a:solidFill>
                  <a:srgbClr val="CFD0D8"/>
                </a:solidFill>
                <a:highlight>
                  <a:srgbClr val="37373A"/>
                </a:highlight>
                <a:latin typeface="Consolas"/>
                <a:ea typeface="Consolas"/>
                <a:cs typeface="Consolas"/>
                <a:sym typeface="Consolas"/>
              </a:rPr>
              <a:t>  SUM(daily_sales) OVER (</a:t>
            </a:r>
            <a:endParaRPr b="0" i="0" sz="1468" u="none" cap="none" strike="noStrike"/>
          </a:p>
          <a:p>
            <a:pPr indent="0" lvl="0" marL="0" marR="0" rtl="0" algn="l">
              <a:lnSpc>
                <a:spcPct val="123529"/>
              </a:lnSpc>
              <a:spcBef>
                <a:spcPts val="0"/>
              </a:spcBef>
              <a:spcAft>
                <a:spcPts val="0"/>
              </a:spcAft>
              <a:buClr>
                <a:srgbClr val="CFD0D8"/>
              </a:buClr>
              <a:buSzPts val="1468"/>
              <a:buFont typeface="Consolas"/>
              <a:buNone/>
            </a:pPr>
            <a:r>
              <a:rPr b="0" i="0" lang="en-US" sz="1468" u="none" cap="none" strike="noStrike">
                <a:solidFill>
                  <a:srgbClr val="CFD0D8"/>
                </a:solidFill>
                <a:highlight>
                  <a:srgbClr val="37373A"/>
                </a:highlight>
                <a:latin typeface="Consolas"/>
                <a:ea typeface="Consolas"/>
                <a:cs typeface="Consolas"/>
                <a:sym typeface="Consolas"/>
              </a:rPr>
              <a:t>    ORDER BY order_date</a:t>
            </a:r>
            <a:endParaRPr b="0" i="0" sz="1468" u="none" cap="none" strike="noStrike"/>
          </a:p>
          <a:p>
            <a:pPr indent="0" lvl="0" marL="0" marR="0" rtl="0" algn="l">
              <a:lnSpc>
                <a:spcPct val="123529"/>
              </a:lnSpc>
              <a:spcBef>
                <a:spcPts val="0"/>
              </a:spcBef>
              <a:spcAft>
                <a:spcPts val="0"/>
              </a:spcAft>
              <a:buClr>
                <a:srgbClr val="CFD0D8"/>
              </a:buClr>
              <a:buSzPts val="1468"/>
              <a:buFont typeface="Consolas"/>
              <a:buNone/>
            </a:pPr>
            <a:r>
              <a:rPr b="0" i="0" lang="en-US" sz="1468" u="none" cap="none" strike="noStrike">
                <a:solidFill>
                  <a:srgbClr val="CFD0D8"/>
                </a:solidFill>
                <a:highlight>
                  <a:srgbClr val="37373A"/>
                </a:highlight>
                <a:latin typeface="Consolas"/>
                <a:ea typeface="Consolas"/>
                <a:cs typeface="Consolas"/>
                <a:sym typeface="Consolas"/>
              </a:rPr>
              <a:t>    ROWS BETWEEN UNBOUNDED PRECEDING </a:t>
            </a:r>
            <a:endParaRPr b="0" i="0" sz="1468" u="none" cap="none" strike="noStrike"/>
          </a:p>
          <a:p>
            <a:pPr indent="0" lvl="0" marL="0" marR="0" rtl="0" algn="l">
              <a:lnSpc>
                <a:spcPct val="123529"/>
              </a:lnSpc>
              <a:spcBef>
                <a:spcPts val="0"/>
              </a:spcBef>
              <a:spcAft>
                <a:spcPts val="0"/>
              </a:spcAft>
              <a:buClr>
                <a:srgbClr val="CFD0D8"/>
              </a:buClr>
              <a:buSzPts val="1468"/>
              <a:buFont typeface="Consolas"/>
              <a:buNone/>
            </a:pPr>
            <a:r>
              <a:rPr b="0" i="0" lang="en-US" sz="1468" u="none" cap="none" strike="noStrike">
                <a:solidFill>
                  <a:srgbClr val="CFD0D8"/>
                </a:solidFill>
                <a:highlight>
                  <a:srgbClr val="37373A"/>
                </a:highlight>
                <a:latin typeface="Consolas"/>
                <a:ea typeface="Consolas"/>
                <a:cs typeface="Consolas"/>
                <a:sym typeface="Consolas"/>
              </a:rPr>
              <a:t>    AND CURRENT ROW</a:t>
            </a:r>
            <a:endParaRPr b="0" i="0" sz="1468" u="none" cap="none" strike="noStrike"/>
          </a:p>
          <a:p>
            <a:pPr indent="0" lvl="0" marL="0" marR="0" rtl="0" algn="l">
              <a:lnSpc>
                <a:spcPct val="123529"/>
              </a:lnSpc>
              <a:spcBef>
                <a:spcPts val="0"/>
              </a:spcBef>
              <a:spcAft>
                <a:spcPts val="0"/>
              </a:spcAft>
              <a:buClr>
                <a:srgbClr val="CFD0D8"/>
              </a:buClr>
              <a:buSzPts val="1468"/>
              <a:buFont typeface="Consolas"/>
              <a:buNone/>
            </a:pPr>
            <a:r>
              <a:rPr b="0" i="0" lang="en-US" sz="1468" u="none" cap="none" strike="noStrike">
                <a:solidFill>
                  <a:srgbClr val="CFD0D8"/>
                </a:solidFill>
                <a:highlight>
                  <a:srgbClr val="37373A"/>
                </a:highlight>
                <a:latin typeface="Consolas"/>
                <a:ea typeface="Consolas"/>
                <a:cs typeface="Consolas"/>
                <a:sym typeface="Consolas"/>
              </a:rPr>
              <a:t>  ) AS running_total,</a:t>
            </a:r>
            <a:endParaRPr b="0" i="0" sz="1468" u="none" cap="none" strike="noStrike"/>
          </a:p>
          <a:p>
            <a:pPr indent="0" lvl="0" marL="0" marR="0" rtl="0" algn="l">
              <a:lnSpc>
                <a:spcPct val="123529"/>
              </a:lnSpc>
              <a:spcBef>
                <a:spcPts val="0"/>
              </a:spcBef>
              <a:spcAft>
                <a:spcPts val="0"/>
              </a:spcAft>
              <a:buClr>
                <a:srgbClr val="CFD0D8"/>
              </a:buClr>
              <a:buSzPts val="1468"/>
              <a:buFont typeface="Consolas"/>
              <a:buNone/>
            </a:pPr>
            <a:r>
              <a:rPr b="0" i="0" lang="en-US" sz="1468" u="none" cap="none" strike="noStrike">
                <a:solidFill>
                  <a:srgbClr val="CFD0D8"/>
                </a:solidFill>
                <a:highlight>
                  <a:srgbClr val="37373A"/>
                </a:highlight>
                <a:latin typeface="Consolas"/>
                <a:ea typeface="Consolas"/>
                <a:cs typeface="Consolas"/>
                <a:sym typeface="Consolas"/>
              </a:rPr>
              <a:t>  AVG(daily_sales) OVER (</a:t>
            </a:r>
            <a:endParaRPr b="0" i="0" sz="1468" u="none" cap="none" strike="noStrike"/>
          </a:p>
          <a:p>
            <a:pPr indent="0" lvl="0" marL="0" marR="0" rtl="0" algn="l">
              <a:lnSpc>
                <a:spcPct val="123529"/>
              </a:lnSpc>
              <a:spcBef>
                <a:spcPts val="0"/>
              </a:spcBef>
              <a:spcAft>
                <a:spcPts val="0"/>
              </a:spcAft>
              <a:buClr>
                <a:srgbClr val="CFD0D8"/>
              </a:buClr>
              <a:buSzPts val="1468"/>
              <a:buFont typeface="Consolas"/>
              <a:buNone/>
            </a:pPr>
            <a:r>
              <a:rPr b="0" i="0" lang="en-US" sz="1468" u="none" cap="none" strike="noStrike">
                <a:solidFill>
                  <a:srgbClr val="CFD0D8"/>
                </a:solidFill>
                <a:highlight>
                  <a:srgbClr val="37373A"/>
                </a:highlight>
                <a:latin typeface="Consolas"/>
                <a:ea typeface="Consolas"/>
                <a:cs typeface="Consolas"/>
                <a:sym typeface="Consolas"/>
              </a:rPr>
              <a:t>    ORDER BY order_date</a:t>
            </a:r>
            <a:endParaRPr b="0" i="0" sz="1468" u="none" cap="none" strike="noStrike"/>
          </a:p>
          <a:p>
            <a:pPr indent="0" lvl="0" marL="0" marR="0" rtl="0" algn="l">
              <a:lnSpc>
                <a:spcPct val="123529"/>
              </a:lnSpc>
              <a:spcBef>
                <a:spcPts val="0"/>
              </a:spcBef>
              <a:spcAft>
                <a:spcPts val="0"/>
              </a:spcAft>
              <a:buClr>
                <a:srgbClr val="CFD0D8"/>
              </a:buClr>
              <a:buSzPts val="1468"/>
              <a:buFont typeface="Consolas"/>
              <a:buNone/>
            </a:pPr>
            <a:r>
              <a:rPr b="0" i="0" lang="en-US" sz="1468" u="none" cap="none" strike="noStrike">
                <a:solidFill>
                  <a:srgbClr val="CFD0D8"/>
                </a:solidFill>
                <a:highlight>
                  <a:srgbClr val="37373A"/>
                </a:highlight>
                <a:latin typeface="Consolas"/>
                <a:ea typeface="Consolas"/>
                <a:cs typeface="Consolas"/>
                <a:sym typeface="Consolas"/>
              </a:rPr>
              <a:t>    ROWS BETWEEN 6 PRECEDING </a:t>
            </a:r>
            <a:endParaRPr b="0" i="0" sz="1468" u="none" cap="none" strike="noStrike"/>
          </a:p>
          <a:p>
            <a:pPr indent="0" lvl="0" marL="0" marR="0" rtl="0" algn="l">
              <a:lnSpc>
                <a:spcPct val="123529"/>
              </a:lnSpc>
              <a:spcBef>
                <a:spcPts val="0"/>
              </a:spcBef>
              <a:spcAft>
                <a:spcPts val="0"/>
              </a:spcAft>
              <a:buClr>
                <a:srgbClr val="CFD0D8"/>
              </a:buClr>
              <a:buSzPts val="1468"/>
              <a:buFont typeface="Consolas"/>
              <a:buNone/>
            </a:pPr>
            <a:r>
              <a:rPr b="0" i="0" lang="en-US" sz="1468" u="none" cap="none" strike="noStrike">
                <a:solidFill>
                  <a:srgbClr val="CFD0D8"/>
                </a:solidFill>
                <a:highlight>
                  <a:srgbClr val="37373A"/>
                </a:highlight>
                <a:latin typeface="Consolas"/>
                <a:ea typeface="Consolas"/>
                <a:cs typeface="Consolas"/>
                <a:sym typeface="Consolas"/>
              </a:rPr>
              <a:t>    AND CURRENT ROW</a:t>
            </a:r>
            <a:endParaRPr b="0" i="0" sz="1468" u="none" cap="none" strike="noStrike"/>
          </a:p>
          <a:p>
            <a:pPr indent="0" lvl="0" marL="0" marR="0" rtl="0" algn="l">
              <a:lnSpc>
                <a:spcPct val="123529"/>
              </a:lnSpc>
              <a:spcBef>
                <a:spcPts val="0"/>
              </a:spcBef>
              <a:spcAft>
                <a:spcPts val="0"/>
              </a:spcAft>
              <a:buClr>
                <a:srgbClr val="CFD0D8"/>
              </a:buClr>
              <a:buSzPts val="1468"/>
              <a:buFont typeface="Consolas"/>
              <a:buNone/>
            </a:pPr>
            <a:r>
              <a:rPr b="0" i="0" lang="en-US" sz="1468" u="none" cap="none" strike="noStrike">
                <a:solidFill>
                  <a:srgbClr val="CFD0D8"/>
                </a:solidFill>
                <a:highlight>
                  <a:srgbClr val="37373A"/>
                </a:highlight>
                <a:latin typeface="Consolas"/>
                <a:ea typeface="Consolas"/>
                <a:cs typeface="Consolas"/>
                <a:sym typeface="Consolas"/>
              </a:rPr>
              <a:t>  ) AS seven_day_avg</a:t>
            </a:r>
            <a:endParaRPr b="0" i="0" sz="1468" u="none" cap="none" strike="noStrike"/>
          </a:p>
          <a:p>
            <a:pPr indent="0" lvl="0" marL="0" marR="0" rtl="0" algn="l">
              <a:lnSpc>
                <a:spcPct val="123529"/>
              </a:lnSpc>
              <a:spcBef>
                <a:spcPts val="0"/>
              </a:spcBef>
              <a:spcAft>
                <a:spcPts val="0"/>
              </a:spcAft>
              <a:buClr>
                <a:srgbClr val="CFD0D8"/>
              </a:buClr>
              <a:buSzPts val="1468"/>
              <a:buFont typeface="Consolas"/>
              <a:buNone/>
            </a:pPr>
            <a:r>
              <a:rPr b="0" i="0" lang="en-US" sz="1468" u="none" cap="none" strike="noStrike">
                <a:solidFill>
                  <a:srgbClr val="CFD0D8"/>
                </a:solidFill>
                <a:highlight>
                  <a:srgbClr val="37373A"/>
                </a:highlight>
                <a:latin typeface="Consolas"/>
                <a:ea typeface="Consolas"/>
                <a:cs typeface="Consolas"/>
                <a:sym typeface="Consolas"/>
              </a:rPr>
              <a:t>FROM sales_data;</a:t>
            </a:r>
            <a:endParaRPr b="0" i="0" sz="1468" u="none" cap="none" strike="noStrike"/>
          </a:p>
        </p:txBody>
      </p:sp>
      <p:sp>
        <p:nvSpPr>
          <p:cNvPr id="280" name="Google Shape;280;p32"/>
          <p:cNvSpPr/>
          <p:nvPr/>
        </p:nvSpPr>
        <p:spPr>
          <a:xfrm>
            <a:off x="3402449" y="8460013"/>
            <a:ext cx="7825502" cy="993696"/>
          </a:xfrm>
          <a:prstGeom prst="roundRect">
            <a:avLst>
              <a:gd fmla="val 4794" name="adj"/>
            </a:avLst>
          </a:prstGeom>
          <a:solidFill>
            <a:srgbClr val="2525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1" name="Google Shape;281;p32"/>
          <p:cNvPicPr preferRelativeResize="0"/>
          <p:nvPr/>
        </p:nvPicPr>
        <p:blipFill rotWithShape="1">
          <a:blip r:embed="rId3">
            <a:alphaModFix/>
          </a:blip>
          <a:srcRect b="0" l="0" r="0" t="0"/>
          <a:stretch/>
        </p:blipFill>
        <p:spPr>
          <a:xfrm>
            <a:off x="3515797" y="8558120"/>
            <a:ext cx="177165" cy="141684"/>
          </a:xfrm>
          <a:prstGeom prst="rect">
            <a:avLst/>
          </a:prstGeom>
          <a:noFill/>
          <a:ln>
            <a:noFill/>
          </a:ln>
        </p:spPr>
      </p:pic>
      <p:sp>
        <p:nvSpPr>
          <p:cNvPr id="282" name="Google Shape;282;p32"/>
          <p:cNvSpPr/>
          <p:nvPr/>
        </p:nvSpPr>
        <p:spPr>
          <a:xfrm>
            <a:off x="3806309" y="8545023"/>
            <a:ext cx="3709392" cy="177165"/>
          </a:xfrm>
          <a:prstGeom prst="rect">
            <a:avLst/>
          </a:prstGeom>
          <a:noFill/>
          <a:ln>
            <a:noFill/>
          </a:ln>
        </p:spPr>
        <p:txBody>
          <a:bodyPr anchorCtr="0" anchor="t" bIns="0" lIns="0" spcFirstLastPara="1" rIns="0" wrap="square" tIns="0">
            <a:noAutofit/>
          </a:bodyPr>
          <a:lstStyle/>
          <a:p>
            <a:pPr indent="0" lvl="0" marL="0" marR="0" rtl="0" algn="l">
              <a:lnSpc>
                <a:spcPct val="122727"/>
              </a:lnSpc>
              <a:spcBef>
                <a:spcPts val="0"/>
              </a:spcBef>
              <a:spcAft>
                <a:spcPts val="0"/>
              </a:spcAft>
              <a:buClr>
                <a:srgbClr val="FFFFFF"/>
              </a:buClr>
              <a:buSzPts val="1100"/>
              <a:buFont typeface="Instrument Sans"/>
              <a:buNone/>
            </a:pPr>
            <a:r>
              <a:rPr b="0" i="0" lang="en-US" sz="1100" u="none" cap="none" strike="noStrike">
                <a:solidFill>
                  <a:srgbClr val="FFFFFF"/>
                </a:solidFill>
                <a:latin typeface="Instrument Sans"/>
                <a:ea typeface="Instrument Sans"/>
                <a:cs typeface="Instrument Sans"/>
                <a:sym typeface="Instrument Sans"/>
              </a:rPr>
              <a:t>Pro Tip: Custom Window Frames with ROWS BETWEEN</a:t>
            </a:r>
            <a:endParaRPr b="0" i="0" sz="1100" u="none" cap="none" strike="noStrike"/>
          </a:p>
        </p:txBody>
      </p:sp>
      <p:sp>
        <p:nvSpPr>
          <p:cNvPr id="283" name="Google Shape;283;p32"/>
          <p:cNvSpPr/>
          <p:nvPr/>
        </p:nvSpPr>
        <p:spPr>
          <a:xfrm>
            <a:off x="3806309" y="8778862"/>
            <a:ext cx="7308294" cy="567214"/>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FFFFFF"/>
              </a:buClr>
              <a:buSzPts val="850"/>
              <a:buFont typeface="Consolas"/>
              <a:buNone/>
            </a:pPr>
            <a:r>
              <a:rPr b="0" i="0" lang="en-US" sz="850" u="none" cap="none" strike="noStrike">
                <a:solidFill>
                  <a:srgbClr val="FFFFFF"/>
                </a:solidFill>
                <a:highlight>
                  <a:srgbClr val="37373A"/>
                </a:highlight>
                <a:latin typeface="Consolas"/>
                <a:ea typeface="Consolas"/>
                <a:cs typeface="Consolas"/>
                <a:sym typeface="Consolas"/>
              </a:rPr>
              <a:t>ROWS BETWEEN</a:t>
            </a:r>
            <a:r>
              <a:rPr b="0" i="0" lang="en-US" sz="850" u="none" cap="none" strike="noStrike">
                <a:solidFill>
                  <a:srgbClr val="FFFFFF"/>
                </a:solidFill>
                <a:latin typeface="Instrument Sans"/>
                <a:ea typeface="Instrument Sans"/>
                <a:cs typeface="Instrument Sans"/>
                <a:sym typeface="Instrument Sans"/>
              </a:rPr>
              <a:t> offers granular control over your window function. It allows you to define flexible and precise window frames for calculations like rolling sums, averages, or counts. Experiment with different frame definitions (e.g., </a:t>
            </a:r>
            <a:r>
              <a:rPr b="0" i="0" lang="en-US" sz="850" u="none" cap="none" strike="noStrike">
                <a:solidFill>
                  <a:srgbClr val="FFFFFF"/>
                </a:solidFill>
                <a:highlight>
                  <a:srgbClr val="37373A"/>
                </a:highlight>
                <a:latin typeface="Consolas"/>
                <a:ea typeface="Consolas"/>
                <a:cs typeface="Consolas"/>
                <a:sym typeface="Consolas"/>
              </a:rPr>
              <a:t>N PRECEDING</a:t>
            </a:r>
            <a:r>
              <a:rPr b="0" i="0" lang="en-US" sz="850" u="none" cap="none" strike="noStrike">
                <a:solidFill>
                  <a:srgbClr val="FFFFFF"/>
                </a:solidFill>
                <a:latin typeface="Instrument Sans"/>
                <a:ea typeface="Instrument Sans"/>
                <a:cs typeface="Instrument Sans"/>
                <a:sym typeface="Instrument Sans"/>
              </a:rPr>
              <a:t>, </a:t>
            </a:r>
            <a:r>
              <a:rPr b="0" i="0" lang="en-US" sz="850" u="none" cap="none" strike="noStrike">
                <a:solidFill>
                  <a:srgbClr val="FFFFFF"/>
                </a:solidFill>
                <a:highlight>
                  <a:srgbClr val="37373A"/>
                </a:highlight>
                <a:latin typeface="Consolas"/>
                <a:ea typeface="Consolas"/>
                <a:cs typeface="Consolas"/>
                <a:sym typeface="Consolas"/>
              </a:rPr>
              <a:t>N FOLLOWING</a:t>
            </a:r>
            <a:r>
              <a:rPr b="0" i="0" lang="en-US" sz="850" u="none" cap="none" strike="noStrike">
                <a:solidFill>
                  <a:srgbClr val="FFFFFF"/>
                </a:solidFill>
                <a:latin typeface="Instrument Sans"/>
                <a:ea typeface="Instrument Sans"/>
                <a:cs typeface="Instrument Sans"/>
                <a:sym typeface="Instrument Sans"/>
              </a:rPr>
              <a:t>, </a:t>
            </a:r>
            <a:r>
              <a:rPr b="0" i="0" lang="en-US" sz="850" u="none" cap="none" strike="noStrike">
                <a:solidFill>
                  <a:srgbClr val="FFFFFF"/>
                </a:solidFill>
                <a:highlight>
                  <a:srgbClr val="37373A"/>
                </a:highlight>
                <a:latin typeface="Consolas"/>
                <a:ea typeface="Consolas"/>
                <a:cs typeface="Consolas"/>
                <a:sym typeface="Consolas"/>
              </a:rPr>
              <a:t>BETWEEN N PRECEDING AND M FOLLOWING</a:t>
            </a:r>
            <a:r>
              <a:rPr b="0" i="0" lang="en-US" sz="850" u="none" cap="none" strike="noStrike">
                <a:solidFill>
                  <a:srgbClr val="FFFFFF"/>
                </a:solidFill>
                <a:latin typeface="Instrument Sans"/>
                <a:ea typeface="Instrument Sans"/>
                <a:cs typeface="Instrument Sans"/>
                <a:sym typeface="Instrument Sans"/>
              </a:rPr>
              <a:t>) to tailor your analytical queries for specific insights. This flexibility is key to extracting complex trends and patterns from your data.</a:t>
            </a:r>
            <a:endParaRPr b="0" i="0" sz="850" u="none" cap="none" strike="noStrike"/>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33"/>
          <p:cNvSpPr/>
          <p:nvPr/>
        </p:nvSpPr>
        <p:spPr>
          <a:xfrm>
            <a:off x="1062300" y="148653"/>
            <a:ext cx="5877600" cy="348600"/>
          </a:xfrm>
          <a:prstGeom prst="rect">
            <a:avLst/>
          </a:prstGeom>
          <a:noFill/>
          <a:ln>
            <a:noFill/>
          </a:ln>
        </p:spPr>
        <p:txBody>
          <a:bodyPr anchorCtr="0" anchor="t" bIns="0" lIns="0" spcFirstLastPara="1" rIns="0" wrap="square" tIns="0">
            <a:noAutofit/>
          </a:bodyPr>
          <a:lstStyle/>
          <a:p>
            <a:pPr indent="0" lvl="0" marL="0" marR="0" rtl="0" algn="l">
              <a:lnSpc>
                <a:spcPct val="126923"/>
              </a:lnSpc>
              <a:spcBef>
                <a:spcPts val="0"/>
              </a:spcBef>
              <a:spcAft>
                <a:spcPts val="0"/>
              </a:spcAft>
              <a:buClr>
                <a:srgbClr val="CBCCCE"/>
              </a:buClr>
              <a:buSzPts val="2131"/>
              <a:buFont typeface="Instrument Sans"/>
              <a:buNone/>
            </a:pPr>
            <a:r>
              <a:rPr b="0" i="0" lang="en-US" sz="2131" u="none" cap="none" strike="noStrike">
                <a:solidFill>
                  <a:srgbClr val="CBCCCE"/>
                </a:solidFill>
                <a:latin typeface="Instrument Sans"/>
                <a:ea typeface="Instrument Sans"/>
                <a:cs typeface="Instrument Sans"/>
                <a:sym typeface="Instrument Sans"/>
              </a:rPr>
              <a:t>Understanding the Running Total Calculation</a:t>
            </a:r>
            <a:endParaRPr b="0" i="0" sz="2131" u="none" cap="none" strike="noStrike"/>
          </a:p>
        </p:txBody>
      </p:sp>
      <p:sp>
        <p:nvSpPr>
          <p:cNvPr id="290" name="Google Shape;290;p33"/>
          <p:cNvSpPr/>
          <p:nvPr/>
        </p:nvSpPr>
        <p:spPr>
          <a:xfrm>
            <a:off x="1062300" y="636585"/>
            <a:ext cx="12828000" cy="4713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CFD0D8"/>
              </a:buClr>
              <a:buSzPts val="1393"/>
              <a:buFont typeface="Instrument Sans"/>
              <a:buNone/>
            </a:pPr>
            <a:r>
              <a:rPr b="0" i="0" lang="en-US" sz="1393" u="none" cap="none" strike="noStrike">
                <a:solidFill>
                  <a:srgbClr val="CFD0D8"/>
                </a:solidFill>
                <a:latin typeface="Instrument Sans"/>
                <a:ea typeface="Instrument Sans"/>
                <a:cs typeface="Instrument Sans"/>
                <a:sym typeface="Instrument Sans"/>
              </a:rPr>
              <a:t>The </a:t>
            </a:r>
            <a:r>
              <a:rPr b="0" i="0" lang="en-US" sz="1393" u="none" cap="none" strike="noStrike">
                <a:solidFill>
                  <a:srgbClr val="CFD0D8"/>
                </a:solidFill>
                <a:highlight>
                  <a:srgbClr val="37373A"/>
                </a:highlight>
                <a:latin typeface="Consolas"/>
                <a:ea typeface="Consolas"/>
                <a:cs typeface="Consolas"/>
                <a:sym typeface="Consolas"/>
              </a:rPr>
              <a:t>SUM(daily_sales) OVER (ORDER BY order_date ROWS BETWEEN UNBOUNDED PRECEDING AND CURRENT ROW)</a:t>
            </a:r>
            <a:r>
              <a:rPr b="0" i="0" lang="en-US" sz="1393" u="none" cap="none" strike="noStrike">
                <a:solidFill>
                  <a:srgbClr val="CFD0D8"/>
                </a:solidFill>
                <a:latin typeface="Instrument Sans"/>
                <a:ea typeface="Instrument Sans"/>
                <a:cs typeface="Instrument Sans"/>
                <a:sym typeface="Instrument Sans"/>
              </a:rPr>
              <a:t> part of the query calculates the running total. Let's break down the </a:t>
            </a:r>
            <a:r>
              <a:rPr b="0" i="0" lang="en-US" sz="1393" u="none" cap="none" strike="noStrike">
                <a:solidFill>
                  <a:srgbClr val="CFD0D8"/>
                </a:solidFill>
                <a:highlight>
                  <a:srgbClr val="37373A"/>
                </a:highlight>
                <a:latin typeface="Consolas"/>
                <a:ea typeface="Consolas"/>
                <a:cs typeface="Consolas"/>
                <a:sym typeface="Consolas"/>
              </a:rPr>
              <a:t>OVER()</a:t>
            </a:r>
            <a:r>
              <a:rPr b="0" i="0" lang="en-US" sz="1393" u="none" cap="none" strike="noStrike">
                <a:solidFill>
                  <a:srgbClr val="CFD0D8"/>
                </a:solidFill>
                <a:latin typeface="Instrument Sans"/>
                <a:ea typeface="Instrument Sans"/>
                <a:cs typeface="Instrument Sans"/>
                <a:sym typeface="Instrument Sans"/>
              </a:rPr>
              <a:t> clause:</a:t>
            </a:r>
            <a:endParaRPr b="0" i="0" sz="1393" u="none" cap="none" strike="noStrike"/>
          </a:p>
        </p:txBody>
      </p:sp>
      <p:sp>
        <p:nvSpPr>
          <p:cNvPr id="291" name="Google Shape;291;p33"/>
          <p:cNvSpPr/>
          <p:nvPr/>
        </p:nvSpPr>
        <p:spPr>
          <a:xfrm>
            <a:off x="1062300" y="1212151"/>
            <a:ext cx="12828000" cy="11151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CFD0D8"/>
              </a:buClr>
              <a:buSzPts val="1393"/>
              <a:buFont typeface="Consolas"/>
              <a:buNone/>
            </a:pPr>
            <a:r>
              <a:rPr b="0" i="0" lang="en-US" sz="1393" u="none" cap="none" strike="noStrike">
                <a:solidFill>
                  <a:srgbClr val="CFD0D8"/>
                </a:solidFill>
                <a:highlight>
                  <a:srgbClr val="37373A"/>
                </a:highlight>
                <a:latin typeface="Consolas"/>
                <a:ea typeface="Consolas"/>
                <a:cs typeface="Consolas"/>
                <a:sym typeface="Consolas"/>
              </a:rPr>
              <a:t>ORDER BY order_date</a:t>
            </a:r>
            <a:r>
              <a:rPr b="0" i="0" lang="en-US" sz="1393" u="none" cap="none" strike="noStrike">
                <a:solidFill>
                  <a:srgbClr val="CFD0D8"/>
                </a:solidFill>
                <a:latin typeface="Instrument Sans"/>
                <a:ea typeface="Instrument Sans"/>
                <a:cs typeface="Instrument Sans"/>
                <a:sym typeface="Instrument Sans"/>
              </a:rPr>
              <a:t>: This defines the order in which the sum is accumulated. For a running total, it's crucial to sort by a time-based column (like </a:t>
            </a:r>
            <a:r>
              <a:rPr b="0" i="0" lang="en-US" sz="1393" u="none" cap="none" strike="noStrike">
                <a:solidFill>
                  <a:srgbClr val="CFD0D8"/>
                </a:solidFill>
                <a:highlight>
                  <a:srgbClr val="37373A"/>
                </a:highlight>
                <a:latin typeface="Consolas"/>
                <a:ea typeface="Consolas"/>
                <a:cs typeface="Consolas"/>
                <a:sym typeface="Consolas"/>
              </a:rPr>
              <a:t>order_date</a:t>
            </a:r>
            <a:r>
              <a:rPr b="0" i="0" lang="en-US" sz="1393" u="none" cap="none" strike="noStrike">
                <a:solidFill>
                  <a:srgbClr val="CFD0D8"/>
                </a:solidFill>
                <a:latin typeface="Instrument Sans"/>
                <a:ea typeface="Instrument Sans"/>
                <a:cs typeface="Instrument Sans"/>
                <a:sym typeface="Instrument Sans"/>
              </a:rPr>
              <a:t>) to ensure the cumulative sum progresses correctly.</a:t>
            </a:r>
            <a:endParaRPr b="0" i="0" sz="1393" u="none" cap="none" strike="noStrike"/>
          </a:p>
          <a:p>
            <a:pPr indent="0" lvl="0" marL="0" marR="0" rtl="0" algn="l">
              <a:lnSpc>
                <a:spcPct val="123529"/>
              </a:lnSpc>
              <a:spcBef>
                <a:spcPts val="0"/>
              </a:spcBef>
              <a:spcAft>
                <a:spcPts val="0"/>
              </a:spcAft>
              <a:buClr>
                <a:srgbClr val="CFD0D8"/>
              </a:buClr>
              <a:buSzPts val="1393"/>
              <a:buFont typeface="Consolas"/>
              <a:buNone/>
            </a:pPr>
            <a:r>
              <a:rPr b="0" i="0" lang="en-US" sz="1393" u="none" cap="none" strike="noStrike">
                <a:solidFill>
                  <a:srgbClr val="CFD0D8"/>
                </a:solidFill>
                <a:highlight>
                  <a:srgbClr val="37373A"/>
                </a:highlight>
                <a:latin typeface="Consolas"/>
                <a:ea typeface="Consolas"/>
                <a:cs typeface="Consolas"/>
                <a:sym typeface="Consolas"/>
              </a:rPr>
              <a:t>ROWS BETWEEN UNBOUNDED PRECEDING AND CURRENT ROW</a:t>
            </a:r>
            <a:r>
              <a:rPr b="0" i="0" lang="en-US" sz="1393" u="none" cap="none" strike="noStrike">
                <a:solidFill>
                  <a:srgbClr val="CFD0D8"/>
                </a:solidFill>
                <a:latin typeface="Instrument Sans"/>
                <a:ea typeface="Instrument Sans"/>
                <a:cs typeface="Instrument Sans"/>
                <a:sym typeface="Instrument Sans"/>
              </a:rPr>
              <a:t>: This is the critical window frame clause. It tells the function to include all rows from the very beginning of the partition (</a:t>
            </a:r>
            <a:r>
              <a:rPr b="0" i="0" lang="en-US" sz="1393" u="none" cap="none" strike="noStrike">
                <a:solidFill>
                  <a:srgbClr val="CFD0D8"/>
                </a:solidFill>
                <a:highlight>
                  <a:srgbClr val="37373A"/>
                </a:highlight>
                <a:latin typeface="Consolas"/>
                <a:ea typeface="Consolas"/>
                <a:cs typeface="Consolas"/>
                <a:sym typeface="Consolas"/>
              </a:rPr>
              <a:t>UNBOUNDED PRECEDING</a:t>
            </a:r>
            <a:r>
              <a:rPr b="0" i="0" lang="en-US" sz="1393" u="none" cap="none" strike="noStrike">
                <a:solidFill>
                  <a:srgbClr val="CFD0D8"/>
                </a:solidFill>
                <a:latin typeface="Instrument Sans"/>
                <a:ea typeface="Instrument Sans"/>
                <a:cs typeface="Instrument Sans"/>
                <a:sym typeface="Instrument Sans"/>
              </a:rPr>
              <a:t>) up to and including the </a:t>
            </a:r>
            <a:r>
              <a:rPr b="0" i="0" lang="en-US" sz="1393" u="none" cap="none" strike="noStrike">
                <a:solidFill>
                  <a:srgbClr val="CFD0D8"/>
                </a:solidFill>
                <a:highlight>
                  <a:srgbClr val="37373A"/>
                </a:highlight>
                <a:latin typeface="Consolas"/>
                <a:ea typeface="Consolas"/>
                <a:cs typeface="Consolas"/>
                <a:sym typeface="Consolas"/>
              </a:rPr>
              <a:t>CURRENT ROW</a:t>
            </a:r>
            <a:r>
              <a:rPr b="0" i="0" lang="en-US" sz="1393" u="none" cap="none" strike="noStrike">
                <a:solidFill>
                  <a:srgbClr val="CFD0D8"/>
                </a:solidFill>
                <a:latin typeface="Instrument Sans"/>
                <a:ea typeface="Instrument Sans"/>
                <a:cs typeface="Instrument Sans"/>
                <a:sym typeface="Instrument Sans"/>
              </a:rPr>
              <a:t>. This is precisely how a running total is defined.</a:t>
            </a:r>
            <a:endParaRPr b="0" i="0" sz="1393" u="none" cap="none" strike="noStrike"/>
          </a:p>
        </p:txBody>
      </p:sp>
      <p:sp>
        <p:nvSpPr>
          <p:cNvPr id="292" name="Google Shape;292;p33"/>
          <p:cNvSpPr/>
          <p:nvPr/>
        </p:nvSpPr>
        <p:spPr>
          <a:xfrm>
            <a:off x="1062300" y="2432056"/>
            <a:ext cx="12828000" cy="2355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CFD0D8"/>
              </a:buClr>
              <a:buSzPts val="1393"/>
              <a:buFont typeface="Instrument Sans"/>
              <a:buNone/>
            </a:pPr>
            <a:r>
              <a:rPr b="0" i="0" lang="en-US" sz="1393" u="none" cap="none" strike="noStrike">
                <a:solidFill>
                  <a:srgbClr val="CFD0D8"/>
                </a:solidFill>
                <a:latin typeface="Instrument Sans"/>
                <a:ea typeface="Instrument Sans"/>
                <a:cs typeface="Instrument Sans"/>
                <a:sym typeface="Instrument Sans"/>
              </a:rPr>
              <a:t>Let's illustrate with an example of </a:t>
            </a:r>
            <a:r>
              <a:rPr b="0" i="0" lang="en-US" sz="1393" u="none" cap="none" strike="noStrike">
                <a:solidFill>
                  <a:srgbClr val="CFD0D8"/>
                </a:solidFill>
                <a:highlight>
                  <a:srgbClr val="37373A"/>
                </a:highlight>
                <a:latin typeface="Consolas"/>
                <a:ea typeface="Consolas"/>
                <a:cs typeface="Consolas"/>
                <a:sym typeface="Consolas"/>
              </a:rPr>
              <a:t>daily_sales</a:t>
            </a:r>
            <a:r>
              <a:rPr b="0" i="0" lang="en-US" sz="1393" u="none" cap="none" strike="noStrike">
                <a:solidFill>
                  <a:srgbClr val="CFD0D8"/>
                </a:solidFill>
                <a:latin typeface="Instrument Sans"/>
                <a:ea typeface="Instrument Sans"/>
                <a:cs typeface="Instrument Sans"/>
                <a:sym typeface="Instrument Sans"/>
              </a:rPr>
              <a:t>:</a:t>
            </a:r>
            <a:endParaRPr b="0" i="0" sz="1393" u="none" cap="none" strike="noStrike"/>
          </a:p>
        </p:txBody>
      </p:sp>
      <p:sp>
        <p:nvSpPr>
          <p:cNvPr id="293" name="Google Shape;293;p33"/>
          <p:cNvSpPr/>
          <p:nvPr/>
        </p:nvSpPr>
        <p:spPr>
          <a:xfrm>
            <a:off x="1062300" y="2772048"/>
            <a:ext cx="12828000" cy="6693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CFD0D8"/>
              </a:buClr>
              <a:buSzPts val="1393"/>
              <a:buFont typeface="Instrument Sans"/>
              <a:buNone/>
            </a:pPr>
            <a:r>
              <a:rPr b="1" i="0" lang="en-US" sz="1393" u="none" cap="none" strike="noStrike">
                <a:solidFill>
                  <a:srgbClr val="CFD0D8"/>
                </a:solidFill>
                <a:latin typeface="Instrument Sans"/>
                <a:ea typeface="Instrument Sans"/>
                <a:cs typeface="Instrument Sans"/>
                <a:sym typeface="Instrument Sans"/>
              </a:rPr>
              <a:t>Day 1:</a:t>
            </a:r>
            <a:r>
              <a:rPr b="0" i="0" lang="en-US" sz="1393" u="none" cap="none" strike="noStrike">
                <a:solidFill>
                  <a:srgbClr val="CFD0D8"/>
                </a:solidFill>
                <a:latin typeface="Instrument Sans"/>
                <a:ea typeface="Instrument Sans"/>
                <a:cs typeface="Instrument Sans"/>
                <a:sym typeface="Instrument Sans"/>
              </a:rPr>
              <a:t> </a:t>
            </a:r>
            <a:r>
              <a:rPr b="0" i="0" lang="en-US" sz="1393" u="none" cap="none" strike="noStrike">
                <a:solidFill>
                  <a:srgbClr val="CFD0D8"/>
                </a:solidFill>
                <a:highlight>
                  <a:srgbClr val="37373A"/>
                </a:highlight>
                <a:latin typeface="Consolas"/>
                <a:ea typeface="Consolas"/>
                <a:cs typeface="Consolas"/>
                <a:sym typeface="Consolas"/>
              </a:rPr>
              <a:t>daily_sales = 100</a:t>
            </a:r>
            <a:r>
              <a:rPr b="0" i="0" lang="en-US" sz="1393" u="none" cap="none" strike="noStrike">
                <a:solidFill>
                  <a:srgbClr val="CFD0D8"/>
                </a:solidFill>
                <a:latin typeface="Instrument Sans"/>
                <a:ea typeface="Instrument Sans"/>
                <a:cs typeface="Instrument Sans"/>
                <a:sym typeface="Instrument Sans"/>
              </a:rPr>
              <a:t>. </a:t>
            </a:r>
            <a:r>
              <a:rPr b="0" i="0" lang="en-US" sz="1393" u="none" cap="none" strike="noStrike">
                <a:solidFill>
                  <a:srgbClr val="CFD0D8"/>
                </a:solidFill>
                <a:highlight>
                  <a:srgbClr val="37373A"/>
                </a:highlight>
                <a:latin typeface="Consolas"/>
                <a:ea typeface="Consolas"/>
                <a:cs typeface="Consolas"/>
                <a:sym typeface="Consolas"/>
              </a:rPr>
              <a:t>running_total</a:t>
            </a:r>
            <a:r>
              <a:rPr b="0" i="0" lang="en-US" sz="1393" u="none" cap="none" strike="noStrike">
                <a:solidFill>
                  <a:srgbClr val="CFD0D8"/>
                </a:solidFill>
                <a:latin typeface="Instrument Sans"/>
                <a:ea typeface="Instrument Sans"/>
                <a:cs typeface="Instrument Sans"/>
                <a:sym typeface="Instrument Sans"/>
              </a:rPr>
              <a:t> = 100 (100)</a:t>
            </a:r>
            <a:endParaRPr b="0" i="0" sz="1393" u="none" cap="none" strike="noStrike"/>
          </a:p>
          <a:p>
            <a:pPr indent="0" lvl="0" marL="0" marR="0" rtl="0" algn="l">
              <a:lnSpc>
                <a:spcPct val="123529"/>
              </a:lnSpc>
              <a:spcBef>
                <a:spcPts val="0"/>
              </a:spcBef>
              <a:spcAft>
                <a:spcPts val="0"/>
              </a:spcAft>
              <a:buClr>
                <a:srgbClr val="CFD0D8"/>
              </a:buClr>
              <a:buSzPts val="1393"/>
              <a:buFont typeface="Instrument Sans"/>
              <a:buNone/>
            </a:pPr>
            <a:r>
              <a:rPr b="1" i="0" lang="en-US" sz="1393" u="none" cap="none" strike="noStrike">
                <a:solidFill>
                  <a:srgbClr val="CFD0D8"/>
                </a:solidFill>
                <a:latin typeface="Instrument Sans"/>
                <a:ea typeface="Instrument Sans"/>
                <a:cs typeface="Instrument Sans"/>
                <a:sym typeface="Instrument Sans"/>
              </a:rPr>
              <a:t>Day 2:</a:t>
            </a:r>
            <a:r>
              <a:rPr b="0" i="0" lang="en-US" sz="1393" u="none" cap="none" strike="noStrike">
                <a:solidFill>
                  <a:srgbClr val="CFD0D8"/>
                </a:solidFill>
                <a:latin typeface="Instrument Sans"/>
                <a:ea typeface="Instrument Sans"/>
                <a:cs typeface="Instrument Sans"/>
                <a:sym typeface="Instrument Sans"/>
              </a:rPr>
              <a:t> </a:t>
            </a:r>
            <a:r>
              <a:rPr b="0" i="0" lang="en-US" sz="1393" u="none" cap="none" strike="noStrike">
                <a:solidFill>
                  <a:srgbClr val="CFD0D8"/>
                </a:solidFill>
                <a:highlight>
                  <a:srgbClr val="37373A"/>
                </a:highlight>
                <a:latin typeface="Consolas"/>
                <a:ea typeface="Consolas"/>
                <a:cs typeface="Consolas"/>
                <a:sym typeface="Consolas"/>
              </a:rPr>
              <a:t>daily_sales = 150</a:t>
            </a:r>
            <a:r>
              <a:rPr b="0" i="0" lang="en-US" sz="1393" u="none" cap="none" strike="noStrike">
                <a:solidFill>
                  <a:srgbClr val="CFD0D8"/>
                </a:solidFill>
                <a:latin typeface="Instrument Sans"/>
                <a:ea typeface="Instrument Sans"/>
                <a:cs typeface="Instrument Sans"/>
                <a:sym typeface="Instrument Sans"/>
              </a:rPr>
              <a:t>. </a:t>
            </a:r>
            <a:r>
              <a:rPr b="0" i="0" lang="en-US" sz="1393" u="none" cap="none" strike="noStrike">
                <a:solidFill>
                  <a:srgbClr val="CFD0D8"/>
                </a:solidFill>
                <a:highlight>
                  <a:srgbClr val="37373A"/>
                </a:highlight>
                <a:latin typeface="Consolas"/>
                <a:ea typeface="Consolas"/>
                <a:cs typeface="Consolas"/>
                <a:sym typeface="Consolas"/>
              </a:rPr>
              <a:t>running_total</a:t>
            </a:r>
            <a:r>
              <a:rPr b="0" i="0" lang="en-US" sz="1393" u="none" cap="none" strike="noStrike">
                <a:solidFill>
                  <a:srgbClr val="CFD0D8"/>
                </a:solidFill>
                <a:latin typeface="Instrument Sans"/>
                <a:ea typeface="Instrument Sans"/>
                <a:cs typeface="Instrument Sans"/>
                <a:sym typeface="Instrument Sans"/>
              </a:rPr>
              <a:t> = 250 (100 + 150)</a:t>
            </a:r>
            <a:endParaRPr b="0" i="0" sz="1393" u="none" cap="none" strike="noStrike"/>
          </a:p>
          <a:p>
            <a:pPr indent="0" lvl="0" marL="0" marR="0" rtl="0" algn="l">
              <a:lnSpc>
                <a:spcPct val="123529"/>
              </a:lnSpc>
              <a:spcBef>
                <a:spcPts val="0"/>
              </a:spcBef>
              <a:spcAft>
                <a:spcPts val="0"/>
              </a:spcAft>
              <a:buClr>
                <a:srgbClr val="CFD0D8"/>
              </a:buClr>
              <a:buSzPts val="1393"/>
              <a:buFont typeface="Instrument Sans"/>
              <a:buNone/>
            </a:pPr>
            <a:r>
              <a:rPr b="1" i="0" lang="en-US" sz="1393" u="none" cap="none" strike="noStrike">
                <a:solidFill>
                  <a:srgbClr val="CFD0D8"/>
                </a:solidFill>
                <a:latin typeface="Instrument Sans"/>
                <a:ea typeface="Instrument Sans"/>
                <a:cs typeface="Instrument Sans"/>
                <a:sym typeface="Instrument Sans"/>
              </a:rPr>
              <a:t>Day 3:</a:t>
            </a:r>
            <a:r>
              <a:rPr b="0" i="0" lang="en-US" sz="1393" u="none" cap="none" strike="noStrike">
                <a:solidFill>
                  <a:srgbClr val="CFD0D8"/>
                </a:solidFill>
                <a:latin typeface="Instrument Sans"/>
                <a:ea typeface="Instrument Sans"/>
                <a:cs typeface="Instrument Sans"/>
                <a:sym typeface="Instrument Sans"/>
              </a:rPr>
              <a:t> </a:t>
            </a:r>
            <a:r>
              <a:rPr b="0" i="0" lang="en-US" sz="1393" u="none" cap="none" strike="noStrike">
                <a:solidFill>
                  <a:srgbClr val="CFD0D8"/>
                </a:solidFill>
                <a:highlight>
                  <a:srgbClr val="37373A"/>
                </a:highlight>
                <a:latin typeface="Consolas"/>
                <a:ea typeface="Consolas"/>
                <a:cs typeface="Consolas"/>
                <a:sym typeface="Consolas"/>
              </a:rPr>
              <a:t>daily_sales = 200</a:t>
            </a:r>
            <a:r>
              <a:rPr b="0" i="0" lang="en-US" sz="1393" u="none" cap="none" strike="noStrike">
                <a:solidFill>
                  <a:srgbClr val="CFD0D8"/>
                </a:solidFill>
                <a:latin typeface="Instrument Sans"/>
                <a:ea typeface="Instrument Sans"/>
                <a:cs typeface="Instrument Sans"/>
                <a:sym typeface="Instrument Sans"/>
              </a:rPr>
              <a:t>. </a:t>
            </a:r>
            <a:r>
              <a:rPr b="0" i="0" lang="en-US" sz="1393" u="none" cap="none" strike="noStrike">
                <a:solidFill>
                  <a:srgbClr val="CFD0D8"/>
                </a:solidFill>
                <a:highlight>
                  <a:srgbClr val="37373A"/>
                </a:highlight>
                <a:latin typeface="Consolas"/>
                <a:ea typeface="Consolas"/>
                <a:cs typeface="Consolas"/>
                <a:sym typeface="Consolas"/>
              </a:rPr>
              <a:t>running_total</a:t>
            </a:r>
            <a:r>
              <a:rPr b="0" i="0" lang="en-US" sz="1393" u="none" cap="none" strike="noStrike">
                <a:solidFill>
                  <a:srgbClr val="CFD0D8"/>
                </a:solidFill>
                <a:latin typeface="Instrument Sans"/>
                <a:ea typeface="Instrument Sans"/>
                <a:cs typeface="Instrument Sans"/>
                <a:sym typeface="Instrument Sans"/>
              </a:rPr>
              <a:t> = 450 (100 + 150 + 200)</a:t>
            </a:r>
            <a:endParaRPr b="0" i="0" sz="1393" u="none" cap="none" strike="noStrike"/>
          </a:p>
        </p:txBody>
      </p:sp>
      <p:sp>
        <p:nvSpPr>
          <p:cNvPr id="294" name="Google Shape;294;p33"/>
          <p:cNvSpPr/>
          <p:nvPr/>
        </p:nvSpPr>
        <p:spPr>
          <a:xfrm>
            <a:off x="1062300" y="3580692"/>
            <a:ext cx="5483700" cy="348600"/>
          </a:xfrm>
          <a:prstGeom prst="rect">
            <a:avLst/>
          </a:prstGeom>
          <a:noFill/>
          <a:ln>
            <a:noFill/>
          </a:ln>
        </p:spPr>
        <p:txBody>
          <a:bodyPr anchorCtr="0" anchor="t" bIns="0" lIns="0" spcFirstLastPara="1" rIns="0" wrap="square" tIns="0">
            <a:noAutofit/>
          </a:bodyPr>
          <a:lstStyle/>
          <a:p>
            <a:pPr indent="0" lvl="0" marL="0" marR="0" rtl="0" algn="l">
              <a:lnSpc>
                <a:spcPct val="126923"/>
              </a:lnSpc>
              <a:spcBef>
                <a:spcPts val="0"/>
              </a:spcBef>
              <a:spcAft>
                <a:spcPts val="0"/>
              </a:spcAft>
              <a:buClr>
                <a:srgbClr val="CBCCCE"/>
              </a:buClr>
              <a:buSzPts val="2131"/>
              <a:buFont typeface="Instrument Sans"/>
              <a:buNone/>
            </a:pPr>
            <a:r>
              <a:rPr b="0" i="0" lang="en-US" sz="2131" u="none" cap="none" strike="noStrike">
                <a:solidFill>
                  <a:srgbClr val="CBCCCE"/>
                </a:solidFill>
                <a:latin typeface="Instrument Sans"/>
                <a:ea typeface="Instrument Sans"/>
                <a:cs typeface="Instrument Sans"/>
                <a:sym typeface="Instrument Sans"/>
              </a:rPr>
              <a:t>Decoding the Moving Average Calculation</a:t>
            </a:r>
            <a:endParaRPr b="0" i="0" sz="2131" u="none" cap="none" strike="noStrike"/>
          </a:p>
        </p:txBody>
      </p:sp>
      <p:sp>
        <p:nvSpPr>
          <p:cNvPr id="295" name="Google Shape;295;p33"/>
          <p:cNvSpPr/>
          <p:nvPr/>
        </p:nvSpPr>
        <p:spPr>
          <a:xfrm>
            <a:off x="1062300" y="4068627"/>
            <a:ext cx="12828000" cy="2355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CFD0D8"/>
              </a:buClr>
              <a:buSzPts val="1393"/>
              <a:buFont typeface="Instrument Sans"/>
              <a:buNone/>
            </a:pPr>
            <a:r>
              <a:rPr b="0" i="0" lang="en-US" sz="1393" u="none" cap="none" strike="noStrike">
                <a:solidFill>
                  <a:srgbClr val="CFD0D8"/>
                </a:solidFill>
                <a:latin typeface="Instrument Sans"/>
                <a:ea typeface="Instrument Sans"/>
                <a:cs typeface="Instrument Sans"/>
                <a:sym typeface="Instrument Sans"/>
              </a:rPr>
              <a:t>The </a:t>
            </a:r>
            <a:r>
              <a:rPr b="0" i="0" lang="en-US" sz="1393" u="none" cap="none" strike="noStrike">
                <a:solidFill>
                  <a:srgbClr val="CFD0D8"/>
                </a:solidFill>
                <a:highlight>
                  <a:srgbClr val="37373A"/>
                </a:highlight>
                <a:latin typeface="Consolas"/>
                <a:ea typeface="Consolas"/>
                <a:cs typeface="Consolas"/>
                <a:sym typeface="Consolas"/>
              </a:rPr>
              <a:t>AVG(daily_sales) OVER (ORDER BY order_date ROWS BETWEEN 6 PRECEDING AND CURRENT ROW)</a:t>
            </a:r>
            <a:r>
              <a:rPr b="0" i="0" lang="en-US" sz="1393" u="none" cap="none" strike="noStrike">
                <a:solidFill>
                  <a:srgbClr val="CFD0D8"/>
                </a:solidFill>
                <a:latin typeface="Instrument Sans"/>
                <a:ea typeface="Instrument Sans"/>
                <a:cs typeface="Instrument Sans"/>
                <a:sym typeface="Instrument Sans"/>
              </a:rPr>
              <a:t> calculates a 7-day moving average:</a:t>
            </a:r>
            <a:endParaRPr b="0" i="0" sz="1393" u="none" cap="none" strike="noStrike"/>
          </a:p>
        </p:txBody>
      </p:sp>
      <p:sp>
        <p:nvSpPr>
          <p:cNvPr id="296" name="Google Shape;296;p33"/>
          <p:cNvSpPr/>
          <p:nvPr/>
        </p:nvSpPr>
        <p:spPr>
          <a:xfrm>
            <a:off x="1062300" y="4408617"/>
            <a:ext cx="12828000" cy="8928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CFD0D8"/>
              </a:buClr>
              <a:buSzPts val="1393"/>
              <a:buFont typeface="Consolas"/>
              <a:buNone/>
            </a:pPr>
            <a:r>
              <a:rPr b="0" i="0" lang="en-US" sz="1393" u="none" cap="none" strike="noStrike">
                <a:solidFill>
                  <a:srgbClr val="CFD0D8"/>
                </a:solidFill>
                <a:highlight>
                  <a:srgbClr val="37373A"/>
                </a:highlight>
                <a:latin typeface="Consolas"/>
                <a:ea typeface="Consolas"/>
                <a:cs typeface="Consolas"/>
                <a:sym typeface="Consolas"/>
              </a:rPr>
              <a:t>ORDER BY order_date</a:t>
            </a:r>
            <a:r>
              <a:rPr b="0" i="0" lang="en-US" sz="1393" u="none" cap="none" strike="noStrike">
                <a:solidFill>
                  <a:srgbClr val="CFD0D8"/>
                </a:solidFill>
                <a:latin typeface="Instrument Sans"/>
                <a:ea typeface="Instrument Sans"/>
                <a:cs typeface="Instrument Sans"/>
                <a:sym typeface="Instrument Sans"/>
              </a:rPr>
              <a:t>: Similar to the running total, this ensures the average is calculated based on the chronological sequence of sales data.</a:t>
            </a:r>
            <a:endParaRPr b="0" i="0" sz="1393" u="none" cap="none" strike="noStrike"/>
          </a:p>
          <a:p>
            <a:pPr indent="0" lvl="0" marL="0" marR="0" rtl="0" algn="l">
              <a:lnSpc>
                <a:spcPct val="123529"/>
              </a:lnSpc>
              <a:spcBef>
                <a:spcPts val="0"/>
              </a:spcBef>
              <a:spcAft>
                <a:spcPts val="0"/>
              </a:spcAft>
              <a:buClr>
                <a:srgbClr val="CFD0D8"/>
              </a:buClr>
              <a:buSzPts val="1393"/>
              <a:buFont typeface="Consolas"/>
              <a:buNone/>
            </a:pPr>
            <a:r>
              <a:rPr b="0" i="0" lang="en-US" sz="1393" u="none" cap="none" strike="noStrike">
                <a:solidFill>
                  <a:srgbClr val="CFD0D8"/>
                </a:solidFill>
                <a:highlight>
                  <a:srgbClr val="37373A"/>
                </a:highlight>
                <a:latin typeface="Consolas"/>
                <a:ea typeface="Consolas"/>
                <a:cs typeface="Consolas"/>
                <a:sym typeface="Consolas"/>
              </a:rPr>
              <a:t>ROWS BETWEEN 6 PRECEDING AND CURRENT ROW</a:t>
            </a:r>
            <a:r>
              <a:rPr b="0" i="0" lang="en-US" sz="1393" u="none" cap="none" strike="noStrike">
                <a:solidFill>
                  <a:srgbClr val="CFD0D8"/>
                </a:solidFill>
                <a:latin typeface="Instrument Sans"/>
                <a:ea typeface="Instrument Sans"/>
                <a:cs typeface="Instrument Sans"/>
                <a:sym typeface="Instrument Sans"/>
              </a:rPr>
              <a:t>: This defines a sliding window of exactly 7 rows (the current row plus the 6 rows immediately preceding it). For each </a:t>
            </a:r>
            <a:r>
              <a:rPr b="0" i="0" lang="en-US" sz="1393" u="none" cap="none" strike="noStrike">
                <a:solidFill>
                  <a:srgbClr val="CFD0D8"/>
                </a:solidFill>
                <a:highlight>
                  <a:srgbClr val="37373A"/>
                </a:highlight>
                <a:latin typeface="Consolas"/>
                <a:ea typeface="Consolas"/>
                <a:cs typeface="Consolas"/>
                <a:sym typeface="Consolas"/>
              </a:rPr>
              <a:t>order_date</a:t>
            </a:r>
            <a:r>
              <a:rPr b="0" i="0" lang="en-US" sz="1393" u="none" cap="none" strike="noStrike">
                <a:solidFill>
                  <a:srgbClr val="CFD0D8"/>
                </a:solidFill>
                <a:latin typeface="Instrument Sans"/>
                <a:ea typeface="Instrument Sans"/>
                <a:cs typeface="Instrument Sans"/>
                <a:sym typeface="Instrument Sans"/>
              </a:rPr>
              <a:t>, the average is computed only over this specific 7-day period, providing a smoothed daily average that helps identify trends by reducing noise from daily fluctuations.</a:t>
            </a:r>
            <a:endParaRPr b="0" i="0" sz="1393" u="none" cap="none" strike="noStrike"/>
          </a:p>
        </p:txBody>
      </p:sp>
      <p:sp>
        <p:nvSpPr>
          <p:cNvPr id="297" name="Google Shape;297;p33"/>
          <p:cNvSpPr/>
          <p:nvPr/>
        </p:nvSpPr>
        <p:spPr>
          <a:xfrm>
            <a:off x="1062300" y="5440361"/>
            <a:ext cx="4788300" cy="348600"/>
          </a:xfrm>
          <a:prstGeom prst="rect">
            <a:avLst/>
          </a:prstGeom>
          <a:noFill/>
          <a:ln>
            <a:noFill/>
          </a:ln>
        </p:spPr>
        <p:txBody>
          <a:bodyPr anchorCtr="0" anchor="t" bIns="0" lIns="0" spcFirstLastPara="1" rIns="0" wrap="square" tIns="0">
            <a:noAutofit/>
          </a:bodyPr>
          <a:lstStyle/>
          <a:p>
            <a:pPr indent="0" lvl="0" marL="0" marR="0" rtl="0" algn="l">
              <a:lnSpc>
                <a:spcPct val="126923"/>
              </a:lnSpc>
              <a:spcBef>
                <a:spcPts val="0"/>
              </a:spcBef>
              <a:spcAft>
                <a:spcPts val="0"/>
              </a:spcAft>
              <a:buClr>
                <a:srgbClr val="CBCCCE"/>
              </a:buClr>
              <a:buSzPts val="2131"/>
              <a:buFont typeface="Instrument Sans"/>
              <a:buNone/>
            </a:pPr>
            <a:r>
              <a:rPr b="0" i="0" lang="en-US" sz="2131" u="none" cap="none" strike="noStrike">
                <a:solidFill>
                  <a:srgbClr val="CBCCCE"/>
                </a:solidFill>
                <a:latin typeface="Instrument Sans"/>
                <a:ea typeface="Instrument Sans"/>
                <a:cs typeface="Instrument Sans"/>
                <a:sym typeface="Instrument Sans"/>
              </a:rPr>
              <a:t>The Importance of ROWS BETWEEN</a:t>
            </a:r>
            <a:endParaRPr b="0" i="0" sz="2131" u="none" cap="none" strike="noStrike"/>
          </a:p>
        </p:txBody>
      </p:sp>
      <p:sp>
        <p:nvSpPr>
          <p:cNvPr id="298" name="Google Shape;298;p33"/>
          <p:cNvSpPr/>
          <p:nvPr/>
        </p:nvSpPr>
        <p:spPr>
          <a:xfrm>
            <a:off x="1062300" y="5928294"/>
            <a:ext cx="12828000" cy="7065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CFD0D8"/>
              </a:buClr>
              <a:buSzPts val="1393"/>
              <a:buFont typeface="Instrument Sans"/>
              <a:buNone/>
            </a:pPr>
            <a:r>
              <a:rPr b="0" i="0" lang="en-US" sz="1393" u="none" cap="none" strike="noStrike">
                <a:solidFill>
                  <a:srgbClr val="CFD0D8"/>
                </a:solidFill>
                <a:latin typeface="Instrument Sans"/>
                <a:ea typeface="Instrument Sans"/>
                <a:cs typeface="Instrument Sans"/>
                <a:sym typeface="Instrument Sans"/>
              </a:rPr>
              <a:t>The </a:t>
            </a:r>
            <a:r>
              <a:rPr b="0" i="0" lang="en-US" sz="1393" u="none" cap="none" strike="noStrike">
                <a:solidFill>
                  <a:srgbClr val="CFD0D8"/>
                </a:solidFill>
                <a:highlight>
                  <a:srgbClr val="37373A"/>
                </a:highlight>
                <a:latin typeface="Consolas"/>
                <a:ea typeface="Consolas"/>
                <a:cs typeface="Consolas"/>
                <a:sym typeface="Consolas"/>
              </a:rPr>
              <a:t>ROWS BETWEEN ... AND ...</a:t>
            </a:r>
            <a:r>
              <a:rPr b="0" i="0" lang="en-US" sz="1393" u="none" cap="none" strike="noStrike">
                <a:solidFill>
                  <a:srgbClr val="CFD0D8"/>
                </a:solidFill>
                <a:latin typeface="Instrument Sans"/>
                <a:ea typeface="Instrument Sans"/>
                <a:cs typeface="Instrument Sans"/>
                <a:sym typeface="Instrument Sans"/>
              </a:rPr>
              <a:t> clause, or similar frame clauses like </a:t>
            </a:r>
            <a:r>
              <a:rPr b="0" i="0" lang="en-US" sz="1393" u="none" cap="none" strike="noStrike">
                <a:solidFill>
                  <a:srgbClr val="CFD0D8"/>
                </a:solidFill>
                <a:highlight>
                  <a:srgbClr val="37373A"/>
                </a:highlight>
                <a:latin typeface="Consolas"/>
                <a:ea typeface="Consolas"/>
                <a:cs typeface="Consolas"/>
                <a:sym typeface="Consolas"/>
              </a:rPr>
              <a:t>RANGE BETWEEN</a:t>
            </a:r>
            <a:r>
              <a:rPr b="0" i="0" lang="en-US" sz="1393" u="none" cap="none" strike="noStrike">
                <a:solidFill>
                  <a:srgbClr val="CFD0D8"/>
                </a:solidFill>
                <a:latin typeface="Instrument Sans"/>
                <a:ea typeface="Instrument Sans"/>
                <a:cs typeface="Instrument Sans"/>
                <a:sym typeface="Instrument Sans"/>
              </a:rPr>
              <a:t>, is essential for defining the specific set of rows (the "window frame") that a window function operates on. Without it, the default window frame for ordered window functions (like those with an </a:t>
            </a:r>
            <a:r>
              <a:rPr b="0" i="0" lang="en-US" sz="1393" u="none" cap="none" strike="noStrike">
                <a:solidFill>
                  <a:srgbClr val="CFD0D8"/>
                </a:solidFill>
                <a:highlight>
                  <a:srgbClr val="37373A"/>
                </a:highlight>
                <a:latin typeface="Consolas"/>
                <a:ea typeface="Consolas"/>
                <a:cs typeface="Consolas"/>
                <a:sym typeface="Consolas"/>
              </a:rPr>
              <a:t>ORDER BY</a:t>
            </a:r>
            <a:r>
              <a:rPr b="0" i="0" lang="en-US" sz="1393" u="none" cap="none" strike="noStrike">
                <a:solidFill>
                  <a:srgbClr val="CFD0D8"/>
                </a:solidFill>
                <a:latin typeface="Instrument Sans"/>
                <a:ea typeface="Instrument Sans"/>
                <a:cs typeface="Instrument Sans"/>
                <a:sym typeface="Instrument Sans"/>
              </a:rPr>
              <a:t> clause) is typically </a:t>
            </a:r>
            <a:r>
              <a:rPr b="0" i="0" lang="en-US" sz="1393" u="none" cap="none" strike="noStrike">
                <a:solidFill>
                  <a:srgbClr val="CFD0D8"/>
                </a:solidFill>
                <a:highlight>
                  <a:srgbClr val="37373A"/>
                </a:highlight>
                <a:latin typeface="Consolas"/>
                <a:ea typeface="Consolas"/>
                <a:cs typeface="Consolas"/>
                <a:sym typeface="Consolas"/>
              </a:rPr>
              <a:t>RANGE BETWEEN UNBOUNDED PRECEDING AND CURRENT ROW</a:t>
            </a:r>
            <a:r>
              <a:rPr b="0" i="0" lang="en-US" sz="1393" u="none" cap="none" strike="noStrike">
                <a:solidFill>
                  <a:srgbClr val="CFD0D8"/>
                </a:solidFill>
                <a:latin typeface="Instrument Sans"/>
                <a:ea typeface="Instrument Sans"/>
                <a:cs typeface="Instrument Sans"/>
                <a:sym typeface="Instrument Sans"/>
              </a:rPr>
              <a:t>.</a:t>
            </a:r>
            <a:endParaRPr b="0" i="0" sz="1393" u="none" cap="none" strike="noStrike"/>
          </a:p>
        </p:txBody>
      </p:sp>
      <p:sp>
        <p:nvSpPr>
          <p:cNvPr id="299" name="Google Shape;299;p33"/>
          <p:cNvSpPr/>
          <p:nvPr/>
        </p:nvSpPr>
        <p:spPr>
          <a:xfrm>
            <a:off x="1062300" y="6739434"/>
            <a:ext cx="12828000" cy="1115100"/>
          </a:xfrm>
          <a:prstGeom prst="rect">
            <a:avLst/>
          </a:prstGeom>
          <a:noFill/>
          <a:ln>
            <a:noFill/>
          </a:ln>
        </p:spPr>
        <p:txBody>
          <a:bodyPr anchorCtr="0" anchor="t" bIns="0" lIns="0" spcFirstLastPara="1" rIns="0" wrap="square" tIns="0">
            <a:noAutofit/>
          </a:bodyPr>
          <a:lstStyle/>
          <a:p>
            <a:pPr indent="0" lvl="0" marL="0" marR="0" rtl="0" algn="l">
              <a:lnSpc>
                <a:spcPct val="123529"/>
              </a:lnSpc>
              <a:spcBef>
                <a:spcPts val="0"/>
              </a:spcBef>
              <a:spcAft>
                <a:spcPts val="0"/>
              </a:spcAft>
              <a:buClr>
                <a:srgbClr val="CFD0D8"/>
              </a:buClr>
              <a:buSzPts val="1393"/>
              <a:buFont typeface="Instrument Sans"/>
              <a:buNone/>
            </a:pPr>
            <a:r>
              <a:rPr b="1" i="0" lang="en-US" sz="1393" u="none" cap="none" strike="noStrike">
                <a:solidFill>
                  <a:srgbClr val="CFD0D8"/>
                </a:solidFill>
                <a:latin typeface="Instrument Sans"/>
                <a:ea typeface="Instrument Sans"/>
                <a:cs typeface="Instrument Sans"/>
                <a:sym typeface="Instrument Sans"/>
              </a:rPr>
              <a:t>For Running Totals:</a:t>
            </a:r>
            <a:r>
              <a:rPr b="0" i="0" lang="en-US" sz="1393" u="none" cap="none" strike="noStrike">
                <a:solidFill>
                  <a:srgbClr val="CFD0D8"/>
                </a:solidFill>
                <a:latin typeface="Instrument Sans"/>
                <a:ea typeface="Instrument Sans"/>
                <a:cs typeface="Instrument Sans"/>
                <a:sym typeface="Instrument Sans"/>
              </a:rPr>
              <a:t> Explicitly stating </a:t>
            </a:r>
            <a:r>
              <a:rPr b="0" i="0" lang="en-US" sz="1393" u="none" cap="none" strike="noStrike">
                <a:solidFill>
                  <a:srgbClr val="CFD0D8"/>
                </a:solidFill>
                <a:highlight>
                  <a:srgbClr val="37373A"/>
                </a:highlight>
                <a:latin typeface="Consolas"/>
                <a:ea typeface="Consolas"/>
                <a:cs typeface="Consolas"/>
                <a:sym typeface="Consolas"/>
              </a:rPr>
              <a:t>ROWS BETWEEN UNBOUNDED PRECEDING AND CURRENT ROW</a:t>
            </a:r>
            <a:r>
              <a:rPr b="0" i="0" lang="en-US" sz="1393" u="none" cap="none" strike="noStrike">
                <a:solidFill>
                  <a:srgbClr val="CFD0D8"/>
                </a:solidFill>
                <a:latin typeface="Instrument Sans"/>
                <a:ea typeface="Instrument Sans"/>
                <a:cs typeface="Instrument Sans"/>
                <a:sym typeface="Instrument Sans"/>
              </a:rPr>
              <a:t> makes the calculation clear and ensures it behaves as expected, including all prior rows up to the current one.</a:t>
            </a:r>
            <a:endParaRPr b="0" i="0" sz="1393" u="none" cap="none" strike="noStrike"/>
          </a:p>
          <a:p>
            <a:pPr indent="0" lvl="0" marL="0" marR="0" rtl="0" algn="l">
              <a:lnSpc>
                <a:spcPct val="123529"/>
              </a:lnSpc>
              <a:spcBef>
                <a:spcPts val="0"/>
              </a:spcBef>
              <a:spcAft>
                <a:spcPts val="0"/>
              </a:spcAft>
              <a:buClr>
                <a:srgbClr val="CFD0D8"/>
              </a:buClr>
              <a:buSzPts val="1393"/>
              <a:buFont typeface="Instrument Sans"/>
              <a:buNone/>
            </a:pPr>
            <a:r>
              <a:rPr b="1" i="0" lang="en-US" sz="1393" u="none" cap="none" strike="noStrike">
                <a:solidFill>
                  <a:srgbClr val="CFD0D8"/>
                </a:solidFill>
                <a:latin typeface="Instrument Sans"/>
                <a:ea typeface="Instrument Sans"/>
                <a:cs typeface="Instrument Sans"/>
                <a:sym typeface="Instrument Sans"/>
              </a:rPr>
              <a:t>For Moving Averages:</a:t>
            </a:r>
            <a:r>
              <a:rPr b="0" i="0" lang="en-US" sz="1393" u="none" cap="none" strike="noStrike">
                <a:solidFill>
                  <a:srgbClr val="CFD0D8"/>
                </a:solidFill>
                <a:latin typeface="Instrument Sans"/>
                <a:ea typeface="Instrument Sans"/>
                <a:cs typeface="Instrument Sans"/>
                <a:sym typeface="Instrument Sans"/>
              </a:rPr>
              <a:t> It is absolutely critical for defining the fixed size of the window (e.g., 7 days for a 7-day moving average). If this clause were omitted, the </a:t>
            </a:r>
            <a:r>
              <a:rPr b="0" i="0" lang="en-US" sz="1393" u="none" cap="none" strike="noStrike">
                <a:solidFill>
                  <a:srgbClr val="CFD0D8"/>
                </a:solidFill>
                <a:highlight>
                  <a:srgbClr val="37373A"/>
                </a:highlight>
                <a:latin typeface="Consolas"/>
                <a:ea typeface="Consolas"/>
                <a:cs typeface="Consolas"/>
                <a:sym typeface="Consolas"/>
              </a:rPr>
              <a:t>AVG()</a:t>
            </a:r>
            <a:r>
              <a:rPr b="0" i="0" lang="en-US" sz="1393" u="none" cap="none" strike="noStrike">
                <a:solidFill>
                  <a:srgbClr val="CFD0D8"/>
                </a:solidFill>
                <a:latin typeface="Instrument Sans"/>
                <a:ea typeface="Instrument Sans"/>
                <a:cs typeface="Instrument Sans"/>
                <a:sym typeface="Instrument Sans"/>
              </a:rPr>
              <a:t> function would default to averaging all rows from the beginning up to the current row, effectively becoming a running average, not a moving average over a specific period.</a:t>
            </a:r>
            <a:endParaRPr b="0" i="0" sz="1393" u="none" cap="none" strike="noStrike"/>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34"/>
          <p:cNvSpPr/>
          <p:nvPr/>
        </p:nvSpPr>
        <p:spPr>
          <a:xfrm>
            <a:off x="1506498" y="885587"/>
            <a:ext cx="7097078" cy="526018"/>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CBCCCE"/>
              </a:buClr>
              <a:buSzPts val="3300"/>
              <a:buFont typeface="Instrument Sans"/>
              <a:buNone/>
            </a:pPr>
            <a:r>
              <a:rPr b="0" i="0" lang="en-US" sz="3300" u="none" cap="none" strike="noStrike">
                <a:solidFill>
                  <a:srgbClr val="CBCCCE"/>
                </a:solidFill>
                <a:latin typeface="Instrument Sans"/>
                <a:ea typeface="Instrument Sans"/>
                <a:cs typeface="Instrument Sans"/>
                <a:sym typeface="Instrument Sans"/>
              </a:rPr>
              <a:t>LAG &amp; LEAD: Compare Across Rows</a:t>
            </a:r>
            <a:endParaRPr b="0" i="0" sz="3300" u="none" cap="none" strike="noStrike"/>
          </a:p>
        </p:txBody>
      </p:sp>
      <p:pic>
        <p:nvPicPr>
          <p:cNvPr descr="preencoded.png" id="306" name="Google Shape;306;p34"/>
          <p:cNvPicPr preferRelativeResize="0"/>
          <p:nvPr/>
        </p:nvPicPr>
        <p:blipFill rotWithShape="1">
          <a:blip r:embed="rId3">
            <a:alphaModFix/>
          </a:blip>
          <a:srcRect b="0" l="0" r="0" t="0"/>
          <a:stretch/>
        </p:blipFill>
        <p:spPr>
          <a:xfrm>
            <a:off x="1506498" y="1661517"/>
            <a:ext cx="5808583" cy="673418"/>
          </a:xfrm>
          <a:prstGeom prst="rect">
            <a:avLst/>
          </a:prstGeom>
          <a:noFill/>
          <a:ln>
            <a:noFill/>
          </a:ln>
        </p:spPr>
      </p:pic>
      <p:sp>
        <p:nvSpPr>
          <p:cNvPr id="307" name="Google Shape;307;p34"/>
          <p:cNvSpPr/>
          <p:nvPr/>
        </p:nvSpPr>
        <p:spPr>
          <a:xfrm>
            <a:off x="1674852" y="2459831"/>
            <a:ext cx="2104549" cy="263128"/>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CFD0D8"/>
              </a:buClr>
              <a:buSzPts val="1650"/>
              <a:buFont typeface="Instrument Sans"/>
              <a:buNone/>
            </a:pPr>
            <a:r>
              <a:rPr b="0" i="0" lang="en-US" sz="1650" u="none" cap="none" strike="noStrike">
                <a:solidFill>
                  <a:srgbClr val="CFD0D8"/>
                </a:solidFill>
                <a:latin typeface="Instrument Sans"/>
                <a:ea typeface="Instrument Sans"/>
                <a:cs typeface="Instrument Sans"/>
                <a:sym typeface="Instrument Sans"/>
              </a:rPr>
              <a:t>LAG() Function</a:t>
            </a:r>
            <a:endParaRPr b="0" i="0" sz="1650" u="none" cap="none" strike="noStrike"/>
          </a:p>
        </p:txBody>
      </p:sp>
      <p:sp>
        <p:nvSpPr>
          <p:cNvPr id="308" name="Google Shape;308;p34"/>
          <p:cNvSpPr/>
          <p:nvPr/>
        </p:nvSpPr>
        <p:spPr>
          <a:xfrm>
            <a:off x="1674852" y="2797850"/>
            <a:ext cx="5471874" cy="234553"/>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CFD0D8"/>
              </a:buClr>
              <a:buSzPts val="1300"/>
              <a:buFont typeface="Instrument Sans"/>
              <a:buNone/>
            </a:pPr>
            <a:r>
              <a:rPr b="0" i="0" lang="en-US" sz="1300" u="none" cap="none" strike="noStrike">
                <a:solidFill>
                  <a:srgbClr val="CFD0D8"/>
                </a:solidFill>
                <a:latin typeface="Instrument Sans"/>
                <a:ea typeface="Instrument Sans"/>
                <a:cs typeface="Instrument Sans"/>
                <a:sym typeface="Instrument Sans"/>
              </a:rPr>
              <a:t>Retrieves data from a previous row in the result set</a:t>
            </a:r>
            <a:endParaRPr b="0" i="0" sz="1300" u="none" cap="none" strike="noStrike"/>
          </a:p>
        </p:txBody>
      </p:sp>
      <p:pic>
        <p:nvPicPr>
          <p:cNvPr descr="preencoded.png" id="309" name="Google Shape;309;p34"/>
          <p:cNvPicPr preferRelativeResize="0"/>
          <p:nvPr/>
        </p:nvPicPr>
        <p:blipFill rotWithShape="1">
          <a:blip r:embed="rId4">
            <a:alphaModFix/>
          </a:blip>
          <a:srcRect b="0" l="0" r="0" t="0"/>
          <a:stretch/>
        </p:blipFill>
        <p:spPr>
          <a:xfrm>
            <a:off x="7315081" y="1661517"/>
            <a:ext cx="5808702" cy="673418"/>
          </a:xfrm>
          <a:prstGeom prst="rect">
            <a:avLst/>
          </a:prstGeom>
          <a:noFill/>
          <a:ln>
            <a:noFill/>
          </a:ln>
        </p:spPr>
      </p:pic>
      <p:sp>
        <p:nvSpPr>
          <p:cNvPr id="310" name="Google Shape;310;p34"/>
          <p:cNvSpPr/>
          <p:nvPr/>
        </p:nvSpPr>
        <p:spPr>
          <a:xfrm>
            <a:off x="7483435" y="2459831"/>
            <a:ext cx="2104549" cy="263128"/>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CFD0D8"/>
              </a:buClr>
              <a:buSzPts val="1650"/>
              <a:buFont typeface="Instrument Sans"/>
              <a:buNone/>
            </a:pPr>
            <a:r>
              <a:rPr b="0" i="0" lang="en-US" sz="1650" u="none" cap="none" strike="noStrike">
                <a:solidFill>
                  <a:srgbClr val="CFD0D8"/>
                </a:solidFill>
                <a:latin typeface="Instrument Sans"/>
                <a:ea typeface="Instrument Sans"/>
                <a:cs typeface="Instrument Sans"/>
                <a:sym typeface="Instrument Sans"/>
              </a:rPr>
              <a:t>LEAD() Function</a:t>
            </a:r>
            <a:endParaRPr b="0" i="0" sz="1650" u="none" cap="none" strike="noStrike"/>
          </a:p>
        </p:txBody>
      </p:sp>
      <p:sp>
        <p:nvSpPr>
          <p:cNvPr id="311" name="Google Shape;311;p34"/>
          <p:cNvSpPr/>
          <p:nvPr/>
        </p:nvSpPr>
        <p:spPr>
          <a:xfrm>
            <a:off x="7483435" y="2797850"/>
            <a:ext cx="5471993" cy="234553"/>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CFD0D8"/>
              </a:buClr>
              <a:buSzPts val="1300"/>
              <a:buFont typeface="Instrument Sans"/>
              <a:buNone/>
            </a:pPr>
            <a:r>
              <a:rPr b="0" i="0" lang="en-US" sz="1300" u="none" cap="none" strike="noStrike">
                <a:solidFill>
                  <a:srgbClr val="CFD0D8"/>
                </a:solidFill>
                <a:latin typeface="Instrument Sans"/>
                <a:ea typeface="Instrument Sans"/>
                <a:cs typeface="Instrument Sans"/>
                <a:sym typeface="Instrument Sans"/>
              </a:rPr>
              <a:t>Retrieves data from a following row in the result set</a:t>
            </a:r>
            <a:endParaRPr b="0" i="0" sz="1300" u="none" cap="none" strike="noStrike"/>
          </a:p>
        </p:txBody>
      </p:sp>
      <p:sp>
        <p:nvSpPr>
          <p:cNvPr id="312" name="Google Shape;312;p34"/>
          <p:cNvSpPr/>
          <p:nvPr/>
        </p:nvSpPr>
        <p:spPr>
          <a:xfrm>
            <a:off x="1506498" y="3341251"/>
            <a:ext cx="11617285" cy="3627715"/>
          </a:xfrm>
          <a:prstGeom prst="roundRect">
            <a:avLst>
              <a:gd fmla="val 1949" name="adj"/>
            </a:avLst>
          </a:prstGeom>
          <a:solidFill>
            <a:srgbClr val="2525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3" name="Google Shape;313;p34"/>
          <p:cNvPicPr preferRelativeResize="0"/>
          <p:nvPr/>
        </p:nvPicPr>
        <p:blipFill rotWithShape="1">
          <a:blip r:embed="rId5">
            <a:alphaModFix/>
          </a:blip>
          <a:srcRect b="0" l="0" r="0" t="0"/>
          <a:stretch/>
        </p:blipFill>
        <p:spPr>
          <a:xfrm>
            <a:off x="1674852" y="3529727"/>
            <a:ext cx="263009" cy="210383"/>
          </a:xfrm>
          <a:prstGeom prst="rect">
            <a:avLst/>
          </a:prstGeom>
          <a:noFill/>
          <a:ln>
            <a:noFill/>
          </a:ln>
        </p:spPr>
      </p:pic>
      <p:sp>
        <p:nvSpPr>
          <p:cNvPr id="314" name="Google Shape;314;p34"/>
          <p:cNvSpPr/>
          <p:nvPr/>
        </p:nvSpPr>
        <p:spPr>
          <a:xfrm>
            <a:off x="2106216" y="3508177"/>
            <a:ext cx="4537234" cy="263128"/>
          </a:xfrm>
          <a:prstGeom prst="rect">
            <a:avLst/>
          </a:prstGeom>
          <a:noFill/>
          <a:ln>
            <a:noFill/>
          </a:ln>
        </p:spPr>
        <p:txBody>
          <a:bodyPr anchorCtr="0" anchor="t" bIns="0" lIns="0" spcFirstLastPara="1" rIns="0" wrap="square" tIns="0">
            <a:noAutofit/>
          </a:bodyPr>
          <a:lstStyle/>
          <a:p>
            <a:pPr indent="0" lvl="0" marL="0" marR="0" rtl="0" algn="l">
              <a:lnSpc>
                <a:spcPct val="124242"/>
              </a:lnSpc>
              <a:spcBef>
                <a:spcPts val="0"/>
              </a:spcBef>
              <a:spcAft>
                <a:spcPts val="0"/>
              </a:spcAft>
              <a:buClr>
                <a:srgbClr val="FFFFFF"/>
              </a:buClr>
              <a:buSzPts val="1650"/>
              <a:buFont typeface="Instrument Sans"/>
              <a:buNone/>
            </a:pPr>
            <a:r>
              <a:rPr b="0" i="0" lang="en-US" sz="1650" u="none" cap="none" strike="noStrike">
                <a:solidFill>
                  <a:srgbClr val="FFFFFF"/>
                </a:solidFill>
                <a:latin typeface="Instrument Sans"/>
                <a:ea typeface="Instrument Sans"/>
                <a:cs typeface="Instrument Sans"/>
                <a:sym typeface="Instrument Sans"/>
              </a:rPr>
              <a:t>Example: Month-over-Month Growth Analysis</a:t>
            </a:r>
            <a:endParaRPr b="0" i="0" sz="1650" u="none" cap="none" strike="noStrike"/>
          </a:p>
        </p:txBody>
      </p:sp>
      <p:sp>
        <p:nvSpPr>
          <p:cNvPr id="315" name="Google Shape;315;p34"/>
          <p:cNvSpPr/>
          <p:nvPr/>
        </p:nvSpPr>
        <p:spPr>
          <a:xfrm>
            <a:off x="2106216" y="3911798"/>
            <a:ext cx="10849213" cy="2832497"/>
          </a:xfrm>
          <a:prstGeom prst="roundRect">
            <a:avLst>
              <a:gd fmla="val 2497" name="adj"/>
            </a:avLst>
          </a:prstGeom>
          <a:solidFill>
            <a:srgbClr val="3737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34"/>
          <p:cNvSpPr/>
          <p:nvPr/>
        </p:nvSpPr>
        <p:spPr>
          <a:xfrm>
            <a:off x="2097881" y="3911798"/>
            <a:ext cx="10865882" cy="2832497"/>
          </a:xfrm>
          <a:prstGeom prst="roundRect">
            <a:avLst>
              <a:gd fmla="val 892" name="adj"/>
            </a:avLst>
          </a:prstGeom>
          <a:solidFill>
            <a:srgbClr val="3737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4"/>
          <p:cNvSpPr/>
          <p:nvPr/>
        </p:nvSpPr>
        <p:spPr>
          <a:xfrm>
            <a:off x="2266236" y="4038005"/>
            <a:ext cx="10529173" cy="2580084"/>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FFFFFF"/>
              </a:buClr>
              <a:buSzPts val="1300"/>
              <a:buFont typeface="Consolas"/>
              <a:buNone/>
            </a:pPr>
            <a:r>
              <a:rPr b="0" i="0" lang="en-US" sz="1300" u="none" cap="none" strike="noStrike">
                <a:solidFill>
                  <a:srgbClr val="FFFFFF"/>
                </a:solidFill>
                <a:highlight>
                  <a:srgbClr val="37373A"/>
                </a:highlight>
                <a:latin typeface="Consolas"/>
                <a:ea typeface="Consolas"/>
                <a:cs typeface="Consolas"/>
                <a:sym typeface="Consolas"/>
              </a:rPr>
              <a:t>SELECT </a:t>
            </a:r>
            <a:endParaRPr b="0" i="0" sz="1300" u="none" cap="none" strike="noStrike"/>
          </a:p>
          <a:p>
            <a:pPr indent="0" lvl="0" marL="0" marR="0" rtl="0" algn="l">
              <a:lnSpc>
                <a:spcPct val="138461"/>
              </a:lnSpc>
              <a:spcBef>
                <a:spcPts val="0"/>
              </a:spcBef>
              <a:spcAft>
                <a:spcPts val="0"/>
              </a:spcAft>
              <a:buClr>
                <a:srgbClr val="FFFFFF"/>
              </a:buClr>
              <a:buSzPts val="1300"/>
              <a:buFont typeface="Consolas"/>
              <a:buNone/>
            </a:pPr>
            <a:r>
              <a:rPr b="0" i="0" lang="en-US" sz="1300" u="none" cap="none" strike="noStrike">
                <a:solidFill>
                  <a:srgbClr val="FFFFFF"/>
                </a:solidFill>
                <a:highlight>
                  <a:srgbClr val="37373A"/>
                </a:highlight>
                <a:latin typeface="Consolas"/>
                <a:ea typeface="Consolas"/>
                <a:cs typeface="Consolas"/>
                <a:sym typeface="Consolas"/>
              </a:rPr>
              <a:t>  month,</a:t>
            </a:r>
            <a:endParaRPr b="0" i="0" sz="1300" u="none" cap="none" strike="noStrike"/>
          </a:p>
          <a:p>
            <a:pPr indent="0" lvl="0" marL="0" marR="0" rtl="0" algn="l">
              <a:lnSpc>
                <a:spcPct val="138461"/>
              </a:lnSpc>
              <a:spcBef>
                <a:spcPts val="0"/>
              </a:spcBef>
              <a:spcAft>
                <a:spcPts val="0"/>
              </a:spcAft>
              <a:buClr>
                <a:srgbClr val="FFFFFF"/>
              </a:buClr>
              <a:buSzPts val="1300"/>
              <a:buFont typeface="Consolas"/>
              <a:buNone/>
            </a:pPr>
            <a:r>
              <a:rPr b="0" i="0" lang="en-US" sz="1300" u="none" cap="none" strike="noStrike">
                <a:solidFill>
                  <a:srgbClr val="FFFFFF"/>
                </a:solidFill>
                <a:highlight>
                  <a:srgbClr val="37373A"/>
                </a:highlight>
                <a:latin typeface="Consolas"/>
                <a:ea typeface="Consolas"/>
                <a:cs typeface="Consolas"/>
                <a:sym typeface="Consolas"/>
              </a:rPr>
              <a:t>  revenue,</a:t>
            </a:r>
            <a:endParaRPr b="0" i="0" sz="1300" u="none" cap="none" strike="noStrike"/>
          </a:p>
          <a:p>
            <a:pPr indent="0" lvl="0" marL="0" marR="0" rtl="0" algn="l">
              <a:lnSpc>
                <a:spcPct val="138461"/>
              </a:lnSpc>
              <a:spcBef>
                <a:spcPts val="0"/>
              </a:spcBef>
              <a:spcAft>
                <a:spcPts val="0"/>
              </a:spcAft>
              <a:buClr>
                <a:srgbClr val="FFFFFF"/>
              </a:buClr>
              <a:buSzPts val="1300"/>
              <a:buFont typeface="Consolas"/>
              <a:buNone/>
            </a:pPr>
            <a:r>
              <a:rPr b="0" i="0" lang="en-US" sz="1300" u="none" cap="none" strike="noStrike">
                <a:solidFill>
                  <a:srgbClr val="FFFFFF"/>
                </a:solidFill>
                <a:highlight>
                  <a:srgbClr val="37373A"/>
                </a:highlight>
                <a:latin typeface="Consolas"/>
                <a:ea typeface="Consolas"/>
                <a:cs typeface="Consolas"/>
                <a:sym typeface="Consolas"/>
              </a:rPr>
              <a:t>  LAG(revenue, 1) OVER (ORDER BY month) AS prev_month_revenue,</a:t>
            </a:r>
            <a:endParaRPr b="0" i="0" sz="1300" u="none" cap="none" strike="noStrike"/>
          </a:p>
          <a:p>
            <a:pPr indent="0" lvl="0" marL="0" marR="0" rtl="0" algn="l">
              <a:lnSpc>
                <a:spcPct val="138461"/>
              </a:lnSpc>
              <a:spcBef>
                <a:spcPts val="0"/>
              </a:spcBef>
              <a:spcAft>
                <a:spcPts val="0"/>
              </a:spcAft>
              <a:buClr>
                <a:srgbClr val="FFFFFF"/>
              </a:buClr>
              <a:buSzPts val="1300"/>
              <a:buFont typeface="Consolas"/>
              <a:buNone/>
            </a:pPr>
            <a:r>
              <a:rPr b="0" i="0" lang="en-US" sz="1300" u="none" cap="none" strike="noStrike">
                <a:solidFill>
                  <a:srgbClr val="FFFFFF"/>
                </a:solidFill>
                <a:highlight>
                  <a:srgbClr val="37373A"/>
                </a:highlight>
                <a:latin typeface="Consolas"/>
                <a:ea typeface="Consolas"/>
                <a:cs typeface="Consolas"/>
                <a:sym typeface="Consolas"/>
              </a:rPr>
              <a:t>  revenue - LAG(revenue, 1) OVER (ORDER BY month) AS growth,</a:t>
            </a:r>
            <a:endParaRPr b="0" i="0" sz="1300" u="none" cap="none" strike="noStrike"/>
          </a:p>
          <a:p>
            <a:pPr indent="0" lvl="0" marL="0" marR="0" rtl="0" algn="l">
              <a:lnSpc>
                <a:spcPct val="138461"/>
              </a:lnSpc>
              <a:spcBef>
                <a:spcPts val="0"/>
              </a:spcBef>
              <a:spcAft>
                <a:spcPts val="0"/>
              </a:spcAft>
              <a:buClr>
                <a:srgbClr val="FFFFFF"/>
              </a:buClr>
              <a:buSzPts val="1300"/>
              <a:buFont typeface="Consolas"/>
              <a:buNone/>
            </a:pPr>
            <a:r>
              <a:rPr b="0" i="0" lang="en-US" sz="1300" u="none" cap="none" strike="noStrike">
                <a:solidFill>
                  <a:srgbClr val="FFFFFF"/>
                </a:solidFill>
                <a:highlight>
                  <a:srgbClr val="37373A"/>
                </a:highlight>
                <a:latin typeface="Consolas"/>
                <a:ea typeface="Consolas"/>
                <a:cs typeface="Consolas"/>
                <a:sym typeface="Consolas"/>
              </a:rPr>
              <a:t>  ROUND(</a:t>
            </a:r>
            <a:endParaRPr b="0" i="0" sz="1300" u="none" cap="none" strike="noStrike"/>
          </a:p>
          <a:p>
            <a:pPr indent="0" lvl="0" marL="0" marR="0" rtl="0" algn="l">
              <a:lnSpc>
                <a:spcPct val="138461"/>
              </a:lnSpc>
              <a:spcBef>
                <a:spcPts val="0"/>
              </a:spcBef>
              <a:spcAft>
                <a:spcPts val="0"/>
              </a:spcAft>
              <a:buClr>
                <a:srgbClr val="FFFFFF"/>
              </a:buClr>
              <a:buSzPts val="1300"/>
              <a:buFont typeface="Consolas"/>
              <a:buNone/>
            </a:pPr>
            <a:r>
              <a:rPr b="0" i="0" lang="en-US" sz="1300" u="none" cap="none" strike="noStrike">
                <a:solidFill>
                  <a:srgbClr val="FFFFFF"/>
                </a:solidFill>
                <a:highlight>
                  <a:srgbClr val="37373A"/>
                </a:highlight>
                <a:latin typeface="Consolas"/>
                <a:ea typeface="Consolas"/>
                <a:cs typeface="Consolas"/>
                <a:sym typeface="Consolas"/>
              </a:rPr>
              <a:t>    (revenue - LAG(revenue, 1) OVER (ORDER BY month)) * 100.0 </a:t>
            </a:r>
            <a:endParaRPr b="0" i="0" sz="1300" u="none" cap="none" strike="noStrike"/>
          </a:p>
          <a:p>
            <a:pPr indent="0" lvl="0" marL="0" marR="0" rtl="0" algn="l">
              <a:lnSpc>
                <a:spcPct val="138461"/>
              </a:lnSpc>
              <a:spcBef>
                <a:spcPts val="0"/>
              </a:spcBef>
              <a:spcAft>
                <a:spcPts val="0"/>
              </a:spcAft>
              <a:buClr>
                <a:srgbClr val="FFFFFF"/>
              </a:buClr>
              <a:buSzPts val="1300"/>
              <a:buFont typeface="Consolas"/>
              <a:buNone/>
            </a:pPr>
            <a:r>
              <a:rPr b="0" i="0" lang="en-US" sz="1300" u="none" cap="none" strike="noStrike">
                <a:solidFill>
                  <a:srgbClr val="FFFFFF"/>
                </a:solidFill>
                <a:highlight>
                  <a:srgbClr val="37373A"/>
                </a:highlight>
                <a:latin typeface="Consolas"/>
                <a:ea typeface="Consolas"/>
                <a:cs typeface="Consolas"/>
                <a:sym typeface="Consolas"/>
              </a:rPr>
              <a:t>    / LAG(revenue, 1) OVER (ORDER BY month), </a:t>
            </a:r>
            <a:endParaRPr b="0" i="0" sz="1300" u="none" cap="none" strike="noStrike"/>
          </a:p>
          <a:p>
            <a:pPr indent="0" lvl="0" marL="0" marR="0" rtl="0" algn="l">
              <a:lnSpc>
                <a:spcPct val="138461"/>
              </a:lnSpc>
              <a:spcBef>
                <a:spcPts val="0"/>
              </a:spcBef>
              <a:spcAft>
                <a:spcPts val="0"/>
              </a:spcAft>
              <a:buClr>
                <a:srgbClr val="FFFFFF"/>
              </a:buClr>
              <a:buSzPts val="1300"/>
              <a:buFont typeface="Consolas"/>
              <a:buNone/>
            </a:pPr>
            <a:r>
              <a:rPr b="0" i="0" lang="en-US" sz="1300" u="none" cap="none" strike="noStrike">
                <a:solidFill>
                  <a:srgbClr val="FFFFFF"/>
                </a:solidFill>
                <a:highlight>
                  <a:srgbClr val="37373A"/>
                </a:highlight>
                <a:latin typeface="Consolas"/>
                <a:ea typeface="Consolas"/>
                <a:cs typeface="Consolas"/>
                <a:sym typeface="Consolas"/>
              </a:rPr>
              <a:t>    2</a:t>
            </a:r>
            <a:endParaRPr b="0" i="0" sz="1300" u="none" cap="none" strike="noStrike"/>
          </a:p>
          <a:p>
            <a:pPr indent="0" lvl="0" marL="0" marR="0" rtl="0" algn="l">
              <a:lnSpc>
                <a:spcPct val="138461"/>
              </a:lnSpc>
              <a:spcBef>
                <a:spcPts val="0"/>
              </a:spcBef>
              <a:spcAft>
                <a:spcPts val="0"/>
              </a:spcAft>
              <a:buClr>
                <a:srgbClr val="FFFFFF"/>
              </a:buClr>
              <a:buSzPts val="1300"/>
              <a:buFont typeface="Consolas"/>
              <a:buNone/>
            </a:pPr>
            <a:r>
              <a:rPr b="0" i="0" lang="en-US" sz="1300" u="none" cap="none" strike="noStrike">
                <a:solidFill>
                  <a:srgbClr val="FFFFFF"/>
                </a:solidFill>
                <a:highlight>
                  <a:srgbClr val="37373A"/>
                </a:highlight>
                <a:latin typeface="Consolas"/>
                <a:ea typeface="Consolas"/>
                <a:cs typeface="Consolas"/>
                <a:sym typeface="Consolas"/>
              </a:rPr>
              <a:t>  ) AS growth_pct</a:t>
            </a:r>
            <a:endParaRPr b="0" i="0" sz="1300" u="none" cap="none" strike="noStrike"/>
          </a:p>
          <a:p>
            <a:pPr indent="0" lvl="0" marL="0" marR="0" rtl="0" algn="l">
              <a:lnSpc>
                <a:spcPct val="138461"/>
              </a:lnSpc>
              <a:spcBef>
                <a:spcPts val="0"/>
              </a:spcBef>
              <a:spcAft>
                <a:spcPts val="0"/>
              </a:spcAft>
              <a:buClr>
                <a:srgbClr val="FFFFFF"/>
              </a:buClr>
              <a:buSzPts val="1300"/>
              <a:buFont typeface="Consolas"/>
              <a:buNone/>
            </a:pPr>
            <a:r>
              <a:rPr b="0" i="0" lang="en-US" sz="1300" u="none" cap="none" strike="noStrike">
                <a:solidFill>
                  <a:srgbClr val="FFFFFF"/>
                </a:solidFill>
                <a:highlight>
                  <a:srgbClr val="37373A"/>
                </a:highlight>
                <a:latin typeface="Consolas"/>
                <a:ea typeface="Consolas"/>
                <a:cs typeface="Consolas"/>
                <a:sym typeface="Consolas"/>
              </a:rPr>
              <a:t>FROM monthly_revenue;</a:t>
            </a:r>
            <a:endParaRPr b="0" i="0" sz="1300" u="none" cap="none" strike="noStrike"/>
          </a:p>
        </p:txBody>
      </p:sp>
      <p:sp>
        <p:nvSpPr>
          <p:cNvPr id="318" name="Google Shape;318;p34"/>
          <p:cNvSpPr/>
          <p:nvPr/>
        </p:nvSpPr>
        <p:spPr>
          <a:xfrm>
            <a:off x="1506498" y="7109460"/>
            <a:ext cx="11617285" cy="234553"/>
          </a:xfrm>
          <a:prstGeom prst="rect">
            <a:avLst/>
          </a:prstGeom>
          <a:noFill/>
          <a:ln>
            <a:noFill/>
          </a:ln>
        </p:spPr>
        <p:txBody>
          <a:bodyPr anchorCtr="0" anchor="t" bIns="0" lIns="0" spcFirstLastPara="1" rIns="0" wrap="square" tIns="0">
            <a:noAutofit/>
          </a:bodyPr>
          <a:lstStyle/>
          <a:p>
            <a:pPr indent="0" lvl="0" marL="0" marR="0" rtl="0" algn="l">
              <a:lnSpc>
                <a:spcPct val="138461"/>
              </a:lnSpc>
              <a:spcBef>
                <a:spcPts val="0"/>
              </a:spcBef>
              <a:spcAft>
                <a:spcPts val="0"/>
              </a:spcAft>
              <a:buClr>
                <a:srgbClr val="CFD0D8"/>
              </a:buClr>
              <a:buSzPts val="1300"/>
              <a:buFont typeface="Instrument Sans"/>
              <a:buNone/>
            </a:pPr>
            <a:r>
              <a:rPr b="0" i="0" lang="en-US" sz="1300" u="none" cap="none" strike="noStrike">
                <a:solidFill>
                  <a:srgbClr val="CFD0D8"/>
                </a:solidFill>
                <a:latin typeface="Instrument Sans"/>
                <a:ea typeface="Instrument Sans"/>
                <a:cs typeface="Instrument Sans"/>
                <a:sym typeface="Instrument Sans"/>
              </a:rPr>
              <a:t>LAG and LEAD unlock powerful period-over-period comparisons without complex self-joins.</a:t>
            </a:r>
            <a:endParaRPr b="0" i="0" sz="1300" u="none" cap="none" strike="noStrike"/>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p35"/>
          <p:cNvSpPr/>
          <p:nvPr/>
        </p:nvSpPr>
        <p:spPr>
          <a:xfrm>
            <a:off x="793790" y="1535073"/>
            <a:ext cx="9337000"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CBCCCE"/>
              </a:buClr>
              <a:buSzPts val="4450"/>
              <a:buFont typeface="Instrument Sans"/>
              <a:buNone/>
            </a:pPr>
            <a:r>
              <a:rPr b="0" i="0" lang="en-US" sz="4450" u="none" cap="none" strike="noStrike">
                <a:solidFill>
                  <a:srgbClr val="CBCCCE"/>
                </a:solidFill>
                <a:latin typeface="Instrument Sans"/>
                <a:ea typeface="Instrument Sans"/>
                <a:cs typeface="Instrument Sans"/>
                <a:sym typeface="Instrument Sans"/>
              </a:rPr>
              <a:t>Common Table Expressions (CTEs)</a:t>
            </a:r>
            <a:endParaRPr b="0" i="0" sz="4450" u="none" cap="none" strike="noStrike"/>
          </a:p>
        </p:txBody>
      </p:sp>
      <p:sp>
        <p:nvSpPr>
          <p:cNvPr id="325" name="Google Shape;325;p35"/>
          <p:cNvSpPr/>
          <p:nvPr/>
        </p:nvSpPr>
        <p:spPr>
          <a:xfrm>
            <a:off x="793790" y="2788087"/>
            <a:ext cx="1486019"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SzPts val="1750"/>
              <a:buFont typeface="Arial"/>
              <a:buNone/>
            </a:pPr>
            <a:r>
              <a:t/>
            </a:r>
            <a:endParaRPr b="0" i="0" sz="1750" u="none" cap="none" strike="noStrike"/>
          </a:p>
        </p:txBody>
      </p:sp>
      <p:sp>
        <p:nvSpPr>
          <p:cNvPr id="326" name="Google Shape;326;p35"/>
          <p:cNvSpPr/>
          <p:nvPr/>
        </p:nvSpPr>
        <p:spPr>
          <a:xfrm>
            <a:off x="2840831" y="2810828"/>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2200"/>
              <a:buFont typeface="Instrument Sans"/>
              <a:buNone/>
            </a:pPr>
            <a:r>
              <a:rPr b="0" i="0" lang="en-US" sz="2200" u="none" cap="none" strike="noStrike">
                <a:solidFill>
                  <a:srgbClr val="CBCCCE"/>
                </a:solidFill>
                <a:latin typeface="Instrument Sans"/>
                <a:ea typeface="Instrument Sans"/>
                <a:cs typeface="Instrument Sans"/>
                <a:sym typeface="Instrument Sans"/>
              </a:rPr>
              <a:t>What Are CTEs?</a:t>
            </a:r>
            <a:endParaRPr b="0" i="0" sz="2200" u="none" cap="none" strike="noStrike"/>
          </a:p>
        </p:txBody>
      </p:sp>
      <p:sp>
        <p:nvSpPr>
          <p:cNvPr id="327" name="Google Shape;327;p35"/>
          <p:cNvSpPr/>
          <p:nvPr/>
        </p:nvSpPr>
        <p:spPr>
          <a:xfrm>
            <a:off x="2840831" y="3391972"/>
            <a:ext cx="11003280"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rPr b="0" i="0" lang="en-US" sz="1750" u="none" cap="none" strike="noStrike">
                <a:solidFill>
                  <a:srgbClr val="CFD0D8"/>
                </a:solidFill>
                <a:latin typeface="Instrument Sans"/>
                <a:ea typeface="Instrument Sans"/>
                <a:cs typeface="Instrument Sans"/>
                <a:sym typeface="Instrument Sans"/>
              </a:rPr>
              <a:t>CTEs are temporary named result sets defined with the WITH clause. Think of them as "query variables" that make complex SQL readable and maintainable.</a:t>
            </a:r>
            <a:endParaRPr b="0" i="0" sz="1750" u="none" cap="none" strike="noStrike"/>
          </a:p>
        </p:txBody>
      </p:sp>
      <p:sp>
        <p:nvSpPr>
          <p:cNvPr id="328" name="Google Shape;328;p35"/>
          <p:cNvSpPr/>
          <p:nvPr/>
        </p:nvSpPr>
        <p:spPr>
          <a:xfrm>
            <a:off x="2840831" y="4344591"/>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BCCCE"/>
              </a:buClr>
              <a:buSzPts val="2200"/>
              <a:buFont typeface="Instrument Sans"/>
              <a:buNone/>
            </a:pPr>
            <a:r>
              <a:rPr b="0" i="0" lang="en-US" sz="2200" u="none" cap="none" strike="noStrike">
                <a:solidFill>
                  <a:srgbClr val="CBCCCE"/>
                </a:solidFill>
                <a:latin typeface="Instrument Sans"/>
                <a:ea typeface="Instrument Sans"/>
                <a:cs typeface="Instrument Sans"/>
                <a:sym typeface="Instrument Sans"/>
              </a:rPr>
              <a:t>Why Use CTEs?</a:t>
            </a:r>
            <a:endParaRPr b="0" i="0" sz="2200" u="none" cap="none" strike="noStrike"/>
          </a:p>
        </p:txBody>
      </p:sp>
      <p:sp>
        <p:nvSpPr>
          <p:cNvPr id="329" name="Google Shape;329;p35"/>
          <p:cNvSpPr/>
          <p:nvPr/>
        </p:nvSpPr>
        <p:spPr>
          <a:xfrm>
            <a:off x="2840831" y="4925735"/>
            <a:ext cx="11003280" cy="1451698"/>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CFD0D8"/>
              </a:buClr>
              <a:buSzPts val="1750"/>
              <a:buFont typeface="Instrument Sans"/>
              <a:buNone/>
            </a:pPr>
            <a:r>
              <a:rPr b="1" i="0" lang="en-US" sz="1750" u="none" cap="none" strike="noStrike">
                <a:solidFill>
                  <a:srgbClr val="CFD0D8"/>
                </a:solidFill>
                <a:latin typeface="Instrument Sans"/>
                <a:ea typeface="Instrument Sans"/>
                <a:cs typeface="Instrument Sans"/>
                <a:sym typeface="Instrument Sans"/>
              </a:rPr>
              <a:t>Readability:</a:t>
            </a:r>
            <a:r>
              <a:rPr b="0" i="0" lang="en-US" sz="1750" u="none" cap="none" strike="noStrike">
                <a:solidFill>
                  <a:srgbClr val="CFD0D8"/>
                </a:solidFill>
                <a:latin typeface="Instrument Sans"/>
                <a:ea typeface="Instrument Sans"/>
                <a:cs typeface="Instrument Sans"/>
                <a:sym typeface="Instrument Sans"/>
              </a:rPr>
              <a:t> Break complex queries into logical steps</a:t>
            </a:r>
            <a:endParaRPr b="0" i="0" sz="1750" u="none" cap="none" strike="noStrike"/>
          </a:p>
          <a:p>
            <a:pPr indent="0" lvl="0" marL="0" marR="0" rtl="0" algn="l">
              <a:lnSpc>
                <a:spcPct val="162857"/>
              </a:lnSpc>
              <a:spcBef>
                <a:spcPts val="0"/>
              </a:spcBef>
              <a:spcAft>
                <a:spcPts val="0"/>
              </a:spcAft>
              <a:buClr>
                <a:srgbClr val="CFD0D8"/>
              </a:buClr>
              <a:buSzPts val="1750"/>
              <a:buFont typeface="Instrument Sans"/>
              <a:buNone/>
            </a:pPr>
            <a:r>
              <a:rPr b="1" i="0" lang="en-US" sz="1750" u="none" cap="none" strike="noStrike">
                <a:solidFill>
                  <a:srgbClr val="CFD0D8"/>
                </a:solidFill>
                <a:latin typeface="Instrument Sans"/>
                <a:ea typeface="Instrument Sans"/>
                <a:cs typeface="Instrument Sans"/>
                <a:sym typeface="Instrument Sans"/>
              </a:rPr>
              <a:t>Reusability:</a:t>
            </a:r>
            <a:r>
              <a:rPr b="0" i="0" lang="en-US" sz="1750" u="none" cap="none" strike="noStrike">
                <a:solidFill>
                  <a:srgbClr val="CFD0D8"/>
                </a:solidFill>
                <a:latin typeface="Instrument Sans"/>
                <a:ea typeface="Instrument Sans"/>
                <a:cs typeface="Instrument Sans"/>
                <a:sym typeface="Instrument Sans"/>
              </a:rPr>
              <a:t> Reference the same subquery multiple times</a:t>
            </a:r>
            <a:endParaRPr b="0" i="0" sz="1750" u="none" cap="none" strike="noStrike"/>
          </a:p>
          <a:p>
            <a:pPr indent="0" lvl="0" marL="0" marR="0" rtl="0" algn="l">
              <a:lnSpc>
                <a:spcPct val="162857"/>
              </a:lnSpc>
              <a:spcBef>
                <a:spcPts val="0"/>
              </a:spcBef>
              <a:spcAft>
                <a:spcPts val="0"/>
              </a:spcAft>
              <a:buClr>
                <a:srgbClr val="CFD0D8"/>
              </a:buClr>
              <a:buSzPts val="1750"/>
              <a:buFont typeface="Instrument Sans"/>
              <a:buNone/>
            </a:pPr>
            <a:r>
              <a:rPr b="1" i="0" lang="en-US" sz="1750" u="none" cap="none" strike="noStrike">
                <a:solidFill>
                  <a:srgbClr val="CFD0D8"/>
                </a:solidFill>
                <a:latin typeface="Instrument Sans"/>
                <a:ea typeface="Instrument Sans"/>
                <a:cs typeface="Instrument Sans"/>
                <a:sym typeface="Instrument Sans"/>
              </a:rPr>
              <a:t>Debugging:</a:t>
            </a:r>
            <a:r>
              <a:rPr b="0" i="0" lang="en-US" sz="1750" u="none" cap="none" strike="noStrike">
                <a:solidFill>
                  <a:srgbClr val="CFD0D8"/>
                </a:solidFill>
                <a:latin typeface="Instrument Sans"/>
                <a:ea typeface="Instrument Sans"/>
                <a:cs typeface="Instrument Sans"/>
                <a:sym typeface="Instrument Sans"/>
              </a:rPr>
              <a:t> Test each CTE independently</a:t>
            </a:r>
            <a:endParaRPr b="0" i="0" sz="1750" u="none" cap="none" strike="noStrike"/>
          </a:p>
          <a:p>
            <a:pPr indent="0" lvl="0" marL="0" marR="0" rtl="0" algn="l">
              <a:lnSpc>
                <a:spcPct val="162857"/>
              </a:lnSpc>
              <a:spcBef>
                <a:spcPts val="0"/>
              </a:spcBef>
              <a:spcAft>
                <a:spcPts val="0"/>
              </a:spcAft>
              <a:buClr>
                <a:srgbClr val="CFD0D8"/>
              </a:buClr>
              <a:buSzPts val="1750"/>
              <a:buFont typeface="Instrument Sans"/>
              <a:buNone/>
            </a:pPr>
            <a:r>
              <a:rPr b="1" i="0" lang="en-US" sz="1750" u="none" cap="none" strike="noStrike">
                <a:solidFill>
                  <a:srgbClr val="CFD0D8"/>
                </a:solidFill>
                <a:latin typeface="Instrument Sans"/>
                <a:ea typeface="Instrument Sans"/>
                <a:cs typeface="Instrument Sans"/>
                <a:sym typeface="Instrument Sans"/>
              </a:rPr>
              <a:t>Maintenance:</a:t>
            </a:r>
            <a:r>
              <a:rPr b="0" i="0" lang="en-US" sz="1750" u="none" cap="none" strike="noStrike">
                <a:solidFill>
                  <a:srgbClr val="CFD0D8"/>
                </a:solidFill>
                <a:latin typeface="Instrument Sans"/>
                <a:ea typeface="Instrument Sans"/>
                <a:cs typeface="Instrument Sans"/>
                <a:sym typeface="Instrument Sans"/>
              </a:rPr>
              <a:t> Easier to modify and understand later</a:t>
            </a:r>
            <a:endParaRPr b="0" i="0" sz="1750" u="none" cap="none" strike="noStrike"/>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36"/>
          <p:cNvSpPr/>
          <p:nvPr/>
        </p:nvSpPr>
        <p:spPr>
          <a:xfrm>
            <a:off x="2278499" y="1033701"/>
            <a:ext cx="7061954" cy="456128"/>
          </a:xfrm>
          <a:prstGeom prst="rect">
            <a:avLst/>
          </a:prstGeom>
          <a:noFill/>
          <a:ln>
            <a:noFill/>
          </a:ln>
        </p:spPr>
        <p:txBody>
          <a:bodyPr anchorCtr="0" anchor="t" bIns="0" lIns="0" spcFirstLastPara="1" rIns="0" wrap="square" tIns="0">
            <a:noAutofit/>
          </a:bodyPr>
          <a:lstStyle/>
          <a:p>
            <a:pPr indent="0" lvl="0" marL="0" marR="0" rtl="0" algn="l">
              <a:lnSpc>
                <a:spcPct val="124561"/>
              </a:lnSpc>
              <a:spcBef>
                <a:spcPts val="0"/>
              </a:spcBef>
              <a:spcAft>
                <a:spcPts val="0"/>
              </a:spcAft>
              <a:buClr>
                <a:srgbClr val="CBCCCE"/>
              </a:buClr>
              <a:buSzPts val="2850"/>
              <a:buFont typeface="Instrument Sans"/>
              <a:buNone/>
            </a:pPr>
            <a:r>
              <a:rPr b="0" i="0" lang="en-US" sz="2850" u="none" cap="none" strike="noStrike">
                <a:solidFill>
                  <a:srgbClr val="CBCCCE"/>
                </a:solidFill>
                <a:latin typeface="Instrument Sans"/>
                <a:ea typeface="Instrument Sans"/>
                <a:cs typeface="Instrument Sans"/>
                <a:sym typeface="Instrument Sans"/>
              </a:rPr>
              <a:t>CTEs + Window Functions: Power Combo</a:t>
            </a:r>
            <a:endParaRPr b="0" i="0" sz="2850" u="none" cap="none" strike="noStrike"/>
          </a:p>
        </p:txBody>
      </p:sp>
      <p:sp>
        <p:nvSpPr>
          <p:cNvPr id="336" name="Google Shape;336;p36"/>
          <p:cNvSpPr/>
          <p:nvPr/>
        </p:nvSpPr>
        <p:spPr>
          <a:xfrm>
            <a:off x="2278499" y="1677710"/>
            <a:ext cx="10073402" cy="4316254"/>
          </a:xfrm>
          <a:prstGeom prst="roundRect">
            <a:avLst>
              <a:gd fmla="val 1421" name="adj"/>
            </a:avLst>
          </a:prstGeom>
          <a:solidFill>
            <a:srgbClr val="25252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37" name="Google Shape;337;p36"/>
          <p:cNvPicPr preferRelativeResize="0"/>
          <p:nvPr/>
        </p:nvPicPr>
        <p:blipFill rotWithShape="1">
          <a:blip r:embed="rId3">
            <a:alphaModFix/>
          </a:blip>
          <a:srcRect b="0" l="0" r="0" t="0"/>
          <a:stretch/>
        </p:blipFill>
        <p:spPr>
          <a:xfrm>
            <a:off x="2424470" y="1823680"/>
            <a:ext cx="228005" cy="182404"/>
          </a:xfrm>
          <a:prstGeom prst="rect">
            <a:avLst/>
          </a:prstGeom>
          <a:noFill/>
          <a:ln>
            <a:noFill/>
          </a:ln>
        </p:spPr>
      </p:pic>
      <p:sp>
        <p:nvSpPr>
          <p:cNvPr id="338" name="Google Shape;338;p36"/>
          <p:cNvSpPr/>
          <p:nvPr/>
        </p:nvSpPr>
        <p:spPr>
          <a:xfrm>
            <a:off x="2798445" y="1808083"/>
            <a:ext cx="3278743" cy="228124"/>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FFFFFF"/>
              </a:buClr>
              <a:buSzPts val="1400"/>
              <a:buFont typeface="Instrument Sans"/>
              <a:buNone/>
            </a:pPr>
            <a:r>
              <a:rPr b="0" i="0" lang="en-US" sz="1400" u="none" cap="none" strike="noStrike">
                <a:solidFill>
                  <a:srgbClr val="FFFFFF"/>
                </a:solidFill>
                <a:latin typeface="Instrument Sans"/>
                <a:ea typeface="Instrument Sans"/>
                <a:cs typeface="Instrument Sans"/>
                <a:sym typeface="Instrument Sans"/>
              </a:rPr>
              <a:t>Example: Top 3 Products per Category</a:t>
            </a:r>
            <a:endParaRPr b="0" i="0" sz="1400" u="none" cap="none" strike="noStrike"/>
          </a:p>
        </p:txBody>
      </p:sp>
      <p:sp>
        <p:nvSpPr>
          <p:cNvPr id="339" name="Google Shape;339;p36"/>
          <p:cNvSpPr/>
          <p:nvPr/>
        </p:nvSpPr>
        <p:spPr>
          <a:xfrm>
            <a:off x="2798445" y="2141815"/>
            <a:ext cx="9407485" cy="3673554"/>
          </a:xfrm>
          <a:prstGeom prst="roundRect">
            <a:avLst>
              <a:gd fmla="val 1669" name="adj"/>
            </a:avLst>
          </a:prstGeom>
          <a:solidFill>
            <a:srgbClr val="3737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6"/>
          <p:cNvSpPr/>
          <p:nvPr/>
        </p:nvSpPr>
        <p:spPr>
          <a:xfrm>
            <a:off x="2791182" y="2141815"/>
            <a:ext cx="9422011" cy="3673554"/>
          </a:xfrm>
          <a:prstGeom prst="roundRect">
            <a:avLst>
              <a:gd fmla="val 596" name="adj"/>
            </a:avLst>
          </a:prstGeom>
          <a:solidFill>
            <a:srgbClr val="37373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1" name="Google Shape;341;p36"/>
          <p:cNvSpPr/>
          <p:nvPr/>
        </p:nvSpPr>
        <p:spPr>
          <a:xfrm>
            <a:off x="2937153" y="2251234"/>
            <a:ext cx="9130070" cy="3454717"/>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FFFFFF"/>
              </a:buClr>
              <a:buSzPts val="1100"/>
              <a:buFont typeface="Consolas"/>
              <a:buNone/>
            </a:pPr>
            <a:r>
              <a:rPr b="0" i="0" lang="en-US" sz="1100" u="none" cap="none" strike="noStrike">
                <a:solidFill>
                  <a:srgbClr val="FFFFFF"/>
                </a:solidFill>
                <a:highlight>
                  <a:srgbClr val="37373A"/>
                </a:highlight>
                <a:latin typeface="Consolas"/>
                <a:ea typeface="Consolas"/>
                <a:cs typeface="Consolas"/>
                <a:sym typeface="Consolas"/>
              </a:rPr>
              <a:t>WITH ranked_products AS (</a:t>
            </a:r>
            <a:endParaRPr b="0" i="0" sz="1100" u="none" cap="none" strike="noStrike"/>
          </a:p>
          <a:p>
            <a:pPr indent="0" lvl="0" marL="0" marR="0" rtl="0" algn="l">
              <a:lnSpc>
                <a:spcPct val="136363"/>
              </a:lnSpc>
              <a:spcBef>
                <a:spcPts val="0"/>
              </a:spcBef>
              <a:spcAft>
                <a:spcPts val="0"/>
              </a:spcAft>
              <a:buClr>
                <a:srgbClr val="FFFFFF"/>
              </a:buClr>
              <a:buSzPts val="1100"/>
              <a:buFont typeface="Consolas"/>
              <a:buNone/>
            </a:pPr>
            <a:r>
              <a:rPr b="0" i="0" lang="en-US" sz="1100" u="none" cap="none" strike="noStrike">
                <a:solidFill>
                  <a:srgbClr val="FFFFFF"/>
                </a:solidFill>
                <a:highlight>
                  <a:srgbClr val="37373A"/>
                </a:highlight>
                <a:latin typeface="Consolas"/>
                <a:ea typeface="Consolas"/>
                <a:cs typeface="Consolas"/>
                <a:sym typeface="Consolas"/>
              </a:rPr>
              <a:t>  SELECT </a:t>
            </a:r>
            <a:endParaRPr b="0" i="0" sz="1100" u="none" cap="none" strike="noStrike"/>
          </a:p>
          <a:p>
            <a:pPr indent="0" lvl="0" marL="0" marR="0" rtl="0" algn="l">
              <a:lnSpc>
                <a:spcPct val="136363"/>
              </a:lnSpc>
              <a:spcBef>
                <a:spcPts val="0"/>
              </a:spcBef>
              <a:spcAft>
                <a:spcPts val="0"/>
              </a:spcAft>
              <a:buClr>
                <a:srgbClr val="FFFFFF"/>
              </a:buClr>
              <a:buSzPts val="1100"/>
              <a:buFont typeface="Consolas"/>
              <a:buNone/>
            </a:pPr>
            <a:r>
              <a:rPr b="0" i="0" lang="en-US" sz="1100" u="none" cap="none" strike="noStrike">
                <a:solidFill>
                  <a:srgbClr val="FFFFFF"/>
                </a:solidFill>
                <a:highlight>
                  <a:srgbClr val="37373A"/>
                </a:highlight>
                <a:latin typeface="Consolas"/>
                <a:ea typeface="Consolas"/>
                <a:cs typeface="Consolas"/>
                <a:sym typeface="Consolas"/>
              </a:rPr>
              <a:t>    product_name,</a:t>
            </a:r>
            <a:endParaRPr b="0" i="0" sz="1100" u="none" cap="none" strike="noStrike"/>
          </a:p>
          <a:p>
            <a:pPr indent="0" lvl="0" marL="0" marR="0" rtl="0" algn="l">
              <a:lnSpc>
                <a:spcPct val="136363"/>
              </a:lnSpc>
              <a:spcBef>
                <a:spcPts val="0"/>
              </a:spcBef>
              <a:spcAft>
                <a:spcPts val="0"/>
              </a:spcAft>
              <a:buClr>
                <a:srgbClr val="FFFFFF"/>
              </a:buClr>
              <a:buSzPts val="1100"/>
              <a:buFont typeface="Consolas"/>
              <a:buNone/>
            </a:pPr>
            <a:r>
              <a:rPr b="0" i="0" lang="en-US" sz="1100" u="none" cap="none" strike="noStrike">
                <a:solidFill>
                  <a:srgbClr val="FFFFFF"/>
                </a:solidFill>
                <a:highlight>
                  <a:srgbClr val="37373A"/>
                </a:highlight>
                <a:latin typeface="Consolas"/>
                <a:ea typeface="Consolas"/>
                <a:cs typeface="Consolas"/>
                <a:sym typeface="Consolas"/>
              </a:rPr>
              <a:t>    category,</a:t>
            </a:r>
            <a:endParaRPr b="0" i="0" sz="1100" u="none" cap="none" strike="noStrike"/>
          </a:p>
          <a:p>
            <a:pPr indent="0" lvl="0" marL="0" marR="0" rtl="0" algn="l">
              <a:lnSpc>
                <a:spcPct val="136363"/>
              </a:lnSpc>
              <a:spcBef>
                <a:spcPts val="0"/>
              </a:spcBef>
              <a:spcAft>
                <a:spcPts val="0"/>
              </a:spcAft>
              <a:buClr>
                <a:srgbClr val="FFFFFF"/>
              </a:buClr>
              <a:buSzPts val="1100"/>
              <a:buFont typeface="Consolas"/>
              <a:buNone/>
            </a:pPr>
            <a:r>
              <a:rPr b="0" i="0" lang="en-US" sz="1100" u="none" cap="none" strike="noStrike">
                <a:solidFill>
                  <a:srgbClr val="FFFFFF"/>
                </a:solidFill>
                <a:highlight>
                  <a:srgbClr val="37373A"/>
                </a:highlight>
                <a:latin typeface="Consolas"/>
                <a:ea typeface="Consolas"/>
                <a:cs typeface="Consolas"/>
                <a:sym typeface="Consolas"/>
              </a:rPr>
              <a:t>    total_sales,</a:t>
            </a:r>
            <a:endParaRPr b="0" i="0" sz="1100" u="none" cap="none" strike="noStrike"/>
          </a:p>
          <a:p>
            <a:pPr indent="0" lvl="0" marL="0" marR="0" rtl="0" algn="l">
              <a:lnSpc>
                <a:spcPct val="136363"/>
              </a:lnSpc>
              <a:spcBef>
                <a:spcPts val="0"/>
              </a:spcBef>
              <a:spcAft>
                <a:spcPts val="0"/>
              </a:spcAft>
              <a:buClr>
                <a:srgbClr val="FFFFFF"/>
              </a:buClr>
              <a:buSzPts val="1100"/>
              <a:buFont typeface="Consolas"/>
              <a:buNone/>
            </a:pPr>
            <a:r>
              <a:rPr b="0" i="0" lang="en-US" sz="1100" u="none" cap="none" strike="noStrike">
                <a:solidFill>
                  <a:srgbClr val="FFFFFF"/>
                </a:solidFill>
                <a:highlight>
                  <a:srgbClr val="37373A"/>
                </a:highlight>
                <a:latin typeface="Consolas"/>
                <a:ea typeface="Consolas"/>
                <a:cs typeface="Consolas"/>
                <a:sym typeface="Consolas"/>
              </a:rPr>
              <a:t>    RANK() OVER (</a:t>
            </a:r>
            <a:endParaRPr b="0" i="0" sz="1100" u="none" cap="none" strike="noStrike"/>
          </a:p>
          <a:p>
            <a:pPr indent="0" lvl="0" marL="0" marR="0" rtl="0" algn="l">
              <a:lnSpc>
                <a:spcPct val="136363"/>
              </a:lnSpc>
              <a:spcBef>
                <a:spcPts val="0"/>
              </a:spcBef>
              <a:spcAft>
                <a:spcPts val="0"/>
              </a:spcAft>
              <a:buClr>
                <a:srgbClr val="FFFFFF"/>
              </a:buClr>
              <a:buSzPts val="1100"/>
              <a:buFont typeface="Consolas"/>
              <a:buNone/>
            </a:pPr>
            <a:r>
              <a:rPr b="0" i="0" lang="en-US" sz="1100" u="none" cap="none" strike="noStrike">
                <a:solidFill>
                  <a:srgbClr val="FFFFFF"/>
                </a:solidFill>
                <a:highlight>
                  <a:srgbClr val="37373A"/>
                </a:highlight>
                <a:latin typeface="Consolas"/>
                <a:ea typeface="Consolas"/>
                <a:cs typeface="Consolas"/>
                <a:sym typeface="Consolas"/>
              </a:rPr>
              <a:t>      PARTITION BY category </a:t>
            </a:r>
            <a:endParaRPr b="0" i="0" sz="1100" u="none" cap="none" strike="noStrike"/>
          </a:p>
          <a:p>
            <a:pPr indent="0" lvl="0" marL="0" marR="0" rtl="0" algn="l">
              <a:lnSpc>
                <a:spcPct val="136363"/>
              </a:lnSpc>
              <a:spcBef>
                <a:spcPts val="0"/>
              </a:spcBef>
              <a:spcAft>
                <a:spcPts val="0"/>
              </a:spcAft>
              <a:buClr>
                <a:srgbClr val="FFFFFF"/>
              </a:buClr>
              <a:buSzPts val="1100"/>
              <a:buFont typeface="Consolas"/>
              <a:buNone/>
            </a:pPr>
            <a:r>
              <a:rPr b="0" i="0" lang="en-US" sz="1100" u="none" cap="none" strike="noStrike">
                <a:solidFill>
                  <a:srgbClr val="FFFFFF"/>
                </a:solidFill>
                <a:highlight>
                  <a:srgbClr val="37373A"/>
                </a:highlight>
                <a:latin typeface="Consolas"/>
                <a:ea typeface="Consolas"/>
                <a:cs typeface="Consolas"/>
                <a:sym typeface="Consolas"/>
              </a:rPr>
              <a:t>      ORDER BY total_sales DESC</a:t>
            </a:r>
            <a:endParaRPr b="0" i="0" sz="1100" u="none" cap="none" strike="noStrike"/>
          </a:p>
          <a:p>
            <a:pPr indent="0" lvl="0" marL="0" marR="0" rtl="0" algn="l">
              <a:lnSpc>
                <a:spcPct val="136363"/>
              </a:lnSpc>
              <a:spcBef>
                <a:spcPts val="0"/>
              </a:spcBef>
              <a:spcAft>
                <a:spcPts val="0"/>
              </a:spcAft>
              <a:buClr>
                <a:srgbClr val="FFFFFF"/>
              </a:buClr>
              <a:buSzPts val="1100"/>
              <a:buFont typeface="Consolas"/>
              <a:buNone/>
            </a:pPr>
            <a:r>
              <a:rPr b="0" i="0" lang="en-US" sz="1100" u="none" cap="none" strike="noStrike">
                <a:solidFill>
                  <a:srgbClr val="FFFFFF"/>
                </a:solidFill>
                <a:highlight>
                  <a:srgbClr val="37373A"/>
                </a:highlight>
                <a:latin typeface="Consolas"/>
                <a:ea typeface="Consolas"/>
                <a:cs typeface="Consolas"/>
                <a:sym typeface="Consolas"/>
              </a:rPr>
              <a:t>    ) AS sales_rank</a:t>
            </a:r>
            <a:endParaRPr b="0" i="0" sz="1100" u="none" cap="none" strike="noStrike"/>
          </a:p>
          <a:p>
            <a:pPr indent="0" lvl="0" marL="0" marR="0" rtl="0" algn="l">
              <a:lnSpc>
                <a:spcPct val="136363"/>
              </a:lnSpc>
              <a:spcBef>
                <a:spcPts val="0"/>
              </a:spcBef>
              <a:spcAft>
                <a:spcPts val="0"/>
              </a:spcAft>
              <a:buClr>
                <a:srgbClr val="FFFFFF"/>
              </a:buClr>
              <a:buSzPts val="1100"/>
              <a:buFont typeface="Consolas"/>
              <a:buNone/>
            </a:pPr>
            <a:r>
              <a:rPr b="0" i="0" lang="en-US" sz="1100" u="none" cap="none" strike="noStrike">
                <a:solidFill>
                  <a:srgbClr val="FFFFFF"/>
                </a:solidFill>
                <a:highlight>
                  <a:srgbClr val="37373A"/>
                </a:highlight>
                <a:latin typeface="Consolas"/>
                <a:ea typeface="Consolas"/>
                <a:cs typeface="Consolas"/>
                <a:sym typeface="Consolas"/>
              </a:rPr>
              <a:t>  FROM products</a:t>
            </a:r>
            <a:endParaRPr b="0" i="0" sz="1100" u="none" cap="none" strike="noStrike"/>
          </a:p>
          <a:p>
            <a:pPr indent="0" lvl="0" marL="0" marR="0" rtl="0" algn="l">
              <a:lnSpc>
                <a:spcPct val="136363"/>
              </a:lnSpc>
              <a:spcBef>
                <a:spcPts val="0"/>
              </a:spcBef>
              <a:spcAft>
                <a:spcPts val="0"/>
              </a:spcAft>
              <a:buClr>
                <a:srgbClr val="FFFFFF"/>
              </a:buClr>
              <a:buSzPts val="1100"/>
              <a:buFont typeface="Consolas"/>
              <a:buNone/>
            </a:pPr>
            <a:r>
              <a:rPr b="0" i="0" lang="en-US" sz="1100" u="none" cap="none" strike="noStrike">
                <a:solidFill>
                  <a:srgbClr val="FFFFFF"/>
                </a:solidFill>
                <a:highlight>
                  <a:srgbClr val="37373A"/>
                </a:highlight>
                <a:latin typeface="Consolas"/>
                <a:ea typeface="Consolas"/>
                <a:cs typeface="Consolas"/>
                <a:sym typeface="Consolas"/>
              </a:rPr>
              <a:t>)</a:t>
            </a:r>
            <a:endParaRPr b="0" i="0" sz="1100" u="none" cap="none" strike="noStrike"/>
          </a:p>
          <a:p>
            <a:pPr indent="0" lvl="0" marL="0" marR="0" rtl="0" algn="l">
              <a:lnSpc>
                <a:spcPct val="136363"/>
              </a:lnSpc>
              <a:spcBef>
                <a:spcPts val="0"/>
              </a:spcBef>
              <a:spcAft>
                <a:spcPts val="0"/>
              </a:spcAft>
              <a:buClr>
                <a:srgbClr val="FFFFFF"/>
              </a:buClr>
              <a:buSzPts val="1100"/>
              <a:buFont typeface="Consolas"/>
              <a:buNone/>
            </a:pPr>
            <a:r>
              <a:rPr b="0" i="0" lang="en-US" sz="1100" u="none" cap="none" strike="noStrike">
                <a:solidFill>
                  <a:srgbClr val="FFFFFF"/>
                </a:solidFill>
                <a:highlight>
                  <a:srgbClr val="37373A"/>
                </a:highlight>
                <a:latin typeface="Consolas"/>
                <a:ea typeface="Consolas"/>
                <a:cs typeface="Consolas"/>
                <a:sym typeface="Consolas"/>
              </a:rPr>
              <a:t>SELECT </a:t>
            </a:r>
            <a:endParaRPr b="0" i="0" sz="1100" u="none" cap="none" strike="noStrike"/>
          </a:p>
          <a:p>
            <a:pPr indent="0" lvl="0" marL="0" marR="0" rtl="0" algn="l">
              <a:lnSpc>
                <a:spcPct val="136363"/>
              </a:lnSpc>
              <a:spcBef>
                <a:spcPts val="0"/>
              </a:spcBef>
              <a:spcAft>
                <a:spcPts val="0"/>
              </a:spcAft>
              <a:buClr>
                <a:srgbClr val="FFFFFF"/>
              </a:buClr>
              <a:buSzPts val="1100"/>
              <a:buFont typeface="Consolas"/>
              <a:buNone/>
            </a:pPr>
            <a:r>
              <a:rPr b="0" i="0" lang="en-US" sz="1100" u="none" cap="none" strike="noStrike">
                <a:solidFill>
                  <a:srgbClr val="FFFFFF"/>
                </a:solidFill>
                <a:highlight>
                  <a:srgbClr val="37373A"/>
                </a:highlight>
                <a:latin typeface="Consolas"/>
                <a:ea typeface="Consolas"/>
                <a:cs typeface="Consolas"/>
                <a:sym typeface="Consolas"/>
              </a:rPr>
              <a:t>  product_name,</a:t>
            </a:r>
            <a:endParaRPr b="0" i="0" sz="1100" u="none" cap="none" strike="noStrike"/>
          </a:p>
          <a:p>
            <a:pPr indent="0" lvl="0" marL="0" marR="0" rtl="0" algn="l">
              <a:lnSpc>
                <a:spcPct val="136363"/>
              </a:lnSpc>
              <a:spcBef>
                <a:spcPts val="0"/>
              </a:spcBef>
              <a:spcAft>
                <a:spcPts val="0"/>
              </a:spcAft>
              <a:buClr>
                <a:srgbClr val="FFFFFF"/>
              </a:buClr>
              <a:buSzPts val="1100"/>
              <a:buFont typeface="Consolas"/>
              <a:buNone/>
            </a:pPr>
            <a:r>
              <a:rPr b="0" i="0" lang="en-US" sz="1100" u="none" cap="none" strike="noStrike">
                <a:solidFill>
                  <a:srgbClr val="FFFFFF"/>
                </a:solidFill>
                <a:highlight>
                  <a:srgbClr val="37373A"/>
                </a:highlight>
                <a:latin typeface="Consolas"/>
                <a:ea typeface="Consolas"/>
                <a:cs typeface="Consolas"/>
                <a:sym typeface="Consolas"/>
              </a:rPr>
              <a:t>  category,</a:t>
            </a:r>
            <a:endParaRPr b="0" i="0" sz="1100" u="none" cap="none" strike="noStrike"/>
          </a:p>
          <a:p>
            <a:pPr indent="0" lvl="0" marL="0" marR="0" rtl="0" algn="l">
              <a:lnSpc>
                <a:spcPct val="136363"/>
              </a:lnSpc>
              <a:spcBef>
                <a:spcPts val="0"/>
              </a:spcBef>
              <a:spcAft>
                <a:spcPts val="0"/>
              </a:spcAft>
              <a:buClr>
                <a:srgbClr val="FFFFFF"/>
              </a:buClr>
              <a:buSzPts val="1100"/>
              <a:buFont typeface="Consolas"/>
              <a:buNone/>
            </a:pPr>
            <a:r>
              <a:rPr b="0" i="0" lang="en-US" sz="1100" u="none" cap="none" strike="noStrike">
                <a:solidFill>
                  <a:srgbClr val="FFFFFF"/>
                </a:solidFill>
                <a:highlight>
                  <a:srgbClr val="37373A"/>
                </a:highlight>
                <a:latin typeface="Consolas"/>
                <a:ea typeface="Consolas"/>
                <a:cs typeface="Consolas"/>
                <a:sym typeface="Consolas"/>
              </a:rPr>
              <a:t>  total_sales</a:t>
            </a:r>
            <a:endParaRPr b="0" i="0" sz="1100" u="none" cap="none" strike="noStrike"/>
          </a:p>
          <a:p>
            <a:pPr indent="0" lvl="0" marL="0" marR="0" rtl="0" algn="l">
              <a:lnSpc>
                <a:spcPct val="136363"/>
              </a:lnSpc>
              <a:spcBef>
                <a:spcPts val="0"/>
              </a:spcBef>
              <a:spcAft>
                <a:spcPts val="0"/>
              </a:spcAft>
              <a:buClr>
                <a:srgbClr val="FFFFFF"/>
              </a:buClr>
              <a:buSzPts val="1100"/>
              <a:buFont typeface="Consolas"/>
              <a:buNone/>
            </a:pPr>
            <a:r>
              <a:rPr b="0" i="0" lang="en-US" sz="1100" u="none" cap="none" strike="noStrike">
                <a:solidFill>
                  <a:srgbClr val="FFFFFF"/>
                </a:solidFill>
                <a:highlight>
                  <a:srgbClr val="37373A"/>
                </a:highlight>
                <a:latin typeface="Consolas"/>
                <a:ea typeface="Consolas"/>
                <a:cs typeface="Consolas"/>
                <a:sym typeface="Consolas"/>
              </a:rPr>
              <a:t>FROM ranked_products</a:t>
            </a:r>
            <a:endParaRPr b="0" i="0" sz="1100" u="none" cap="none" strike="noStrike"/>
          </a:p>
          <a:p>
            <a:pPr indent="0" lvl="0" marL="0" marR="0" rtl="0" algn="l">
              <a:lnSpc>
                <a:spcPct val="136363"/>
              </a:lnSpc>
              <a:spcBef>
                <a:spcPts val="0"/>
              </a:spcBef>
              <a:spcAft>
                <a:spcPts val="0"/>
              </a:spcAft>
              <a:buClr>
                <a:srgbClr val="FFFFFF"/>
              </a:buClr>
              <a:buSzPts val="1100"/>
              <a:buFont typeface="Consolas"/>
              <a:buNone/>
            </a:pPr>
            <a:r>
              <a:rPr b="0" i="0" lang="en-US" sz="1100" u="none" cap="none" strike="noStrike">
                <a:solidFill>
                  <a:srgbClr val="FFFFFF"/>
                </a:solidFill>
                <a:highlight>
                  <a:srgbClr val="37373A"/>
                </a:highlight>
                <a:latin typeface="Consolas"/>
                <a:ea typeface="Consolas"/>
                <a:cs typeface="Consolas"/>
                <a:sym typeface="Consolas"/>
              </a:rPr>
              <a:t>WHERE sales_rank &lt;= 3</a:t>
            </a:r>
            <a:endParaRPr b="0" i="0" sz="1100" u="none" cap="none" strike="noStrike"/>
          </a:p>
          <a:p>
            <a:pPr indent="0" lvl="0" marL="0" marR="0" rtl="0" algn="l">
              <a:lnSpc>
                <a:spcPct val="136363"/>
              </a:lnSpc>
              <a:spcBef>
                <a:spcPts val="0"/>
              </a:spcBef>
              <a:spcAft>
                <a:spcPts val="0"/>
              </a:spcAft>
              <a:buClr>
                <a:srgbClr val="FFFFFF"/>
              </a:buClr>
              <a:buSzPts val="1100"/>
              <a:buFont typeface="Consolas"/>
              <a:buNone/>
            </a:pPr>
            <a:r>
              <a:rPr b="0" i="0" lang="en-US" sz="1100" u="none" cap="none" strike="noStrike">
                <a:solidFill>
                  <a:srgbClr val="FFFFFF"/>
                </a:solidFill>
                <a:highlight>
                  <a:srgbClr val="37373A"/>
                </a:highlight>
                <a:latin typeface="Consolas"/>
                <a:ea typeface="Consolas"/>
                <a:cs typeface="Consolas"/>
                <a:sym typeface="Consolas"/>
              </a:rPr>
              <a:t>ORDER BY category, sales_rank;</a:t>
            </a:r>
            <a:endParaRPr b="0" i="0" sz="1100" u="none" cap="none" strike="noStrike"/>
          </a:p>
        </p:txBody>
      </p:sp>
      <p:sp>
        <p:nvSpPr>
          <p:cNvPr id="342" name="Google Shape;342;p36"/>
          <p:cNvSpPr/>
          <p:nvPr/>
        </p:nvSpPr>
        <p:spPr>
          <a:xfrm>
            <a:off x="2278499" y="6471171"/>
            <a:ext cx="3295200" cy="798900"/>
          </a:xfrm>
          <a:prstGeom prst="roundRect">
            <a:avLst>
              <a:gd fmla="val 7676" name="adj"/>
            </a:avLst>
          </a:prstGeom>
          <a:solidFill>
            <a:srgbClr val="2A2A2D">
              <a:alpha val="94901"/>
            </a:srgbClr>
          </a:solidFill>
          <a:ln cap="flat" cmpd="sng" w="15225">
            <a:solidFill>
              <a:srgbClr val="5656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36"/>
          <p:cNvSpPr/>
          <p:nvPr/>
        </p:nvSpPr>
        <p:spPr>
          <a:xfrm>
            <a:off x="2439710" y="6632382"/>
            <a:ext cx="1824900" cy="228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1400"/>
              <a:buFont typeface="Instrument Sans"/>
              <a:buNone/>
            </a:pPr>
            <a:r>
              <a:rPr b="0" i="0" lang="en-US" sz="1400" u="none" cap="none" strike="noStrike">
                <a:solidFill>
                  <a:srgbClr val="CFD0D8"/>
                </a:solidFill>
                <a:latin typeface="Instrument Sans"/>
                <a:ea typeface="Instrument Sans"/>
                <a:cs typeface="Instrument Sans"/>
                <a:sym typeface="Instrument Sans"/>
              </a:rPr>
              <a:t>Step 1: CTE</a:t>
            </a:r>
            <a:endParaRPr b="0" i="0" sz="1400" u="none" cap="none" strike="noStrike"/>
          </a:p>
        </p:txBody>
      </p:sp>
      <p:sp>
        <p:nvSpPr>
          <p:cNvPr id="344" name="Google Shape;344;p36"/>
          <p:cNvSpPr/>
          <p:nvPr/>
        </p:nvSpPr>
        <p:spPr>
          <a:xfrm>
            <a:off x="2439710" y="6916822"/>
            <a:ext cx="2972700" cy="1920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CFD0D8"/>
              </a:buClr>
              <a:buSzPts val="1100"/>
              <a:buFont typeface="Instrument Sans"/>
              <a:buNone/>
            </a:pPr>
            <a:r>
              <a:rPr b="0" i="0" lang="en-US" sz="1100" u="none" cap="none" strike="noStrike">
                <a:solidFill>
                  <a:srgbClr val="CFD0D8"/>
                </a:solidFill>
                <a:latin typeface="Instrument Sans"/>
                <a:ea typeface="Instrument Sans"/>
                <a:cs typeface="Instrument Sans"/>
                <a:sym typeface="Instrument Sans"/>
              </a:rPr>
              <a:t>Calculate rankings cleanly</a:t>
            </a:r>
            <a:endParaRPr b="0" i="0" sz="1100" u="none" cap="none" strike="noStrike"/>
          </a:p>
        </p:txBody>
      </p:sp>
      <p:sp>
        <p:nvSpPr>
          <p:cNvPr id="345" name="Google Shape;345;p36"/>
          <p:cNvSpPr/>
          <p:nvPr/>
        </p:nvSpPr>
        <p:spPr>
          <a:xfrm>
            <a:off x="5667613" y="6471171"/>
            <a:ext cx="3295200" cy="798900"/>
          </a:xfrm>
          <a:prstGeom prst="roundRect">
            <a:avLst>
              <a:gd fmla="val 7676" name="adj"/>
            </a:avLst>
          </a:prstGeom>
          <a:solidFill>
            <a:srgbClr val="2A2A2D">
              <a:alpha val="94901"/>
            </a:srgbClr>
          </a:solidFill>
          <a:ln cap="flat" cmpd="sng" w="15225">
            <a:solidFill>
              <a:srgbClr val="5656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6"/>
          <p:cNvSpPr/>
          <p:nvPr/>
        </p:nvSpPr>
        <p:spPr>
          <a:xfrm>
            <a:off x="5828824" y="6632382"/>
            <a:ext cx="1824900" cy="228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1400"/>
              <a:buFont typeface="Instrument Sans"/>
              <a:buNone/>
            </a:pPr>
            <a:r>
              <a:rPr b="0" i="0" lang="en-US" sz="1400" u="none" cap="none" strike="noStrike">
                <a:solidFill>
                  <a:srgbClr val="CFD0D8"/>
                </a:solidFill>
                <a:latin typeface="Instrument Sans"/>
                <a:ea typeface="Instrument Sans"/>
                <a:cs typeface="Instrument Sans"/>
                <a:sym typeface="Instrument Sans"/>
              </a:rPr>
              <a:t>Step 2: Filter</a:t>
            </a:r>
            <a:endParaRPr b="0" i="0" sz="1400" u="none" cap="none" strike="noStrike"/>
          </a:p>
        </p:txBody>
      </p:sp>
      <p:sp>
        <p:nvSpPr>
          <p:cNvPr id="347" name="Google Shape;347;p36"/>
          <p:cNvSpPr/>
          <p:nvPr/>
        </p:nvSpPr>
        <p:spPr>
          <a:xfrm>
            <a:off x="5828824" y="6916822"/>
            <a:ext cx="2972700" cy="1920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CFD0D8"/>
              </a:buClr>
              <a:buSzPts val="1100"/>
              <a:buFont typeface="Instrument Sans"/>
              <a:buNone/>
            </a:pPr>
            <a:r>
              <a:rPr b="0" i="0" lang="en-US" sz="1100" u="none" cap="none" strike="noStrike">
                <a:solidFill>
                  <a:srgbClr val="CFD0D8"/>
                </a:solidFill>
                <a:latin typeface="Instrument Sans"/>
                <a:ea typeface="Instrument Sans"/>
                <a:cs typeface="Instrument Sans"/>
                <a:sym typeface="Instrument Sans"/>
              </a:rPr>
              <a:t>Apply WHERE on ranked results</a:t>
            </a:r>
            <a:endParaRPr b="0" i="0" sz="1100" u="none" cap="none" strike="noStrike"/>
          </a:p>
        </p:txBody>
      </p:sp>
      <p:sp>
        <p:nvSpPr>
          <p:cNvPr id="348" name="Google Shape;348;p36"/>
          <p:cNvSpPr/>
          <p:nvPr/>
        </p:nvSpPr>
        <p:spPr>
          <a:xfrm>
            <a:off x="9056727" y="6471171"/>
            <a:ext cx="3295200" cy="798900"/>
          </a:xfrm>
          <a:prstGeom prst="roundRect">
            <a:avLst>
              <a:gd fmla="val 7676" name="adj"/>
            </a:avLst>
          </a:prstGeom>
          <a:solidFill>
            <a:srgbClr val="2A2A2D">
              <a:alpha val="94901"/>
            </a:srgbClr>
          </a:solidFill>
          <a:ln cap="flat" cmpd="sng" w="15225">
            <a:solidFill>
              <a:srgbClr val="56565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36"/>
          <p:cNvSpPr/>
          <p:nvPr/>
        </p:nvSpPr>
        <p:spPr>
          <a:xfrm>
            <a:off x="9217938" y="6632382"/>
            <a:ext cx="1824900" cy="22800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CFD0D8"/>
              </a:buClr>
              <a:buSzPts val="1400"/>
              <a:buFont typeface="Instrument Sans"/>
              <a:buNone/>
            </a:pPr>
            <a:r>
              <a:rPr b="0" i="0" lang="en-US" sz="1400" u="none" cap="none" strike="noStrike">
                <a:solidFill>
                  <a:srgbClr val="CFD0D8"/>
                </a:solidFill>
                <a:latin typeface="Instrument Sans"/>
                <a:ea typeface="Instrument Sans"/>
                <a:cs typeface="Instrument Sans"/>
                <a:sym typeface="Instrument Sans"/>
              </a:rPr>
              <a:t>Result</a:t>
            </a:r>
            <a:endParaRPr b="0" i="0" sz="1400" u="none" cap="none" strike="noStrike"/>
          </a:p>
        </p:txBody>
      </p:sp>
      <p:sp>
        <p:nvSpPr>
          <p:cNvPr id="350" name="Google Shape;350;p36"/>
          <p:cNvSpPr/>
          <p:nvPr/>
        </p:nvSpPr>
        <p:spPr>
          <a:xfrm>
            <a:off x="9217938" y="6916822"/>
            <a:ext cx="2972700" cy="1920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CFD0D8"/>
              </a:buClr>
              <a:buSzPts val="1100"/>
              <a:buFont typeface="Instrument Sans"/>
              <a:buNone/>
            </a:pPr>
            <a:r>
              <a:rPr b="0" i="0" lang="en-US" sz="1100" u="none" cap="none" strike="noStrike">
                <a:solidFill>
                  <a:srgbClr val="CFD0D8"/>
                </a:solidFill>
                <a:latin typeface="Instrument Sans"/>
                <a:ea typeface="Instrument Sans"/>
                <a:cs typeface="Instrument Sans"/>
                <a:sym typeface="Instrument Sans"/>
              </a:rPr>
              <a:t>Clean, maintainable query</a:t>
            </a:r>
            <a:endParaRPr b="0" i="0" sz="1100" u="none" cap="none" strike="noStrike"/>
          </a:p>
        </p:txBody>
      </p:sp>
      <p:sp>
        <p:nvSpPr>
          <p:cNvPr id="351" name="Google Shape;351;p36"/>
          <p:cNvSpPr/>
          <p:nvPr/>
        </p:nvSpPr>
        <p:spPr>
          <a:xfrm>
            <a:off x="2278499" y="7375570"/>
            <a:ext cx="10073400" cy="192000"/>
          </a:xfrm>
          <a:prstGeom prst="rect">
            <a:avLst/>
          </a:prstGeom>
          <a:noFill/>
          <a:ln>
            <a:noFill/>
          </a:ln>
        </p:spPr>
        <p:txBody>
          <a:bodyPr anchorCtr="0" anchor="t" bIns="0" lIns="0" spcFirstLastPara="1" rIns="0" wrap="square" tIns="0">
            <a:noAutofit/>
          </a:bodyPr>
          <a:lstStyle/>
          <a:p>
            <a:pPr indent="0" lvl="0" marL="0" marR="0" rtl="0" algn="l">
              <a:lnSpc>
                <a:spcPct val="136363"/>
              </a:lnSpc>
              <a:spcBef>
                <a:spcPts val="0"/>
              </a:spcBef>
              <a:spcAft>
                <a:spcPts val="0"/>
              </a:spcAft>
              <a:buClr>
                <a:srgbClr val="CFD0D8"/>
              </a:buClr>
              <a:buSzPts val="1100"/>
              <a:buFont typeface="Instrument Sans"/>
              <a:buNone/>
            </a:pPr>
            <a:r>
              <a:rPr b="1" i="0" lang="en-US" sz="1100" u="none" cap="none" strike="noStrike">
                <a:solidFill>
                  <a:srgbClr val="CFD0D8"/>
                </a:solidFill>
                <a:latin typeface="Instrument Sans"/>
                <a:ea typeface="Instrument Sans"/>
                <a:cs typeface="Instrument Sans"/>
                <a:sym typeface="Instrument Sans"/>
              </a:rPr>
              <a:t>Key takeaway:</a:t>
            </a:r>
            <a:r>
              <a:rPr b="0" i="0" lang="en-US" sz="1100" u="none" cap="none" strike="noStrike">
                <a:solidFill>
                  <a:srgbClr val="CFD0D8"/>
                </a:solidFill>
                <a:latin typeface="Instrument Sans"/>
                <a:ea typeface="Instrument Sans"/>
                <a:cs typeface="Instrument Sans"/>
                <a:sym typeface="Instrument Sans"/>
              </a:rPr>
              <a:t> You can't filter window functions in WHERE—use a CTE to rank first, then filter the CTE results.</a:t>
            </a:r>
            <a:endParaRPr b="0" i="0" sz="1100" u="none" cap="none" strike="noStrike"/>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37"/>
          <p:cNvSpPr/>
          <p:nvPr/>
        </p:nvSpPr>
        <p:spPr>
          <a:xfrm>
            <a:off x="793790" y="3043118"/>
            <a:ext cx="6251496"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CBCCCE"/>
              </a:buClr>
              <a:buSzPts val="4450"/>
              <a:buFont typeface="Instrument Sans"/>
              <a:buNone/>
            </a:pPr>
            <a:r>
              <a:rPr b="0" i="0" lang="en-US" sz="4450" u="none" cap="none" strike="noStrike">
                <a:solidFill>
                  <a:srgbClr val="CBCCCE"/>
                </a:solidFill>
                <a:latin typeface="Instrument Sans"/>
                <a:ea typeface="Instrument Sans"/>
                <a:cs typeface="Instrument Sans"/>
                <a:sym typeface="Instrument Sans"/>
              </a:rPr>
              <a:t>Exercises for next week</a:t>
            </a:r>
            <a:endParaRPr b="0" i="0" sz="4450" u="none" cap="none" strike="noStrike"/>
          </a:p>
        </p:txBody>
      </p:sp>
      <p:sp>
        <p:nvSpPr>
          <p:cNvPr id="358" name="Google Shape;358;p37"/>
          <p:cNvSpPr/>
          <p:nvPr/>
        </p:nvSpPr>
        <p:spPr>
          <a:xfrm>
            <a:off x="793790" y="4205526"/>
            <a:ext cx="130428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SzPts val="1750"/>
              <a:buFont typeface="Arial"/>
              <a:buNone/>
            </a:pPr>
            <a:r>
              <a:t/>
            </a:r>
            <a:endParaRPr b="0" i="0" sz="1750" u="none" cap="none" strike="noStrike"/>
          </a:p>
        </p:txBody>
      </p:sp>
      <p:sp>
        <p:nvSpPr>
          <p:cNvPr id="359" name="Google Shape;359;p37"/>
          <p:cNvSpPr/>
          <p:nvPr/>
        </p:nvSpPr>
        <p:spPr>
          <a:xfrm>
            <a:off x="793790" y="4823579"/>
            <a:ext cx="13042821" cy="36290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D5D5D8"/>
              </a:buClr>
              <a:buSzPts val="1750"/>
              <a:buFont typeface="Instrument Sans"/>
              <a:buNone/>
            </a:pPr>
            <a:r>
              <a:rPr b="0" i="0" lang="en-US" sz="1750" u="sng" cap="none" strike="noStrike">
                <a:solidFill>
                  <a:schemeClr val="hlink"/>
                </a:solidFill>
                <a:latin typeface="Instrument Sans"/>
                <a:ea typeface="Instrument Sans"/>
                <a:cs typeface="Instrument Sans"/>
                <a:sym typeface="Instrument Sans"/>
                <a:hlinkClick r:id="rId3"/>
              </a:rPr>
              <a:t>https://docs.google.com/document/d/1DgbcrieuO4TGqAlZXvQbjmF_Bj_VGgocjmmAFNB7SVY/edit</a:t>
            </a:r>
            <a:endParaRPr b="0" i="0" sz="17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