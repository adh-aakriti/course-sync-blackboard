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Roboto Slab"/>
      <p:regular r:id="rId22"/>
      <p:bold r:id="rId23"/>
    </p:embeddedFont>
    <p:embeddedFont>
      <p:font typeface="Roboto"/>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obotoSlab-regular.fntdata"/><Relationship Id="rId21" Type="http://schemas.openxmlformats.org/officeDocument/2006/relationships/slide" Target="slides/slide16.xml"/><Relationship Id="rId24" Type="http://schemas.openxmlformats.org/officeDocument/2006/relationships/font" Target="fonts/Roboto-regular.fntdata"/><Relationship Id="rId23" Type="http://schemas.openxmlformats.org/officeDocument/2006/relationships/font" Target="fonts/RobotoSlab-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italic.fntdata"/><Relationship Id="rId25" Type="http://schemas.openxmlformats.org/officeDocument/2006/relationships/font" Target="fonts/Roboto-bold.fntdata"/><Relationship Id="rId27" Type="http://schemas.openxmlformats.org/officeDocument/2006/relationships/font" Target="fonts/Robo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9134081edc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29134081edc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9134081edc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29134081edc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c43cd9268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c43cd9268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07ebf4633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07ebf4633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07ebf46330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07ebf46330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07ebf4633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07ebf4633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07ebf46330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07ebf46330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9134081edc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9134081edc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07ebf46330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07ebf46330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9134081edc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29134081edc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9134081edc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9134081edc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9134081edc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9134081edc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9134081edc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9134081edc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9134081edc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29134081edc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9134081edc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9134081edc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1524800" y="672606"/>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sp>
        <p:nvSpPr>
          <p:cNvPr id="11" name="Google Shape;11;p2"/>
          <p:cNvSpPr/>
          <p:nvPr/>
        </p:nvSpPr>
        <p:spPr>
          <a:xfrm rot="10800000">
            <a:off x="6537563" y="3342925"/>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cxnSp>
        <p:nvCxnSpPr>
          <p:cNvPr id="12" name="Google Shape;12;p2"/>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3" name="Google Shape;13;p2"/>
          <p:cNvSpPr txBox="1"/>
          <p:nvPr>
            <p:ph type="ctrTitle"/>
          </p:nvPr>
        </p:nvSpPr>
        <p:spPr>
          <a:xfrm>
            <a:off x="1680302" y="1188925"/>
            <a:ext cx="5783400" cy="1457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p:txBody>
      </p:sp>
      <p:sp>
        <p:nvSpPr>
          <p:cNvPr id="14" name="Google Shape;14;p2"/>
          <p:cNvSpPr txBox="1"/>
          <p:nvPr>
            <p:ph idx="1" type="subTitle"/>
          </p:nvPr>
        </p:nvSpPr>
        <p:spPr>
          <a:xfrm>
            <a:off x="1680302" y="3049450"/>
            <a:ext cx="5783400" cy="9090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p:txBody>
      </p:sp>
      <p:sp>
        <p:nvSpPr>
          <p:cNvPr id="15" name="Google Shape;15;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8" name="Google Shape;18;p3"/>
          <p:cNvSpPr txBox="1"/>
          <p:nvPr>
            <p:ph type="title"/>
          </p:nvPr>
        </p:nvSpPr>
        <p:spPr>
          <a:xfrm>
            <a:off x="480750" y="1764950"/>
            <a:ext cx="8222100" cy="907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2" name="Google Shape;22;p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4"/>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7" name="Google Shape;27;p5"/>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5"/>
          <p:cNvSpPr txBox="1"/>
          <p:nvPr>
            <p:ph idx="1" type="body"/>
          </p:nvPr>
        </p:nvSpPr>
        <p:spPr>
          <a:xfrm>
            <a:off x="387900" y="1489825"/>
            <a:ext cx="3999900" cy="3078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756200" y="1489825"/>
            <a:ext cx="3999900" cy="3078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cap="flat" cmpd="sng" w="38100">
            <a:solidFill>
              <a:schemeClr val="accent4"/>
            </a:solidFill>
            <a:prstDash val="solid"/>
            <a:round/>
            <a:headEnd len="sm" w="sm" type="none"/>
            <a:tailEnd len="sm" w="sm" type="none"/>
          </a:ln>
        </p:spPr>
      </p:cxnSp>
      <p:sp>
        <p:nvSpPr>
          <p:cNvPr id="36" name="Google Shape;36;p7"/>
          <p:cNvSpPr txBox="1"/>
          <p:nvPr>
            <p:ph type="title"/>
          </p:nvPr>
        </p:nvSpPr>
        <p:spPr>
          <a:xfrm>
            <a:off x="3879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7" name="Google Shape;37;p7"/>
          <p:cNvSpPr txBox="1"/>
          <p:nvPr>
            <p:ph idx="1" type="body"/>
          </p:nvPr>
        </p:nvSpPr>
        <p:spPr>
          <a:xfrm>
            <a:off x="387900" y="1594025"/>
            <a:ext cx="2808000" cy="2681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8" name="Google Shape;3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1" name="Google Shape;41;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 name="Google Shape;44;p9"/>
          <p:cNvCxnSpPr/>
          <p:nvPr/>
        </p:nvCxnSpPr>
        <p:spPr>
          <a:xfrm>
            <a:off x="5029675" y="4495503"/>
            <a:ext cx="540900" cy="0"/>
          </a:xfrm>
          <a:prstGeom prst="straightConnector1">
            <a:avLst/>
          </a:prstGeom>
          <a:noFill/>
          <a:ln cap="flat" cmpd="sng" w="38100">
            <a:solidFill>
              <a:schemeClr val="accent5"/>
            </a:solidFill>
            <a:prstDash val="solid"/>
            <a:round/>
            <a:headEnd len="sm" w="sm" type="none"/>
            <a:tailEnd len="sm" w="sm" type="none"/>
          </a:ln>
        </p:spPr>
      </p:cxnSp>
      <p:sp>
        <p:nvSpPr>
          <p:cNvPr id="45" name="Google Shape;45;p9"/>
          <p:cNvSpPr txBox="1"/>
          <p:nvPr>
            <p:ph type="title"/>
          </p:nvPr>
        </p:nvSpPr>
        <p:spPr>
          <a:xfrm>
            <a:off x="265500" y="1209075"/>
            <a:ext cx="4045200" cy="15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6" name="Google Shape;46;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47" name="Google Shape;47;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8" name="Google Shape;4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0"/>
          <p:cNvSpPr txBox="1"/>
          <p:nvPr>
            <p:ph idx="1" type="body"/>
          </p:nvPr>
        </p:nvSpPr>
        <p:spPr>
          <a:xfrm>
            <a:off x="319500" y="4233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p:txBody>
      </p:sp>
      <p:sp>
        <p:nvSpPr>
          <p:cNvPr id="51" name="Google Shape;5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1"/>
          <p:cNvSpPr txBox="1"/>
          <p:nvPr>
            <p:ph hasCustomPrompt="1" type="title"/>
          </p:nvPr>
        </p:nvSpPr>
        <p:spPr>
          <a:xfrm>
            <a:off x="387900" y="1152450"/>
            <a:ext cx="83682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p:nvPr>
            <p:ph idx="1" type="body"/>
          </p:nvPr>
        </p:nvSpPr>
        <p:spPr>
          <a:xfrm>
            <a:off x="387900" y="2919450"/>
            <a:ext cx="83682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6" name="Google Shape;56;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rina">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p:txBody>
      </p:sp>
      <p:sp>
        <p:nvSpPr>
          <p:cNvPr id="7" name="Google Shape;7;p1"/>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17500" lvl="1" marL="914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portal.influxdata.com/downloads/?_gl=1*e2r4ck*_ga*NDIzODE0OTM4LjE2OTc3NDk5MTU.*_ga_CNWQ54SDD8*MTY5Nzc0OTkxNS4xLjEuMTY5Nzc0OTk0Mi4zMy4wLjA."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github.com/Joangaes/sakila_visualization/tree/main" TargetMode="External"/><Relationship Id="rId4" Type="http://schemas.openxmlformats.org/officeDocument/2006/relationships/hyperlink" Target="https://towardsdatascience.com/time-series-forecasting-with-arima-sarima-and-sarimax-ee61099e78f6"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3"/>
          <p:cNvSpPr txBox="1"/>
          <p:nvPr>
            <p:ph type="ctrTitle"/>
          </p:nvPr>
        </p:nvSpPr>
        <p:spPr>
          <a:xfrm>
            <a:off x="1680302" y="1188925"/>
            <a:ext cx="5783400" cy="14574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Date and Time Functions</a:t>
            </a:r>
            <a:endParaRPr/>
          </a:p>
        </p:txBody>
      </p:sp>
      <p:sp>
        <p:nvSpPr>
          <p:cNvPr id="64" name="Google Shape;64;p13"/>
          <p:cNvSpPr txBox="1"/>
          <p:nvPr>
            <p:ph idx="1" type="subTitle"/>
          </p:nvPr>
        </p:nvSpPr>
        <p:spPr>
          <a:xfrm>
            <a:off x="1680302" y="3049450"/>
            <a:ext cx="5783400" cy="9090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Date time functions</a:t>
            </a:r>
            <a:endParaRPr/>
          </a:p>
        </p:txBody>
      </p:sp>
      <p:sp>
        <p:nvSpPr>
          <p:cNvPr id="70" name="Google Shape;70;p14"/>
          <p:cNvSpPr txBox="1"/>
          <p:nvPr>
            <p:ph idx="1" type="body"/>
          </p:nvPr>
        </p:nvSpPr>
        <p:spPr>
          <a:xfrm>
            <a:off x="387900" y="1489824"/>
            <a:ext cx="8368200" cy="3078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GB"/>
              <a:t>Date and Time Functions in SQL:</a:t>
            </a:r>
            <a:r>
              <a:rPr lang="en-GB"/>
              <a:t> We will explore the various date and time functions available in SQL, which enable us to manipulate and analyze time-related data within relational databases.</a:t>
            </a:r>
            <a:endParaRPr/>
          </a:p>
          <a:p>
            <a:pPr indent="0" lvl="0" marL="0" rtl="0" algn="l">
              <a:spcBef>
                <a:spcPts val="1200"/>
              </a:spcBef>
              <a:spcAft>
                <a:spcPts val="0"/>
              </a:spcAft>
              <a:buNone/>
            </a:pPr>
            <a:r>
              <a:rPr b="1" lang="en-GB"/>
              <a:t>Time-Series Analysis in SQL:</a:t>
            </a:r>
            <a:r>
              <a:rPr lang="en-GB"/>
              <a:t> We will delve into the concept of time-series data and how SQL can be used to analyze and visualize time-dependent information effectively.</a:t>
            </a:r>
            <a:endParaRPr/>
          </a:p>
          <a:p>
            <a:pPr indent="0" lvl="0" marL="0" rtl="0" algn="l">
              <a:spcBef>
                <a:spcPts val="1200"/>
              </a:spcBef>
              <a:spcAft>
                <a:spcPts val="1200"/>
              </a:spcAft>
              <a:buNone/>
            </a:pPr>
            <a:r>
              <a:rPr b="1" lang="en-GB"/>
              <a:t>Time-Series Databases:</a:t>
            </a:r>
            <a:r>
              <a:rPr lang="en-GB"/>
              <a:t> We will introduce the concept of time-series databases and explain how they are different from traditional relational databases, and why they are essential for managing time-series data.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Basic Date and Time Functions</a:t>
            </a:r>
            <a:endParaRPr/>
          </a:p>
        </p:txBody>
      </p:sp>
      <p:sp>
        <p:nvSpPr>
          <p:cNvPr id="76" name="Google Shape;76;p15"/>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NOW</a:t>
            </a:r>
            <a:r>
              <a:rPr lang="en-GB"/>
              <a:t>(): Retrieves the current date and time.</a:t>
            </a:r>
            <a:endParaRPr/>
          </a:p>
          <a:p>
            <a:pPr indent="0" lvl="0" marL="0" rtl="0" algn="l">
              <a:spcBef>
                <a:spcPts val="1200"/>
              </a:spcBef>
              <a:spcAft>
                <a:spcPts val="0"/>
              </a:spcAft>
              <a:buNone/>
            </a:pPr>
            <a:r>
              <a:rPr lang="en-GB"/>
              <a:t>DATEADD(): Adds a specific amount of time to a date.</a:t>
            </a:r>
            <a:endParaRPr/>
          </a:p>
          <a:p>
            <a:pPr indent="0" lvl="0" marL="0" rtl="0" algn="l">
              <a:spcBef>
                <a:spcPts val="1200"/>
              </a:spcBef>
              <a:spcAft>
                <a:spcPts val="0"/>
              </a:spcAft>
              <a:buNone/>
            </a:pPr>
            <a:r>
              <a:rPr lang="en-GB"/>
              <a:t>DATEDIFF(): Calculates the difference between two dates or times.</a:t>
            </a:r>
            <a:endParaRPr/>
          </a:p>
          <a:p>
            <a:pPr indent="0" lvl="0" marL="0" rtl="0" algn="l">
              <a:spcBef>
                <a:spcPts val="1200"/>
              </a:spcBef>
              <a:spcAft>
                <a:spcPts val="1200"/>
              </a:spcAft>
              <a:buNone/>
            </a:pPr>
            <a:r>
              <a:rPr lang="en-GB"/>
              <a:t>DATEPART(): Extracts a specific part (e.g., year, month, day) from a date.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82" name="Google Shape;82;p16"/>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https://timezonemap.info/</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NOW</a:t>
            </a:r>
            <a:endParaRPr/>
          </a:p>
        </p:txBody>
      </p:sp>
      <p:sp>
        <p:nvSpPr>
          <p:cNvPr id="88" name="Google Shape;88;p17"/>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SELECT NOW() AS current_datetime;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Date Add</a:t>
            </a:r>
            <a:endParaRPr/>
          </a:p>
        </p:txBody>
      </p:sp>
      <p:sp>
        <p:nvSpPr>
          <p:cNvPr id="94" name="Google Shape;94;p18"/>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SELECT rental_id, rental_date, DATE_ADD(rental_date, INTERVAL 7 DAY) AS extended_return_date</a:t>
            </a:r>
            <a:endParaRPr/>
          </a:p>
          <a:p>
            <a:pPr indent="0" lvl="0" marL="0" rtl="0" algn="l">
              <a:spcBef>
                <a:spcPts val="1200"/>
              </a:spcBef>
              <a:spcAft>
                <a:spcPts val="0"/>
              </a:spcAft>
              <a:buNone/>
            </a:pPr>
            <a:r>
              <a:rPr lang="en-GB"/>
              <a:t>FROM rental</a:t>
            </a:r>
            <a:endParaRPr/>
          </a:p>
          <a:p>
            <a:pPr indent="0" lvl="0" marL="0" rtl="0" algn="l">
              <a:spcBef>
                <a:spcPts val="1200"/>
              </a:spcBef>
              <a:spcAft>
                <a:spcPts val="1200"/>
              </a:spcAft>
              <a:buNone/>
            </a:pPr>
            <a:r>
              <a:rPr lang="en-GB"/>
              <a:t>LIMIT 5;</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Date Diff</a:t>
            </a:r>
            <a:endParaRPr/>
          </a:p>
        </p:txBody>
      </p:sp>
      <p:sp>
        <p:nvSpPr>
          <p:cNvPr id="100" name="Google Shape;100;p19"/>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SELECT customer_id, MAX(rental_date) AS last_rental, DATEDIFF(NOW(), MAX(rental_date)) AS days_since_last_rental</a:t>
            </a:r>
            <a:endParaRPr/>
          </a:p>
          <a:p>
            <a:pPr indent="0" lvl="0" marL="0" rtl="0" algn="l">
              <a:spcBef>
                <a:spcPts val="1200"/>
              </a:spcBef>
              <a:spcAft>
                <a:spcPts val="0"/>
              </a:spcAft>
              <a:buNone/>
            </a:pPr>
            <a:r>
              <a:rPr lang="en-GB"/>
              <a:t>FROM rental</a:t>
            </a:r>
            <a:endParaRPr/>
          </a:p>
          <a:p>
            <a:pPr indent="0" lvl="0" marL="0" rtl="0" algn="l">
              <a:spcBef>
                <a:spcPts val="1200"/>
              </a:spcBef>
              <a:spcAft>
                <a:spcPts val="0"/>
              </a:spcAft>
              <a:buNone/>
            </a:pPr>
            <a:r>
              <a:rPr lang="en-GB"/>
              <a:t>GROUP BY customer_id</a:t>
            </a:r>
            <a:endParaRPr/>
          </a:p>
          <a:p>
            <a:pPr indent="0" lvl="0" marL="0" rtl="0" algn="l">
              <a:spcBef>
                <a:spcPts val="1200"/>
              </a:spcBef>
              <a:spcAft>
                <a:spcPts val="0"/>
              </a:spcAft>
              <a:buNone/>
            </a:pPr>
            <a:r>
              <a:rPr lang="en-GB"/>
              <a:t>ORDER BY days_since_last_rental ASC</a:t>
            </a:r>
            <a:endParaRPr/>
          </a:p>
          <a:p>
            <a:pPr indent="0" lvl="0" marL="0" rtl="0" algn="l">
              <a:spcBef>
                <a:spcPts val="1200"/>
              </a:spcBef>
              <a:spcAft>
                <a:spcPts val="1200"/>
              </a:spcAft>
              <a:buNone/>
            </a:pPr>
            <a:r>
              <a:rPr lang="en-GB"/>
              <a:t>LIMIT 5;</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0"/>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Extract</a:t>
            </a:r>
            <a:endParaRPr/>
          </a:p>
        </p:txBody>
      </p:sp>
      <p:sp>
        <p:nvSpPr>
          <p:cNvPr id="106" name="Google Shape;106;p20"/>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SELECT rental_id, rental_date, EXTRACT(MONTH FROM rental_date) AS rental_month, EXTRACT(YEAR FROM rental_date) AS rental_year</a:t>
            </a:r>
            <a:endParaRPr/>
          </a:p>
          <a:p>
            <a:pPr indent="0" lvl="0" marL="0" rtl="0" algn="l">
              <a:spcBef>
                <a:spcPts val="1200"/>
              </a:spcBef>
              <a:spcAft>
                <a:spcPts val="0"/>
              </a:spcAft>
              <a:buNone/>
            </a:pPr>
            <a:r>
              <a:rPr lang="en-GB"/>
              <a:t>FROM rental</a:t>
            </a:r>
            <a:endParaRPr/>
          </a:p>
          <a:p>
            <a:pPr indent="0" lvl="0" marL="0" rtl="0" algn="l">
              <a:spcBef>
                <a:spcPts val="1200"/>
              </a:spcBef>
              <a:spcAft>
                <a:spcPts val="0"/>
              </a:spcAft>
              <a:buNone/>
            </a:pPr>
            <a:r>
              <a:rPr lang="en-GB"/>
              <a:t>ORDER BY rental_date DESC</a:t>
            </a:r>
            <a:endParaRPr/>
          </a:p>
          <a:p>
            <a:pPr indent="0" lvl="0" marL="0" rtl="0" algn="l">
              <a:spcBef>
                <a:spcPts val="1200"/>
              </a:spcBef>
              <a:spcAft>
                <a:spcPts val="1200"/>
              </a:spcAft>
              <a:buNone/>
            </a:pPr>
            <a:r>
              <a:rPr lang="en-GB"/>
              <a:t>LIMIT 5;</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1"/>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Formatting dates and timezones</a:t>
            </a:r>
            <a:endParaRPr/>
          </a:p>
        </p:txBody>
      </p:sp>
      <p:sp>
        <p:nvSpPr>
          <p:cNvPr id="112" name="Google Shape;112;p21"/>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FORMAT(): This function allows you to format a date or time into a specific string representation, making it more human-readable.</a:t>
            </a:r>
            <a:endParaRPr/>
          </a:p>
          <a:p>
            <a:pPr indent="0" lvl="0" marL="0" rtl="0" algn="l">
              <a:spcBef>
                <a:spcPts val="1200"/>
              </a:spcBef>
              <a:spcAft>
                <a:spcPts val="1200"/>
              </a:spcAft>
              <a:buNone/>
            </a:pPr>
            <a:r>
              <a:rPr lang="en-GB"/>
              <a:t>SWITCHOFFSET(): Adjusts the time zone offset for a given datetime value.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Exercise and homework</a:t>
            </a:r>
            <a:endParaRPr/>
          </a:p>
        </p:txBody>
      </p:sp>
      <p:sp>
        <p:nvSpPr>
          <p:cNvPr id="118" name="Google Shape;118;p22"/>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https://docs.google.com/document/d/1XcRi0q1dy8uBF7HG5ZDBqdnbfS8zIe_l_jF3TLNhtps/edit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Analyzing Time-Series data in SQL</a:t>
            </a:r>
            <a:endParaRPr/>
          </a:p>
        </p:txBody>
      </p:sp>
      <p:sp>
        <p:nvSpPr>
          <p:cNvPr id="124" name="Google Shape;124;p23"/>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a:t>Window Functions:</a:t>
            </a:r>
            <a:r>
              <a:rPr lang="en-GB"/>
              <a:t> Utilizing window functions like LAG, LEAD, and OVER() to perform operations on data within a specific time frame.</a:t>
            </a:r>
            <a:endParaRPr/>
          </a:p>
          <a:p>
            <a:pPr indent="0" lvl="0" marL="0" rtl="0" algn="l">
              <a:spcBef>
                <a:spcPts val="1200"/>
              </a:spcBef>
              <a:spcAft>
                <a:spcPts val="0"/>
              </a:spcAft>
              <a:buNone/>
            </a:pPr>
            <a:r>
              <a:rPr b="1" lang="en-GB"/>
              <a:t>Time-Series Patterns:</a:t>
            </a:r>
            <a:r>
              <a:rPr lang="en-GB"/>
              <a:t> Identifying patterns, trends, and seasonality in time-series data using SQL queries.</a:t>
            </a:r>
            <a:endParaRPr/>
          </a:p>
          <a:p>
            <a:pPr indent="0" lvl="0" marL="0" rtl="0" algn="l">
              <a:spcBef>
                <a:spcPts val="1200"/>
              </a:spcBef>
              <a:spcAft>
                <a:spcPts val="1200"/>
              </a:spcAft>
              <a:buNone/>
            </a:pPr>
            <a:r>
              <a:rPr b="1" lang="en-GB"/>
              <a:t>Moving Averages:</a:t>
            </a:r>
            <a:r>
              <a:rPr lang="en-GB"/>
              <a:t> Calculating moving averages to smooth out noisy data.</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Visualizing data</a:t>
            </a:r>
            <a:endParaRPr/>
          </a:p>
        </p:txBody>
      </p:sp>
      <p:sp>
        <p:nvSpPr>
          <p:cNvPr id="130" name="Google Shape;130;p24"/>
          <p:cNvSpPr txBox="1"/>
          <p:nvPr>
            <p:ph idx="1" type="body"/>
          </p:nvPr>
        </p:nvSpPr>
        <p:spPr>
          <a:xfrm>
            <a:off x="387900" y="1489824"/>
            <a:ext cx="8368200" cy="3078900"/>
          </a:xfrm>
          <a:prstGeom prst="rect">
            <a:avLst/>
          </a:prstGeom>
        </p:spPr>
        <p:txBody>
          <a:bodyPr anchorCtr="0" anchor="t" bIns="91425" lIns="91425" spcFirstLastPara="1" rIns="91425" wrap="square" tIns="91425">
            <a:normAutofit fontScale="77500" lnSpcReduction="20000"/>
          </a:bodyPr>
          <a:lstStyle/>
          <a:p>
            <a:pPr indent="-317182" lvl="0" marL="457200" rtl="0" algn="l">
              <a:spcBef>
                <a:spcPts val="0"/>
              </a:spcBef>
              <a:spcAft>
                <a:spcPts val="0"/>
              </a:spcAft>
              <a:buSzPct val="100000"/>
              <a:buAutoNum type="arabicPeriod"/>
            </a:pPr>
            <a:r>
              <a:rPr lang="en-GB"/>
              <a:t>Select Visualization Tool: Choose a suitable visualization tool to create charts or graphs. While SQL itself is not typically used for visualization, it can be paired with various external tools that are designed for this purpose. Some common choices include:</a:t>
            </a:r>
            <a:endParaRPr/>
          </a:p>
          <a:p>
            <a:pPr indent="-297497" lvl="1" marL="914400" rtl="0" algn="l">
              <a:spcBef>
                <a:spcPts val="0"/>
              </a:spcBef>
              <a:spcAft>
                <a:spcPts val="0"/>
              </a:spcAft>
              <a:buSzPct val="100000"/>
              <a:buAutoNum type="alphaLcPeriod"/>
            </a:pPr>
            <a:r>
              <a:rPr lang="en-GB"/>
              <a:t>Business Intelligence (BI) Tools: Tools like Tableau, Power BI, or Looker can connect to your SQL database, and you can create interactive dashboards and reports.</a:t>
            </a:r>
            <a:endParaRPr/>
          </a:p>
          <a:p>
            <a:pPr indent="-297497" lvl="1" marL="914400" rtl="0" algn="l">
              <a:spcBef>
                <a:spcPts val="0"/>
              </a:spcBef>
              <a:spcAft>
                <a:spcPts val="0"/>
              </a:spcAft>
              <a:buSzPct val="100000"/>
              <a:buAutoNum type="alphaLcPeriod"/>
            </a:pPr>
            <a:r>
              <a:rPr lang="en-GB"/>
              <a:t>Data Visualization Libraries: Libraries like D3.js, Matplotlib, or Plotly can be used with programming languages such as JavaScript or Python. You can query your SQL database and then use these libraries to create custom visualizations.</a:t>
            </a:r>
            <a:endParaRPr/>
          </a:p>
          <a:p>
            <a:pPr indent="-297497" lvl="1" marL="914400" rtl="0" algn="l">
              <a:spcBef>
                <a:spcPts val="0"/>
              </a:spcBef>
              <a:spcAft>
                <a:spcPts val="0"/>
              </a:spcAft>
              <a:buSzPct val="100000"/>
              <a:buAutoNum type="alphaLcPeriod"/>
            </a:pPr>
            <a:r>
              <a:rPr lang="en-GB"/>
              <a:t>SQL Extensions: Some SQL database management systems have built-in charting extensions, such as PostgreSQL's "pgChart" extension.</a:t>
            </a:r>
            <a:endParaRPr/>
          </a:p>
          <a:p>
            <a:pPr indent="-317182" lvl="0" marL="457200" rtl="0" algn="l">
              <a:spcBef>
                <a:spcPts val="0"/>
              </a:spcBef>
              <a:spcAft>
                <a:spcPts val="0"/>
              </a:spcAft>
              <a:buSzPct val="100000"/>
              <a:buAutoNum type="arabicPeriod"/>
            </a:pPr>
            <a:r>
              <a:rPr lang="en-GB"/>
              <a:t>Query and Data Transformation: Use SQL to retrieve the necessary data for visualization.</a:t>
            </a:r>
            <a:endParaRPr/>
          </a:p>
          <a:p>
            <a:pPr indent="-317182" lvl="0" marL="457200" rtl="0" algn="l">
              <a:spcBef>
                <a:spcPts val="0"/>
              </a:spcBef>
              <a:spcAft>
                <a:spcPts val="0"/>
              </a:spcAft>
              <a:buSzPct val="100000"/>
              <a:buAutoNum type="arabicPeriod"/>
            </a:pPr>
            <a:r>
              <a:rPr lang="en-GB"/>
              <a:t>Data Visualization: Feed the results of your SQL queries into your chosen visualization tool. Here are some common time-series visualizations:</a:t>
            </a:r>
            <a:endParaRPr/>
          </a:p>
          <a:p>
            <a:pPr indent="-297497" lvl="1" marL="914400" rtl="0" algn="l">
              <a:spcBef>
                <a:spcPts val="0"/>
              </a:spcBef>
              <a:spcAft>
                <a:spcPts val="0"/>
              </a:spcAft>
              <a:buSzPct val="100000"/>
              <a:buAutoNum type="alphaLcPeriod"/>
            </a:pPr>
            <a:r>
              <a:rPr lang="en-GB"/>
              <a:t>Line Charts: Suitable for showing trends over time, such as stock prices or temperature changes.</a:t>
            </a:r>
            <a:endParaRPr/>
          </a:p>
          <a:p>
            <a:pPr indent="-297497" lvl="1" marL="914400" rtl="0" algn="l">
              <a:spcBef>
                <a:spcPts val="0"/>
              </a:spcBef>
              <a:spcAft>
                <a:spcPts val="0"/>
              </a:spcAft>
              <a:buSzPct val="100000"/>
              <a:buAutoNum type="alphaLcPeriod"/>
            </a:pPr>
            <a:r>
              <a:rPr lang="en-GB"/>
              <a:t>Bar Charts: Useful for comparing values at specific time intervals, e.g., monthly sales data.</a:t>
            </a:r>
            <a:endParaRPr/>
          </a:p>
          <a:p>
            <a:pPr indent="-297497" lvl="1" marL="914400" rtl="0" algn="l">
              <a:spcBef>
                <a:spcPts val="0"/>
              </a:spcBef>
              <a:spcAft>
                <a:spcPts val="0"/>
              </a:spcAft>
              <a:buSzPct val="100000"/>
              <a:buAutoNum type="alphaLcPeriod"/>
            </a:pPr>
            <a:r>
              <a:rPr lang="en-GB"/>
              <a:t>Scatter Plots: Can be used to identify relationships and anomalies in time-series data.</a:t>
            </a:r>
            <a:endParaRPr/>
          </a:p>
          <a:p>
            <a:pPr indent="-297497" lvl="1" marL="914400" rtl="0" algn="l">
              <a:spcBef>
                <a:spcPts val="0"/>
              </a:spcBef>
              <a:spcAft>
                <a:spcPts val="0"/>
              </a:spcAft>
              <a:buSzPct val="100000"/>
              <a:buAutoNum type="alphaLcPeriod"/>
            </a:pPr>
            <a:r>
              <a:rPr lang="en-GB"/>
              <a:t>Heatmaps: Useful for visualizing patterns or correlations in multidimensional time-series data.</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5"/>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What is Time-Series Data?</a:t>
            </a:r>
            <a:endParaRPr/>
          </a:p>
        </p:txBody>
      </p:sp>
      <p:sp>
        <p:nvSpPr>
          <p:cNvPr id="136" name="Google Shape;136;p25"/>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Time-series data is a sequence of data points collected or recorded at specific time intervals. Each data point is associated with a timestamp, allowing you to analyze how values change over time. Common examples of time-series data include stock prices, weather measurements, sensor data, and application logs.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Time-series database keys</a:t>
            </a:r>
            <a:endParaRPr/>
          </a:p>
        </p:txBody>
      </p:sp>
      <p:sp>
        <p:nvSpPr>
          <p:cNvPr id="142" name="Google Shape;142;p26"/>
          <p:cNvSpPr txBox="1"/>
          <p:nvPr>
            <p:ph idx="1" type="body"/>
          </p:nvPr>
        </p:nvSpPr>
        <p:spPr>
          <a:xfrm>
            <a:off x="387900" y="1489824"/>
            <a:ext cx="8368200" cy="3078900"/>
          </a:xfrm>
          <a:prstGeom prst="rect">
            <a:avLst/>
          </a:prstGeom>
        </p:spPr>
        <p:txBody>
          <a:bodyPr anchorCtr="0" anchor="t" bIns="91425" lIns="91425" spcFirstLastPara="1" rIns="91425" wrap="square" tIns="91425">
            <a:normAutofit fontScale="77500" lnSpcReduction="20000"/>
          </a:bodyPr>
          <a:lstStyle/>
          <a:p>
            <a:pPr indent="-317182" lvl="0" marL="457200" rtl="0" algn="l">
              <a:spcBef>
                <a:spcPts val="0"/>
              </a:spcBef>
              <a:spcAft>
                <a:spcPts val="0"/>
              </a:spcAft>
              <a:buSzPct val="100000"/>
              <a:buChar char="●"/>
            </a:pPr>
            <a:r>
              <a:rPr lang="en-GB"/>
              <a:t>High Write Throughput</a:t>
            </a:r>
            <a:endParaRPr/>
          </a:p>
          <a:p>
            <a:pPr indent="-297497" lvl="1" marL="914400" rtl="0" algn="l">
              <a:spcBef>
                <a:spcPts val="0"/>
              </a:spcBef>
              <a:spcAft>
                <a:spcPts val="0"/>
              </a:spcAft>
              <a:buSzPct val="100000"/>
              <a:buChar char="○"/>
            </a:pPr>
            <a:r>
              <a:rPr lang="en-GB"/>
              <a:t>Time-series data often involves a high volume of incoming data points. Time-series databases are optimized for efficient write operations, enabling real-time data ingestion.</a:t>
            </a:r>
            <a:endParaRPr/>
          </a:p>
          <a:p>
            <a:pPr indent="-317182" lvl="0" marL="457200" rtl="0" algn="l">
              <a:spcBef>
                <a:spcPts val="0"/>
              </a:spcBef>
              <a:spcAft>
                <a:spcPts val="0"/>
              </a:spcAft>
              <a:buSzPct val="100000"/>
              <a:buChar char="●"/>
            </a:pPr>
            <a:r>
              <a:rPr lang="en-GB"/>
              <a:t>Optimized Storage</a:t>
            </a:r>
            <a:endParaRPr/>
          </a:p>
          <a:p>
            <a:pPr indent="-297497" lvl="1" marL="914400" rtl="0" algn="l">
              <a:spcBef>
                <a:spcPts val="0"/>
              </a:spcBef>
              <a:spcAft>
                <a:spcPts val="0"/>
              </a:spcAft>
              <a:buSzPct val="100000"/>
              <a:buChar char="○"/>
            </a:pPr>
            <a:r>
              <a:rPr lang="en-GB"/>
              <a:t>To handle large volumes of time-series data, these databases employ storage techniques like data compression and downsampling to minimize storage requirements while retaining the essential data points.</a:t>
            </a:r>
            <a:endParaRPr/>
          </a:p>
          <a:p>
            <a:pPr indent="-317182" lvl="0" marL="457200" rtl="0" algn="l">
              <a:spcBef>
                <a:spcPts val="0"/>
              </a:spcBef>
              <a:spcAft>
                <a:spcPts val="0"/>
              </a:spcAft>
              <a:buSzPct val="100000"/>
              <a:buChar char="●"/>
            </a:pPr>
            <a:r>
              <a:rPr lang="en-GB"/>
              <a:t>Fast Query Performance</a:t>
            </a:r>
            <a:endParaRPr/>
          </a:p>
          <a:p>
            <a:pPr indent="-297497" lvl="1" marL="914400" rtl="0" algn="l">
              <a:spcBef>
                <a:spcPts val="0"/>
              </a:spcBef>
              <a:spcAft>
                <a:spcPts val="0"/>
              </a:spcAft>
              <a:buSzPct val="100000"/>
              <a:buChar char="○"/>
            </a:pPr>
            <a:r>
              <a:rPr lang="en-GB"/>
              <a:t>Time-series databases are designed for quick retrieval and analysis of data over specific time ranges, making them well-suited for trend analysis and anomaly detection.</a:t>
            </a:r>
            <a:endParaRPr/>
          </a:p>
          <a:p>
            <a:pPr indent="-317182" lvl="0" marL="457200" rtl="0" algn="l">
              <a:spcBef>
                <a:spcPts val="0"/>
              </a:spcBef>
              <a:spcAft>
                <a:spcPts val="0"/>
              </a:spcAft>
              <a:buSzPct val="100000"/>
              <a:buChar char="●"/>
            </a:pPr>
            <a:r>
              <a:rPr lang="en-GB"/>
              <a:t>Data Retention Policies</a:t>
            </a:r>
            <a:endParaRPr/>
          </a:p>
          <a:p>
            <a:pPr indent="-297497" lvl="1" marL="914400" rtl="0" algn="l">
              <a:spcBef>
                <a:spcPts val="0"/>
              </a:spcBef>
              <a:spcAft>
                <a:spcPts val="0"/>
              </a:spcAft>
              <a:buSzPct val="100000"/>
              <a:buChar char="○"/>
            </a:pPr>
            <a:r>
              <a:rPr lang="en-GB"/>
              <a:t>They allow you to define how long data is retained, enabling automatic purging of old data that is no longer needed.</a:t>
            </a:r>
            <a:endParaRPr/>
          </a:p>
          <a:p>
            <a:pPr indent="-317182" lvl="0" marL="457200" rtl="0" algn="l">
              <a:spcBef>
                <a:spcPts val="0"/>
              </a:spcBef>
              <a:spcAft>
                <a:spcPts val="0"/>
              </a:spcAft>
              <a:buSzPct val="100000"/>
              <a:buChar char="●"/>
            </a:pPr>
            <a:r>
              <a:rPr lang="en-GB"/>
              <a:t>Downsampling</a:t>
            </a:r>
            <a:endParaRPr/>
          </a:p>
          <a:p>
            <a:pPr indent="-297497" lvl="1" marL="914400" rtl="0" algn="l">
              <a:spcBef>
                <a:spcPts val="0"/>
              </a:spcBef>
              <a:spcAft>
                <a:spcPts val="0"/>
              </a:spcAft>
              <a:buSzPct val="100000"/>
              <a:buChar char="○"/>
            </a:pPr>
            <a:r>
              <a:rPr lang="en-GB"/>
              <a:t>Time-series databases can automatically reduce the granularity of data as it gets older, saving storage space while preserving overall trends.</a:t>
            </a:r>
            <a:endParaRPr/>
          </a:p>
          <a:p>
            <a:pPr indent="-317182" lvl="0" marL="457200" rtl="0" algn="l">
              <a:spcBef>
                <a:spcPts val="0"/>
              </a:spcBef>
              <a:spcAft>
                <a:spcPts val="0"/>
              </a:spcAft>
              <a:buSzPct val="100000"/>
              <a:buChar char="●"/>
            </a:pPr>
            <a:r>
              <a:rPr lang="en-GB"/>
              <a:t>Continuous Queries</a:t>
            </a:r>
            <a:endParaRPr/>
          </a:p>
          <a:p>
            <a:pPr indent="-297497" lvl="1" marL="914400" rtl="0" algn="l">
              <a:spcBef>
                <a:spcPts val="0"/>
              </a:spcBef>
              <a:spcAft>
                <a:spcPts val="0"/>
              </a:spcAft>
              <a:buSzPct val="100000"/>
              <a:buChar char="○"/>
            </a:pPr>
            <a:r>
              <a:rPr lang="en-GB"/>
              <a:t>They support continuous or sliding window queries, enabling real-time analytics and monitoring of data streams.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7"/>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Time-series data</a:t>
            </a:r>
            <a:endParaRPr/>
          </a:p>
        </p:txBody>
      </p:sp>
      <p:sp>
        <p:nvSpPr>
          <p:cNvPr id="148" name="Google Shape;148;p27"/>
          <p:cNvSpPr txBox="1"/>
          <p:nvPr>
            <p:ph idx="1" type="body"/>
          </p:nvPr>
        </p:nvSpPr>
        <p:spPr>
          <a:xfrm>
            <a:off x="387900" y="1489824"/>
            <a:ext cx="8368200" cy="30789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GB"/>
              <a:t>1. InfluxDB</a:t>
            </a:r>
            <a:endParaRPr/>
          </a:p>
          <a:p>
            <a:pPr indent="0" lvl="0" marL="0" rtl="0" algn="l">
              <a:spcBef>
                <a:spcPts val="1200"/>
              </a:spcBef>
              <a:spcAft>
                <a:spcPts val="0"/>
              </a:spcAft>
              <a:buNone/>
            </a:pPr>
            <a:r>
              <a:rPr lang="en-GB"/>
              <a:t>InfluxDB is an open-source time-series database designed for high write and query performance. It is popular in IoT, monitoring, and DevOps use cases. </a:t>
            </a:r>
            <a:r>
              <a:rPr lang="en-GB" u="sng">
                <a:solidFill>
                  <a:schemeClr val="hlink"/>
                </a:solidFill>
                <a:hlinkClick r:id="rId3"/>
              </a:rPr>
              <a:t>Link</a:t>
            </a:r>
            <a:endParaRPr/>
          </a:p>
          <a:p>
            <a:pPr indent="0" lvl="0" marL="0" rtl="0" algn="l">
              <a:spcBef>
                <a:spcPts val="1200"/>
              </a:spcBef>
              <a:spcAft>
                <a:spcPts val="0"/>
              </a:spcAft>
              <a:buNone/>
            </a:pPr>
            <a:r>
              <a:rPr lang="en-GB"/>
              <a:t>2. TimescaleDB</a:t>
            </a:r>
            <a:endParaRPr/>
          </a:p>
          <a:p>
            <a:pPr indent="0" lvl="0" marL="0" rtl="0" algn="l">
              <a:spcBef>
                <a:spcPts val="1200"/>
              </a:spcBef>
              <a:spcAft>
                <a:spcPts val="0"/>
              </a:spcAft>
              <a:buNone/>
            </a:pPr>
            <a:r>
              <a:rPr lang="en-GB"/>
              <a:t>TimescaleDB is an extension of PostgreSQL, designed to handle both relational and time-series data, making it a versatile choice for applications that require both types of data storage.</a:t>
            </a:r>
            <a:endParaRPr/>
          </a:p>
          <a:p>
            <a:pPr indent="0" lvl="0" marL="0" rtl="0" algn="l">
              <a:spcBef>
                <a:spcPts val="1200"/>
              </a:spcBef>
              <a:spcAft>
                <a:spcPts val="0"/>
              </a:spcAft>
              <a:buNone/>
            </a:pPr>
            <a:r>
              <a:rPr lang="en-GB"/>
              <a:t>3. Prometheus</a:t>
            </a:r>
            <a:endParaRPr/>
          </a:p>
          <a:p>
            <a:pPr indent="0" lvl="0" marL="0" rtl="0" algn="l">
              <a:spcBef>
                <a:spcPts val="1200"/>
              </a:spcBef>
              <a:spcAft>
                <a:spcPts val="1200"/>
              </a:spcAft>
              <a:buNone/>
            </a:pPr>
            <a:r>
              <a:rPr lang="en-GB"/>
              <a:t>Prometheus is an open-source monitoring and alerting toolkit that uses a time-series database to store and analyze metrics data.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8"/>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Activities for today</a:t>
            </a:r>
            <a:endParaRPr/>
          </a:p>
        </p:txBody>
      </p:sp>
      <p:sp>
        <p:nvSpPr>
          <p:cNvPr id="154" name="Google Shape;154;p28"/>
          <p:cNvSpPr txBox="1"/>
          <p:nvPr>
            <p:ph idx="1" type="body"/>
          </p:nvPr>
        </p:nvSpPr>
        <p:spPr>
          <a:xfrm>
            <a:off x="387900" y="1489824"/>
            <a:ext cx="8368200" cy="30789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GB"/>
              <a:t>Download this project from github:</a:t>
            </a:r>
            <a:endParaRPr/>
          </a:p>
          <a:p>
            <a:pPr indent="0" lvl="0" marL="0" rtl="0" algn="l">
              <a:spcBef>
                <a:spcPts val="1200"/>
              </a:spcBef>
              <a:spcAft>
                <a:spcPts val="0"/>
              </a:spcAft>
              <a:buNone/>
            </a:pPr>
            <a:r>
              <a:rPr lang="en-GB" u="sng">
                <a:solidFill>
                  <a:schemeClr val="hlink"/>
                </a:solidFill>
                <a:hlinkClick r:id="rId3"/>
              </a:rPr>
              <a:t>https://github.com/Joangaes/sakila_visualization/tree/main</a:t>
            </a:r>
            <a:endParaRPr/>
          </a:p>
          <a:p>
            <a:pPr indent="0" lvl="0" marL="0" rtl="0" algn="l">
              <a:spcBef>
                <a:spcPts val="1200"/>
              </a:spcBef>
              <a:spcAft>
                <a:spcPts val="0"/>
              </a:spcAft>
              <a:buNone/>
            </a:pPr>
            <a:r>
              <a:rPr lang="en-GB"/>
              <a:t>Run the visualizations and change the visualizations to 5 of the queries we have made with Sakila.</a:t>
            </a:r>
            <a:endParaRPr/>
          </a:p>
          <a:p>
            <a:pPr indent="0" lvl="0" marL="0" rtl="0" algn="l">
              <a:spcBef>
                <a:spcPts val="1200"/>
              </a:spcBef>
              <a:spcAft>
                <a:spcPts val="0"/>
              </a:spcAft>
              <a:buNone/>
            </a:pPr>
            <a:r>
              <a:rPr lang="en-GB"/>
              <a:t>Install InfluxDB -&gt; Connect using python -&gt; Store some points of data you have in MySQL Sakila and change the connector on the Dash App to use the InfluxDB with 1 query.</a:t>
            </a:r>
            <a:endParaRPr/>
          </a:p>
          <a:p>
            <a:pPr indent="0" lvl="0" marL="0" rtl="0" algn="l">
              <a:spcBef>
                <a:spcPts val="1200"/>
              </a:spcBef>
              <a:spcAft>
                <a:spcPts val="0"/>
              </a:spcAft>
              <a:buNone/>
            </a:pPr>
            <a:r>
              <a:rPr lang="en-GB"/>
              <a:t>https://docs.influxdata.com/influxdb/v2/install/</a:t>
            </a:r>
            <a:endParaRPr/>
          </a:p>
          <a:p>
            <a:pPr indent="0" lvl="0" marL="0" rtl="0" algn="l">
              <a:spcBef>
                <a:spcPts val="1200"/>
              </a:spcBef>
              <a:spcAft>
                <a:spcPts val="0"/>
              </a:spcAft>
              <a:buNone/>
            </a:pPr>
            <a:r>
              <a:rPr lang="en-GB"/>
              <a:t>Make a prediction with autosarima: </a:t>
            </a:r>
            <a:endParaRPr/>
          </a:p>
          <a:p>
            <a:pPr indent="0" lvl="0" marL="0" rtl="0" algn="l">
              <a:spcBef>
                <a:spcPts val="1200"/>
              </a:spcBef>
              <a:spcAft>
                <a:spcPts val="0"/>
              </a:spcAft>
              <a:buNone/>
            </a:pPr>
            <a:r>
              <a:rPr lang="en-GB" u="sng">
                <a:solidFill>
                  <a:schemeClr val="hlink"/>
                </a:solidFill>
                <a:hlinkClick r:id="rId4"/>
              </a:rPr>
              <a:t>https://towardsdatascience.com/time-series-forecasting-with-arima-sarima-and-sarimax-ee61099e78f6</a:t>
            </a:r>
            <a:endParaRPr/>
          </a:p>
          <a:p>
            <a:pPr indent="0" lvl="0" marL="0" rtl="0" algn="l">
              <a:spcBef>
                <a:spcPts val="1200"/>
              </a:spcBef>
              <a:spcAft>
                <a:spcPts val="1200"/>
              </a:spcAft>
              <a:buNone/>
            </a:pPr>
            <a:r>
              <a:rPr lang="en-GB"/>
              <a:t>Store the predicted data point.</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